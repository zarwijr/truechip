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17"/>
    <p:restoredTop sz="94676"/>
  </p:normalViewPr>
  <p:slideViewPr>
    <p:cSldViewPr snapToGrid="0">
      <p:cViewPr varScale="1">
        <p:scale>
          <a:sx n="298" d="100"/>
          <a:sy n="298" d="100"/>
        </p:scale>
        <p:origin x="192" y="1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đầu ngắn: TrueChip là prototype xác thực thiết bị bằng phần cứng. Phần trình bày tách rõ kết quả đã đo, kết quả đang còn lỗi và hướng hoàn thiện.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Không trình bày TrueChip như sản phẩm thương mại. Đây là prototype có đường kiểm chứng FPGA và một hardening target ASIC.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Mô hình đe dọa hiện tại tập trung vào giao thức số và quản lý nonce. Không dùng slide này để tuyên bố chống mọi tấn công vật lý.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Phạm vi baseline chưa gồm NFC, secure sketch hoặc ECC, AES-CMAC, pad ring và một chip PUF ASIC hoàn chỉnh.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Giải thích từ trái sang phải. Nhấn mạnh hai top-level: secure_soc_top cho FPGA và secure_asic_top cho hardening lõi số.</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Khối RO-PUF trong FPGA là proof of concept. secure_asic_top dùng seed hằng số và không chứa RO-PUF vật lý.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mô tả giao thức trong RTL và testbench. Response dùng AES ciphertext để đối chiếu, nhưng CRC response vẫn hữu ích để phân biệt lỗi truyền với giả mạo.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Không hiển thị diversified_key. UID và nonce là dữ liệu công khai; khóa dẫn xuất mới là dữ liệu nhạy cảm.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Cảnh quay hiển thị nhãn phần cứng DE-SoC và thiết bị bắt đầu bằng 5CSEBA6. Không tự gọi đây là DE10-Standard nếu chưa đối chiếu board cụ thể.</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Ghi danh liên kết UID với thông tin sản phẩm. Không đọc hoặc trình chiếu khóa thật trong phần thuyết trình.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quả AUTHENTIC chứng minh lần quét được ghi hình. Không suy rộng thành mọi tình huống tấn công đều đã được kiểm thử.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Tách kiểm tra tĩnh khỏi kết quả chạy thực. Khi dữ liệu mâu thuẫn, dùng log của đúng run và đúng môi trường làm nguồn chính.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Không đổi FAIL thành PASS. Đây là điểm hỏi đáp quan trọng: mô phỏng và board đang cho hai kết quả khác nhau.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 người xem đọc trực tiếp TOTAL PASS và TOTAL FAIL. Đây là ảnh từ video đã được dựng và giữ nguyên log.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Khóa trong lệnh và log đã được che. Không khẳng định nguyên nhân trước khi có log và SignalTap đồng bộ.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Số 12,23% là intra-device Hamming distance trung bình qua 20 lần đo trên cùng board theo hồ sơ v7.2. Không dùng số này để tuyên bố uniqueness.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Gọi đúng tên là hardening lõi bảo mật số. Không gọi là chip PUF hoàn chỉnh hoặc silicon đã chế tạo.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chính thức là run_5 với HEURISTIC_ANTENNA_THRESHOLD = 250. CVC chưa chạy tới giai đoạn kiểm tra ERC.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29 antenna violation là rủi ro năng suất chế tạo, không phải lỗi chức năng. Bước tapeout thực tế là sửa đúng các net còn vi phạm bằng jumper hoặc diode có chọn lọc.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Ảnh hiển thị DRC count 0, XOR differences 0 và các đường timing slack MET, đồng thời giữ nguyên danh sách antenna violation.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Ưu tiên rate limit và PUF reliability trước các tính năng mở rộng. Hai mục này ảnh hưởng trực tiếp tới tính đúng và quản lý khóa.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thúc bằng hai phần: kết quả đã chứng minh và việc còn phải làm. Nếu giám khảo hỏi ERC, trả lời rằng nhóm chưa biết chắc vì CVC chưa chạy tới bước kiểm tra.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52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027289-45C4-4179-91D1-5DE99B97B7BE}"/>
              </a:ext>
            </a:extLst>
          </p:cNvPr>
          <p:cNvSpPr>
            <a:spLocks noGrp="1"/>
          </p:cNvSpPr>
          <p:nvPr/>
        </p:nvSpPr>
        <p:spPr>
          <a:xfrm>
            <a:off x="0" y="0"/>
            <a:ext cx="12192000" cy="6858000"/>
          </a:xfrm>
          <a:prstGeom prst="rect">
            <a:avLst/>
          </a:prstGeom>
          <a:solidFill>
            <a:srgbClr val="071524"/>
          </a:solidFill>
          <a:ln w="0">
            <a:noFill/>
          </a:ln>
        </p:spPr>
        <p:txBody>
          <a:bodyPr/>
          <a:lstStyle/>
          <a:p>
            <a:endParaRPr lang="en-VN"/>
          </a:p>
        </p:txBody>
      </p:sp>
      <p:sp>
        <p:nvSpPr>
          <p:cNvPr id="2" name="Rectangle 1">
            <a:extLst>
              <a:ext uri="{FF2B5EF4-FFF2-40B4-BE49-F238E27FC236}">
                <a16:creationId xmlns:a16="http://schemas.microsoft.com/office/drawing/2014/main" id="{867580F3-D442-458D-85AA-4E58B257B170}"/>
              </a:ext>
            </a:extLst>
          </p:cNvPr>
          <p:cNvSpPr>
            <a:spLocks noGrp="1"/>
          </p:cNvSpPr>
          <p:nvPr/>
        </p:nvSpPr>
        <p:spPr>
          <a:xfrm>
            <a:off x="590550" y="781050"/>
            <a:ext cx="85725" cy="4762500"/>
          </a:xfrm>
          <a:prstGeom prst="rect">
            <a:avLst/>
          </a:prstGeom>
          <a:solidFill>
            <a:srgbClr val="20C7B0"/>
          </a:solidFill>
          <a:ln w="0">
            <a:noFill/>
          </a:ln>
        </p:spPr>
        <p:txBody>
          <a:bodyPr/>
          <a:lstStyle/>
          <a:p>
            <a:endParaRPr lang="en-VN"/>
          </a:p>
        </p:txBody>
      </p:sp>
      <p:sp>
        <p:nvSpPr>
          <p:cNvPr id="3" name="Rectangle 2">
            <a:extLst>
              <a:ext uri="{FF2B5EF4-FFF2-40B4-BE49-F238E27FC236}">
                <a16:creationId xmlns:a16="http://schemas.microsoft.com/office/drawing/2014/main" id="{354D782D-38D9-48D0-8F54-34AC8E270100}"/>
              </a:ext>
            </a:extLst>
          </p:cNvPr>
          <p:cNvSpPr>
            <a:spLocks noGrp="1"/>
          </p:cNvSpPr>
          <p:nvPr/>
        </p:nvSpPr>
        <p:spPr>
          <a:xfrm>
            <a:off x="971550" y="781050"/>
            <a:ext cx="2476500" cy="323850"/>
          </a:xfrm>
          <a:prstGeom prst="rect">
            <a:avLst/>
          </a:prstGeom>
          <a:noFill/>
          <a:ln w="0">
            <a:noFill/>
          </a:ln>
        </p:spPr>
        <p:txBody>
          <a:bodyPr anchor="ctr">
            <a:normAutofit/>
          </a:bodyPr>
          <a:lstStyle/>
          <a:p>
            <a:pPr algn="l">
              <a:defRPr sz="1500" b="1">
                <a:solidFill>
                  <a:srgbClr val="20C7B0"/>
                </a:solidFill>
                <a:latin typeface="DejaVu Sans"/>
                <a:ea typeface="DejaVu Sans"/>
                <a:cs typeface="DejaVu Sans"/>
              </a:defRPr>
            </a:pPr>
            <a:r>
              <a:rPr sz="1500" b="1">
                <a:solidFill>
                  <a:srgbClr val="20C7B0"/>
                </a:solidFill>
                <a:latin typeface="DejaVu Sans"/>
                <a:ea typeface="DejaVu Sans"/>
                <a:cs typeface="DejaVu Sans"/>
              </a:rPr>
              <a:t>TRUECHIP</a:t>
            </a:r>
          </a:p>
        </p:txBody>
      </p:sp>
      <p:sp>
        <p:nvSpPr>
          <p:cNvPr id="4" name="Rectangle 3">
            <a:extLst>
              <a:ext uri="{FF2B5EF4-FFF2-40B4-BE49-F238E27FC236}">
                <a16:creationId xmlns:a16="http://schemas.microsoft.com/office/drawing/2014/main" id="{CB7E4D87-60E0-403F-9529-F475E0E76BD6}"/>
              </a:ext>
            </a:extLst>
          </p:cNvPr>
          <p:cNvSpPr>
            <a:spLocks noGrp="1"/>
          </p:cNvSpPr>
          <p:nvPr/>
        </p:nvSpPr>
        <p:spPr>
          <a:xfrm>
            <a:off x="971550" y="1524000"/>
            <a:ext cx="7239000" cy="1714500"/>
          </a:xfrm>
          <a:prstGeom prst="rect">
            <a:avLst/>
          </a:prstGeom>
          <a:noFill/>
          <a:ln w="0">
            <a:noFill/>
          </a:ln>
        </p:spPr>
        <p:txBody>
          <a:bodyPr anchor="ctr">
            <a:normAutofit/>
          </a:bodyPr>
          <a:lstStyle/>
          <a:p>
            <a:pPr algn="l">
              <a:defRPr sz="3900" b="1">
                <a:solidFill>
                  <a:srgbClr val="F7FAFC"/>
                </a:solidFill>
                <a:latin typeface="DejaVu Sans"/>
                <a:ea typeface="DejaVu Sans"/>
                <a:cs typeface="DejaVu Sans"/>
              </a:defRPr>
            </a:pPr>
            <a:r>
              <a:rPr sz="3900" b="1">
                <a:solidFill>
                  <a:srgbClr val="F7FAFC"/>
                </a:solidFill>
                <a:latin typeface="DejaVu Sans"/>
                <a:ea typeface="DejaVu Sans"/>
                <a:cs typeface="DejaVu Sans"/>
              </a:rPr>
              <a:t>Bộ xác thực phần cứng</a:t>
            </a:r>
          </a:p>
          <a:p>
            <a:pPr algn="l">
              <a:defRPr sz="3900" b="1">
                <a:solidFill>
                  <a:srgbClr val="F7FAFC"/>
                </a:solidFill>
                <a:latin typeface="DejaVu Sans"/>
                <a:ea typeface="DejaVu Sans"/>
                <a:cs typeface="DejaVu Sans"/>
              </a:defRPr>
            </a:pPr>
            <a:r>
              <a:rPr sz="3900" b="1">
                <a:solidFill>
                  <a:srgbClr val="F7FAFC"/>
                </a:solidFill>
                <a:latin typeface="DejaVu Sans"/>
                <a:ea typeface="DejaVu Sans"/>
                <a:cs typeface="DejaVu Sans"/>
              </a:rPr>
              <a:t>dựa trên RO-PUF</a:t>
            </a:r>
          </a:p>
        </p:txBody>
      </p:sp>
      <p:sp>
        <p:nvSpPr>
          <p:cNvPr id="5" name="Rectangle 4">
            <a:extLst>
              <a:ext uri="{FF2B5EF4-FFF2-40B4-BE49-F238E27FC236}">
                <a16:creationId xmlns:a16="http://schemas.microsoft.com/office/drawing/2014/main" id="{1CCD296F-405B-4A69-A685-089FEF3F9437}"/>
              </a:ext>
            </a:extLst>
          </p:cNvPr>
          <p:cNvSpPr>
            <a:spLocks noGrp="1"/>
          </p:cNvSpPr>
          <p:nvPr/>
        </p:nvSpPr>
        <p:spPr>
          <a:xfrm>
            <a:off x="990600" y="3524250"/>
            <a:ext cx="8477250" cy="571500"/>
          </a:xfrm>
          <a:prstGeom prst="rect">
            <a:avLst/>
          </a:prstGeom>
          <a:noFill/>
          <a:ln w="0">
            <a:noFill/>
          </a:ln>
        </p:spPr>
        <p:txBody>
          <a:bodyPr anchor="ctr">
            <a:normAutofit/>
          </a:bodyPr>
          <a:lstStyle/>
          <a:p>
            <a:pPr algn="l">
              <a:defRPr sz="1725" b="0">
                <a:solidFill>
                  <a:srgbClr val="9FB0BF"/>
                </a:solidFill>
                <a:latin typeface="DejaVu Sans"/>
                <a:ea typeface="DejaVu Sans"/>
                <a:cs typeface="DejaVu Sans"/>
              </a:defRPr>
            </a:pPr>
            <a:r>
              <a:rPr sz="1725" b="0">
                <a:solidFill>
                  <a:srgbClr val="9FB0BF"/>
                </a:solidFill>
                <a:latin typeface="DejaVu Sans"/>
                <a:ea typeface="DejaVu Sans"/>
                <a:cs typeface="DejaVu Sans"/>
              </a:rPr>
              <a:t>Kiến trúc, FPGA, giao thức, kiểm chứng và hardening ASIC SKY130A</a:t>
            </a:r>
          </a:p>
        </p:txBody>
      </p:sp>
      <p:sp>
        <p:nvSpPr>
          <p:cNvPr id="6" name="Rectangle 5">
            <a:extLst>
              <a:ext uri="{FF2B5EF4-FFF2-40B4-BE49-F238E27FC236}">
                <a16:creationId xmlns:a16="http://schemas.microsoft.com/office/drawing/2014/main" id="{86F875CA-8CCA-4E7A-A9FD-5F98B5874412}"/>
              </a:ext>
            </a:extLst>
          </p:cNvPr>
          <p:cNvSpPr>
            <a:spLocks noGrp="1"/>
          </p:cNvSpPr>
          <p:nvPr/>
        </p:nvSpPr>
        <p:spPr>
          <a:xfrm>
            <a:off x="990600" y="5000625"/>
            <a:ext cx="4953000" cy="285750"/>
          </a:xfrm>
          <a:prstGeom prst="rect">
            <a:avLst/>
          </a:prstGeom>
          <a:noFill/>
          <a:ln w="0">
            <a:noFill/>
          </a:ln>
        </p:spPr>
        <p:txBody>
          <a:bodyPr anchor="ctr">
            <a:normAutofit/>
          </a:bodyPr>
          <a:lstStyle/>
          <a:p>
            <a:pPr algn="l">
              <a:defRPr sz="1275" b="1">
                <a:solidFill>
                  <a:srgbClr val="F7FAFC"/>
                </a:solidFill>
                <a:latin typeface="DejaVu Sans"/>
                <a:ea typeface="DejaVu Sans"/>
                <a:cs typeface="DejaVu Sans"/>
              </a:defRPr>
            </a:pPr>
            <a:r>
              <a:rPr sz="1275" b="1">
                <a:solidFill>
                  <a:srgbClr val="F7FAFC"/>
                </a:solidFill>
                <a:latin typeface="DejaVu Sans"/>
                <a:ea typeface="DejaVu Sans"/>
                <a:cs typeface="DejaVu Sans"/>
              </a:rPr>
              <a:t>BÁO CÁO TOÀN DIỆN  •  2026</a:t>
            </a:r>
          </a:p>
        </p:txBody>
      </p:sp>
      <p:sp>
        <p:nvSpPr>
          <p:cNvPr id="7" name="Rectangle 6">
            <a:extLst>
              <a:ext uri="{FF2B5EF4-FFF2-40B4-BE49-F238E27FC236}">
                <a16:creationId xmlns:a16="http://schemas.microsoft.com/office/drawing/2014/main" id="{905136EA-DED7-4C67-A870-B6509C9D7A54}"/>
              </a:ext>
            </a:extLst>
          </p:cNvPr>
          <p:cNvSpPr>
            <a:spLocks noGrp="1"/>
          </p:cNvSpPr>
          <p:nvPr/>
        </p:nvSpPr>
        <p:spPr>
          <a:xfrm>
            <a:off x="990600" y="5410200"/>
            <a:ext cx="5715000" cy="647700"/>
          </a:xfrm>
          <a:prstGeom prst="rect">
            <a:avLst/>
          </a:prstGeom>
          <a:noFill/>
          <a:ln w="0">
            <a:noFill/>
          </a:ln>
        </p:spPr>
        <p:txBody>
          <a:bodyPr anchor="ctr">
            <a:normAutofit/>
          </a:bodyPr>
          <a:lstStyle/>
          <a:p>
            <a:pPr algn="l">
              <a:defRPr sz="1200" b="0">
                <a:solidFill>
                  <a:srgbClr val="9FB0BF"/>
                </a:solidFill>
                <a:latin typeface="DejaVu Sans"/>
                <a:ea typeface="DejaVu Sans"/>
                <a:cs typeface="DejaVu Sans"/>
              </a:defRPr>
            </a:pPr>
            <a:r>
              <a:rPr sz="1200" b="0" dirty="0" err="1">
                <a:solidFill>
                  <a:srgbClr val="9FB0BF"/>
                </a:solidFill>
                <a:latin typeface="DejaVu Sans"/>
                <a:ea typeface="DejaVu Sans"/>
                <a:cs typeface="DejaVu Sans"/>
              </a:rPr>
              <a:t>Nhóm</a:t>
            </a:r>
            <a:r>
              <a:rPr sz="1200" b="0" dirty="0">
                <a:solidFill>
                  <a:srgbClr val="9FB0BF"/>
                </a:solidFill>
                <a:latin typeface="DejaVu Sans"/>
                <a:ea typeface="DejaVu Sans"/>
                <a:cs typeface="DejaVu Sans"/>
              </a:rPr>
              <a:t> </a:t>
            </a:r>
            <a:r>
              <a:rPr sz="1200" b="0" dirty="0" err="1">
                <a:solidFill>
                  <a:srgbClr val="9FB0BF"/>
                </a:solidFill>
                <a:latin typeface="DejaVu Sans"/>
                <a:ea typeface="DejaVu Sans"/>
                <a:cs typeface="DejaVu Sans"/>
              </a:rPr>
              <a:t>dự</a:t>
            </a:r>
            <a:r>
              <a:rPr sz="1200" b="0" dirty="0">
                <a:solidFill>
                  <a:srgbClr val="9FB0BF"/>
                </a:solidFill>
                <a:latin typeface="DejaVu Sans"/>
                <a:ea typeface="DejaVu Sans"/>
                <a:cs typeface="DejaVu Sans"/>
              </a:rPr>
              <a:t> </a:t>
            </a:r>
            <a:r>
              <a:rPr sz="1200" b="0" dirty="0" err="1">
                <a:solidFill>
                  <a:srgbClr val="9FB0BF"/>
                </a:solidFill>
                <a:latin typeface="DejaVu Sans"/>
                <a:ea typeface="DejaVu Sans"/>
                <a:cs typeface="DejaVu Sans"/>
              </a:rPr>
              <a:t>thi</a:t>
            </a:r>
            <a:r>
              <a:rPr sz="1200" b="0" dirty="0">
                <a:solidFill>
                  <a:srgbClr val="9FB0BF"/>
                </a:solidFill>
                <a:latin typeface="DejaVu Sans"/>
                <a:ea typeface="DejaVu Sans"/>
                <a:cs typeface="DejaVu Sans"/>
              </a:rPr>
              <a:t>: ____________________</a:t>
            </a:r>
          </a:p>
          <a:p>
            <a:pPr algn="l">
              <a:defRPr sz="1200" b="0">
                <a:solidFill>
                  <a:srgbClr val="9FB0BF"/>
                </a:solidFill>
                <a:latin typeface="DejaVu Sans"/>
                <a:ea typeface="DejaVu Sans"/>
                <a:cs typeface="DejaVu Sans"/>
              </a:defRPr>
            </a:pPr>
            <a:r>
              <a:rPr sz="1200" b="0" dirty="0" err="1">
                <a:solidFill>
                  <a:srgbClr val="9FB0BF"/>
                </a:solidFill>
                <a:latin typeface="DejaVu Sans"/>
                <a:ea typeface="DejaVu Sans"/>
                <a:cs typeface="DejaVu Sans"/>
              </a:rPr>
              <a:t>Đơn</a:t>
            </a:r>
            <a:r>
              <a:rPr sz="1200" b="0" dirty="0">
                <a:solidFill>
                  <a:srgbClr val="9FB0BF"/>
                </a:solidFill>
                <a:latin typeface="DejaVu Sans"/>
                <a:ea typeface="DejaVu Sans"/>
                <a:cs typeface="DejaVu Sans"/>
              </a:rPr>
              <a:t> </a:t>
            </a:r>
            <a:r>
              <a:rPr sz="1200" b="0" dirty="0" err="1">
                <a:solidFill>
                  <a:srgbClr val="9FB0BF"/>
                </a:solidFill>
                <a:latin typeface="DejaVu Sans"/>
                <a:ea typeface="DejaVu Sans"/>
                <a:cs typeface="DejaVu Sans"/>
              </a:rPr>
              <a:t>vị</a:t>
            </a:r>
            <a:r>
              <a:rPr sz="1200" b="0" dirty="0">
                <a:solidFill>
                  <a:srgbClr val="9FB0BF"/>
                </a:solidFill>
                <a:latin typeface="DejaVu Sans"/>
                <a:ea typeface="DejaVu Sans"/>
                <a:cs typeface="DejaVu Sans"/>
              </a:rPr>
              <a:t>: _________________________</a:t>
            </a:r>
          </a:p>
        </p:txBody>
      </p:sp>
    </p:spTree>
    <p:extLst>
      <p:ext uri="{BB962C8B-B14F-4D97-AF65-F5344CB8AC3E}">
        <p14:creationId xmlns:p14="http://schemas.microsoft.com/office/powerpoint/2010/main" val="1304847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496D27C-8C2A-42DA-A42F-8292A5C22CD2}"/>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5799A9DB-B5AC-4692-9774-EC1B77E7E81D}"/>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Tóm tắt sản phẩm</a:t>
            </a:r>
          </a:p>
        </p:txBody>
      </p:sp>
      <p:sp>
        <p:nvSpPr>
          <p:cNvPr id="3" name="Rectangle 2">
            <a:extLst>
              <a:ext uri="{FF2B5EF4-FFF2-40B4-BE49-F238E27FC236}">
                <a16:creationId xmlns:a16="http://schemas.microsoft.com/office/drawing/2014/main" id="{2A72945C-0643-408F-BF8D-571AB3770F8C}"/>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sp>
        <p:nvSpPr>
          <p:cNvPr id="4" name="Rectangle 3">
            <a:extLst>
              <a:ext uri="{FF2B5EF4-FFF2-40B4-BE49-F238E27FC236}">
                <a16:creationId xmlns:a16="http://schemas.microsoft.com/office/drawing/2014/main" id="{ACAEA780-7C02-4732-A879-2060DA99B318}"/>
              </a:ext>
            </a:extLst>
          </p:cNvPr>
          <p:cNvSpPr>
            <a:spLocks noGrp="1"/>
          </p:cNvSpPr>
          <p:nvPr/>
        </p:nvSpPr>
        <p:spPr>
          <a:xfrm>
            <a:off x="514350" y="1352550"/>
            <a:ext cx="11049000" cy="552450"/>
          </a:xfrm>
          <a:prstGeom prst="rect">
            <a:avLst/>
          </a:prstGeom>
          <a:noFill/>
          <a:ln w="0">
            <a:noFill/>
          </a:ln>
        </p:spPr>
        <p:txBody>
          <a:bodyPr anchor="ctr">
            <a:normAutofit fontScale="87681"/>
          </a:bodyPr>
          <a:lstStyle/>
          <a:p>
            <a:pPr algn="l">
              <a:defRPr sz="1725" b="1">
                <a:solidFill>
                  <a:srgbClr val="14202B"/>
                </a:solidFill>
                <a:latin typeface="DejaVu Sans"/>
                <a:ea typeface="DejaVu Sans"/>
                <a:cs typeface="DejaVu Sans"/>
              </a:defRPr>
            </a:pPr>
            <a:r>
              <a:rPr sz="1725" b="1">
                <a:solidFill>
                  <a:srgbClr val="14202B"/>
                </a:solidFill>
                <a:latin typeface="DejaVu Sans"/>
                <a:ea typeface="DejaVu Sans"/>
                <a:cs typeface="DejaVu Sans"/>
              </a:rPr>
              <a:t>TrueChip nhận challenge qua UART, kiểm tra khung và CRC, điều khiển AES-128, rồi trả response gắn với định danh phần cứng.</a:t>
            </a:r>
          </a:p>
        </p:txBody>
      </p:sp>
      <p:sp>
        <p:nvSpPr>
          <p:cNvPr id="5" name="Rounded Rectangle 4">
            <a:extLst>
              <a:ext uri="{FF2B5EF4-FFF2-40B4-BE49-F238E27FC236}">
                <a16:creationId xmlns:a16="http://schemas.microsoft.com/office/drawing/2014/main" id="{B5A03E57-4C95-4B20-AB83-900CFCB7BF9E}"/>
              </a:ext>
            </a:extLst>
          </p:cNvPr>
          <p:cNvSpPr>
            <a:spLocks noGrp="1"/>
          </p:cNvSpPr>
          <p:nvPr/>
        </p:nvSpPr>
        <p:spPr>
          <a:xfrm>
            <a:off x="552450" y="2305050"/>
            <a:ext cx="76200" cy="76200"/>
          </a:xfrm>
          <a:prstGeom prst="roundRect">
            <a:avLst>
              <a:gd name="adj" fmla="val 50000"/>
            </a:avLst>
          </a:prstGeom>
          <a:solidFill>
            <a:srgbClr val="20C7B0"/>
          </a:solidFill>
          <a:ln w="0">
            <a:noFill/>
          </a:ln>
        </p:spPr>
        <p:txBody>
          <a:bodyPr/>
          <a:lstStyle/>
          <a:p>
            <a:endParaRPr lang="en-VN"/>
          </a:p>
        </p:txBody>
      </p:sp>
      <p:sp>
        <p:nvSpPr>
          <p:cNvPr id="6" name="Rectangle 5">
            <a:extLst>
              <a:ext uri="{FF2B5EF4-FFF2-40B4-BE49-F238E27FC236}">
                <a16:creationId xmlns:a16="http://schemas.microsoft.com/office/drawing/2014/main" id="{4CEEFF4F-D1D1-4DE4-B995-A126AC7D8DA9}"/>
              </a:ext>
            </a:extLst>
          </p:cNvPr>
          <p:cNvSpPr>
            <a:spLocks noGrp="1"/>
          </p:cNvSpPr>
          <p:nvPr/>
        </p:nvSpPr>
        <p:spPr>
          <a:xfrm>
            <a:off x="762000" y="2238375"/>
            <a:ext cx="3124200"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Prototype FPGA</a:t>
            </a:r>
          </a:p>
        </p:txBody>
      </p:sp>
      <p:sp>
        <p:nvSpPr>
          <p:cNvPr id="7" name="Rectangle 6">
            <a:extLst>
              <a:ext uri="{FF2B5EF4-FFF2-40B4-BE49-F238E27FC236}">
                <a16:creationId xmlns:a16="http://schemas.microsoft.com/office/drawing/2014/main" id="{73C6CBB8-290E-4F77-8A47-9A6987D86EDC}"/>
              </a:ext>
            </a:extLst>
          </p:cNvPr>
          <p:cNvSpPr>
            <a:spLocks noGrp="1"/>
          </p:cNvSpPr>
          <p:nvPr/>
        </p:nvSpPr>
        <p:spPr>
          <a:xfrm>
            <a:off x="762000" y="2514600"/>
            <a:ext cx="3124200" cy="552450"/>
          </a:xfrm>
          <a:prstGeom prst="rect">
            <a:avLst/>
          </a:prstGeom>
          <a:noFill/>
          <a:ln w="0">
            <a:noFill/>
          </a:ln>
        </p:spPr>
        <p:txBody>
          <a:bodyPr anchor="ctr">
            <a:normAutofit fontScale="89630"/>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Cyclone V, clock 50 MHz, UART 115200 8N1. RTL gồm 12 mô-đun Verilog và khoảng 2.274 dòng mã.</a:t>
            </a:r>
          </a:p>
        </p:txBody>
      </p:sp>
      <p:sp>
        <p:nvSpPr>
          <p:cNvPr id="8" name="Rounded Rectangle 7">
            <a:extLst>
              <a:ext uri="{FF2B5EF4-FFF2-40B4-BE49-F238E27FC236}">
                <a16:creationId xmlns:a16="http://schemas.microsoft.com/office/drawing/2014/main" id="{C9524B13-5E2B-4419-9949-890322CCE73A}"/>
              </a:ext>
            </a:extLst>
          </p:cNvPr>
          <p:cNvSpPr>
            <a:spLocks noGrp="1"/>
          </p:cNvSpPr>
          <p:nvPr/>
        </p:nvSpPr>
        <p:spPr>
          <a:xfrm>
            <a:off x="4429125" y="2305050"/>
            <a:ext cx="76200" cy="76200"/>
          </a:xfrm>
          <a:prstGeom prst="roundRect">
            <a:avLst>
              <a:gd name="adj" fmla="val 50000"/>
            </a:avLst>
          </a:prstGeom>
          <a:solidFill>
            <a:srgbClr val="20C7B0"/>
          </a:solidFill>
          <a:ln w="0">
            <a:noFill/>
          </a:ln>
        </p:spPr>
        <p:txBody>
          <a:bodyPr/>
          <a:lstStyle/>
          <a:p>
            <a:endParaRPr lang="en-VN"/>
          </a:p>
        </p:txBody>
      </p:sp>
      <p:sp>
        <p:nvSpPr>
          <p:cNvPr id="9" name="Rectangle 8">
            <a:extLst>
              <a:ext uri="{FF2B5EF4-FFF2-40B4-BE49-F238E27FC236}">
                <a16:creationId xmlns:a16="http://schemas.microsoft.com/office/drawing/2014/main" id="{0FDB2917-3CB8-41B5-AF8D-DED688547C25}"/>
              </a:ext>
            </a:extLst>
          </p:cNvPr>
          <p:cNvSpPr>
            <a:spLocks noGrp="1"/>
          </p:cNvSpPr>
          <p:nvPr/>
        </p:nvSpPr>
        <p:spPr>
          <a:xfrm>
            <a:off x="4638675" y="2238375"/>
            <a:ext cx="3124200"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Đường xác thực</a:t>
            </a:r>
          </a:p>
        </p:txBody>
      </p:sp>
      <p:sp>
        <p:nvSpPr>
          <p:cNvPr id="10" name="Rectangle 9">
            <a:extLst>
              <a:ext uri="{FF2B5EF4-FFF2-40B4-BE49-F238E27FC236}">
                <a16:creationId xmlns:a16="http://schemas.microsoft.com/office/drawing/2014/main" id="{207E5A60-6EB2-47E1-A745-E03EC2CE3FDD}"/>
              </a:ext>
            </a:extLst>
          </p:cNvPr>
          <p:cNvSpPr>
            <a:spLocks noGrp="1"/>
          </p:cNvSpPr>
          <p:nvPr/>
        </p:nvSpPr>
        <p:spPr>
          <a:xfrm>
            <a:off x="4638675" y="2514600"/>
            <a:ext cx="3124200" cy="552450"/>
          </a:xfrm>
          <a:prstGeom prst="rect">
            <a:avLst/>
          </a:prstGeom>
          <a:noFill/>
          <a:ln w="0">
            <a:noFill/>
          </a:ln>
        </p:spPr>
        <p:txBody>
          <a:bodyPr anchor="ctr">
            <a:normAutofit fontScale="89630"/>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Protocol V2, FIFO 8 lệnh, Auth FSM, nonce 128 bit, replay history, cooldown và AES-128 tuần tự.</a:t>
            </a:r>
          </a:p>
        </p:txBody>
      </p:sp>
      <p:sp>
        <p:nvSpPr>
          <p:cNvPr id="11" name="Rounded Rectangle 10">
            <a:extLst>
              <a:ext uri="{FF2B5EF4-FFF2-40B4-BE49-F238E27FC236}">
                <a16:creationId xmlns:a16="http://schemas.microsoft.com/office/drawing/2014/main" id="{C2C40326-DCAF-4E98-A203-73AB91D1A4C2}"/>
              </a:ext>
            </a:extLst>
          </p:cNvPr>
          <p:cNvSpPr>
            <a:spLocks noGrp="1"/>
          </p:cNvSpPr>
          <p:nvPr/>
        </p:nvSpPr>
        <p:spPr>
          <a:xfrm>
            <a:off x="8305800" y="2305050"/>
            <a:ext cx="76200" cy="76200"/>
          </a:xfrm>
          <a:prstGeom prst="roundRect">
            <a:avLst>
              <a:gd name="adj" fmla="val 50000"/>
            </a:avLst>
          </a:prstGeom>
          <a:solidFill>
            <a:srgbClr val="20C7B0"/>
          </a:solidFill>
          <a:ln w="0">
            <a:noFill/>
          </a:ln>
        </p:spPr>
        <p:txBody>
          <a:bodyPr/>
          <a:lstStyle/>
          <a:p>
            <a:endParaRPr lang="en-VN"/>
          </a:p>
        </p:txBody>
      </p:sp>
      <p:sp>
        <p:nvSpPr>
          <p:cNvPr id="12" name="Rectangle 11">
            <a:extLst>
              <a:ext uri="{FF2B5EF4-FFF2-40B4-BE49-F238E27FC236}">
                <a16:creationId xmlns:a16="http://schemas.microsoft.com/office/drawing/2014/main" id="{134E8A3E-F812-4370-97CD-4CB8512CF02E}"/>
              </a:ext>
            </a:extLst>
          </p:cNvPr>
          <p:cNvSpPr>
            <a:spLocks noGrp="1"/>
          </p:cNvSpPr>
          <p:nvPr/>
        </p:nvSpPr>
        <p:spPr>
          <a:xfrm>
            <a:off x="8515350" y="2238375"/>
            <a:ext cx="3124200"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Đích ASIC</a:t>
            </a:r>
          </a:p>
        </p:txBody>
      </p:sp>
      <p:sp>
        <p:nvSpPr>
          <p:cNvPr id="13" name="Rectangle 12">
            <a:extLst>
              <a:ext uri="{FF2B5EF4-FFF2-40B4-BE49-F238E27FC236}">
                <a16:creationId xmlns:a16="http://schemas.microsoft.com/office/drawing/2014/main" id="{FAA996A5-A85B-40E5-B25A-A4DCF176EE15}"/>
              </a:ext>
            </a:extLst>
          </p:cNvPr>
          <p:cNvSpPr>
            <a:spLocks noGrp="1"/>
          </p:cNvSpPr>
          <p:nvPr/>
        </p:nvSpPr>
        <p:spPr>
          <a:xfrm>
            <a:off x="8515350" y="2514600"/>
            <a:ext cx="3124200" cy="552450"/>
          </a:xfrm>
          <a:prstGeom prst="rect">
            <a:avLst/>
          </a:prstGeom>
          <a:noFill/>
          <a:ln w="0">
            <a:noFill/>
          </a:ln>
        </p:spPr>
        <p:txBody>
          <a:bodyPr anchor="ctr">
            <a:normAutofit fontScale="89630"/>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Hardening lõi bảo mật số trên SKY130A. DRC, LVS, XOR và timing signoff có kết quả; antenna và ERC còn giới hạn.</a:t>
            </a:r>
          </a:p>
        </p:txBody>
      </p:sp>
      <p:sp>
        <p:nvSpPr>
          <p:cNvPr id="14" name="Rounded Rectangle 13">
            <a:extLst>
              <a:ext uri="{FF2B5EF4-FFF2-40B4-BE49-F238E27FC236}">
                <a16:creationId xmlns:a16="http://schemas.microsoft.com/office/drawing/2014/main" id="{F069F2E7-D8E8-4A6D-AC2D-34E5833896A1}"/>
              </a:ext>
            </a:extLst>
          </p:cNvPr>
          <p:cNvSpPr>
            <a:spLocks noGrp="1"/>
          </p:cNvSpPr>
          <p:nvPr/>
        </p:nvSpPr>
        <p:spPr>
          <a:xfrm>
            <a:off x="514350" y="4619625"/>
            <a:ext cx="11125200" cy="1123950"/>
          </a:xfrm>
          <a:prstGeom prst="roundRect">
            <a:avLst>
              <a:gd name="adj" fmla="val 13559"/>
            </a:avLst>
          </a:prstGeom>
          <a:solidFill>
            <a:srgbClr val="E7F7F4"/>
          </a:solidFill>
          <a:ln w="0">
            <a:noFill/>
          </a:ln>
        </p:spPr>
        <p:txBody>
          <a:bodyPr/>
          <a:lstStyle/>
          <a:p>
            <a:endParaRPr lang="en-VN"/>
          </a:p>
        </p:txBody>
      </p:sp>
      <p:sp>
        <p:nvSpPr>
          <p:cNvPr id="15" name="Rectangle 14">
            <a:extLst>
              <a:ext uri="{FF2B5EF4-FFF2-40B4-BE49-F238E27FC236}">
                <a16:creationId xmlns:a16="http://schemas.microsoft.com/office/drawing/2014/main" id="{CE39D826-7D57-499A-A49E-8DCFF3C23D04}"/>
              </a:ext>
            </a:extLst>
          </p:cNvPr>
          <p:cNvSpPr>
            <a:spLocks noGrp="1"/>
          </p:cNvSpPr>
          <p:nvPr/>
        </p:nvSpPr>
        <p:spPr>
          <a:xfrm>
            <a:off x="781050" y="4762500"/>
            <a:ext cx="2095500" cy="266700"/>
          </a:xfrm>
          <a:prstGeom prst="rect">
            <a:avLst/>
          </a:prstGeom>
          <a:noFill/>
          <a:ln w="0">
            <a:noFill/>
          </a:ln>
        </p:spPr>
        <p:txBody>
          <a:bodyPr anchor="ctr">
            <a:normAutofit fontScale="85185"/>
          </a:bodyPr>
          <a:lstStyle/>
          <a:p>
            <a:pPr algn="l">
              <a:defRPr sz="1350" b="1">
                <a:solidFill>
                  <a:srgbClr val="0E9384"/>
                </a:solidFill>
                <a:latin typeface="DejaVu Sans"/>
                <a:ea typeface="DejaVu Sans"/>
                <a:cs typeface="DejaVu Sans"/>
              </a:defRPr>
            </a:pPr>
            <a:r>
              <a:rPr sz="1350" b="1">
                <a:solidFill>
                  <a:srgbClr val="0E9384"/>
                </a:solidFill>
                <a:latin typeface="DejaVu Sans"/>
                <a:ea typeface="DejaVu Sans"/>
                <a:cs typeface="DejaVu Sans"/>
              </a:rPr>
              <a:t>Kết quả nổi bật</a:t>
            </a:r>
          </a:p>
        </p:txBody>
      </p:sp>
      <p:sp>
        <p:nvSpPr>
          <p:cNvPr id="16" name="Rectangle 15">
            <a:extLst>
              <a:ext uri="{FF2B5EF4-FFF2-40B4-BE49-F238E27FC236}">
                <a16:creationId xmlns:a16="http://schemas.microsoft.com/office/drawing/2014/main" id="{AA7706A0-1F88-473B-92C2-81E253B11977}"/>
              </a:ext>
            </a:extLst>
          </p:cNvPr>
          <p:cNvSpPr>
            <a:spLocks noGrp="1"/>
          </p:cNvSpPr>
          <p:nvPr/>
        </p:nvSpPr>
        <p:spPr>
          <a:xfrm>
            <a:off x="781050" y="5067300"/>
            <a:ext cx="10334625" cy="571500"/>
          </a:xfrm>
          <a:prstGeom prst="rect">
            <a:avLst/>
          </a:prstGeom>
          <a:noFill/>
          <a:ln w="0">
            <a:noFill/>
          </a:ln>
        </p:spPr>
        <p:txBody>
          <a:bodyPr anchor="ctr">
            <a:normAutofit/>
          </a:bodyPr>
          <a:lstStyle/>
          <a:p>
            <a:pPr algn="l">
              <a:defRPr sz="1425" b="1">
                <a:solidFill>
                  <a:srgbClr val="14202B"/>
                </a:solidFill>
                <a:latin typeface="DejaVu Sans"/>
                <a:ea typeface="DejaVu Sans"/>
                <a:cs typeface="DejaVu Sans"/>
              </a:defRPr>
            </a:pPr>
            <a:r>
              <a:rPr sz="1425" b="1">
                <a:solidFill>
                  <a:srgbClr val="14202B"/>
                </a:solidFill>
                <a:latin typeface="DejaVu Sans"/>
                <a:ea typeface="DejaVu Sans"/>
                <a:cs typeface="DejaVu Sans"/>
              </a:rPr>
              <a:t>Mô phỏng RTL: 7/7 nhóm test PASS. Video board: UART positive 4/4, negative 20/20. Kiểm thử challenge trên board còn FAIL ở rate limit. Run ASIC chọn: run_5.</a:t>
            </a:r>
          </a:p>
        </p:txBody>
      </p:sp>
      <p:sp>
        <p:nvSpPr>
          <p:cNvPr id="17" name="Rectangle 16">
            <a:extLst>
              <a:ext uri="{FF2B5EF4-FFF2-40B4-BE49-F238E27FC236}">
                <a16:creationId xmlns:a16="http://schemas.microsoft.com/office/drawing/2014/main" id="{6E463D0D-C486-419C-A9B3-04BBBC0C2565}"/>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18" name="Rectangle 17">
            <a:extLst>
              <a:ext uri="{FF2B5EF4-FFF2-40B4-BE49-F238E27FC236}">
                <a16:creationId xmlns:a16="http://schemas.microsoft.com/office/drawing/2014/main" id="{9D2FFE07-5B1E-44C1-8F37-F033354D04A8}"/>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02</a:t>
            </a:r>
          </a:p>
        </p:txBody>
      </p:sp>
    </p:spTree>
    <p:extLst>
      <p:ext uri="{BB962C8B-B14F-4D97-AF65-F5344CB8AC3E}">
        <p14:creationId xmlns:p14="http://schemas.microsoft.com/office/powerpoint/2010/main" val="832154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524"/>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C5AF46E-C15D-410F-B656-FF542E25BF68}"/>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BỐI CẢNH</a:t>
            </a:r>
          </a:p>
        </p:txBody>
      </p:sp>
      <p:sp>
        <p:nvSpPr>
          <p:cNvPr id="2" name="Rectangle 1">
            <a:extLst>
              <a:ext uri="{FF2B5EF4-FFF2-40B4-BE49-F238E27FC236}">
                <a16:creationId xmlns:a16="http://schemas.microsoft.com/office/drawing/2014/main" id="{B4F0FB3D-B2F2-474C-9652-4074CDBE3FE1}"/>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F7FAFC"/>
                </a:solidFill>
                <a:latin typeface="DejaVu Sans"/>
                <a:ea typeface="DejaVu Sans"/>
                <a:cs typeface="DejaVu Sans"/>
              </a:defRPr>
            </a:pPr>
            <a:r>
              <a:rPr sz="2550" b="1">
                <a:solidFill>
                  <a:srgbClr val="F7FAFC"/>
                </a:solidFill>
                <a:latin typeface="DejaVu Sans"/>
                <a:ea typeface="DejaVu Sans"/>
                <a:cs typeface="DejaVu Sans"/>
              </a:rPr>
              <a:t>Bài toán và mô hình đe dọa</a:t>
            </a:r>
          </a:p>
        </p:txBody>
      </p:sp>
      <p:sp>
        <p:nvSpPr>
          <p:cNvPr id="3" name="Rectangle 2">
            <a:extLst>
              <a:ext uri="{FF2B5EF4-FFF2-40B4-BE49-F238E27FC236}">
                <a16:creationId xmlns:a16="http://schemas.microsoft.com/office/drawing/2014/main" id="{40E56F41-6E14-47B8-8F9C-588DFE4A37A3}"/>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sp>
        <p:nvSpPr>
          <p:cNvPr id="4" name="Rectangle 3">
            <a:extLst>
              <a:ext uri="{FF2B5EF4-FFF2-40B4-BE49-F238E27FC236}">
                <a16:creationId xmlns:a16="http://schemas.microsoft.com/office/drawing/2014/main" id="{C9246076-B3C3-486A-8B4A-3F6718EA285A}"/>
              </a:ext>
            </a:extLst>
          </p:cNvPr>
          <p:cNvSpPr>
            <a:spLocks noGrp="1"/>
          </p:cNvSpPr>
          <p:nvPr/>
        </p:nvSpPr>
        <p:spPr>
          <a:xfrm>
            <a:off x="514350" y="1381125"/>
            <a:ext cx="10763250" cy="552450"/>
          </a:xfrm>
          <a:prstGeom prst="rect">
            <a:avLst/>
          </a:prstGeom>
          <a:noFill/>
          <a:ln w="0">
            <a:noFill/>
          </a:ln>
        </p:spPr>
        <p:txBody>
          <a:bodyPr anchor="ctr">
            <a:normAutofit fontScale="77886"/>
          </a:bodyPr>
          <a:lstStyle/>
          <a:p>
            <a:pPr algn="l">
              <a:defRPr sz="1950" b="1">
                <a:solidFill>
                  <a:srgbClr val="F7FAFC"/>
                </a:solidFill>
                <a:latin typeface="DejaVu Sans"/>
                <a:ea typeface="DejaVu Sans"/>
                <a:cs typeface="DejaVu Sans"/>
              </a:defRPr>
            </a:pPr>
            <a:r>
              <a:rPr sz="1950" b="1">
                <a:solidFill>
                  <a:srgbClr val="F7FAFC"/>
                </a:solidFill>
                <a:latin typeface="DejaVu Sans"/>
                <a:ea typeface="DejaVu Sans"/>
                <a:cs typeface="DejaVu Sans"/>
              </a:rPr>
              <a:t>Thiết bị cần chứng minh danh tính mà không phụ thuộc vào một khóa dùng chung cho toàn bộ lô.</a:t>
            </a:r>
          </a:p>
        </p:txBody>
      </p:sp>
      <p:sp>
        <p:nvSpPr>
          <p:cNvPr id="5" name="Rounded Rectangle 4">
            <a:extLst>
              <a:ext uri="{FF2B5EF4-FFF2-40B4-BE49-F238E27FC236}">
                <a16:creationId xmlns:a16="http://schemas.microsoft.com/office/drawing/2014/main" id="{12C7687A-48DD-4FD0-8F4B-0F40B242700F}"/>
              </a:ext>
            </a:extLst>
          </p:cNvPr>
          <p:cNvSpPr>
            <a:spLocks noGrp="1"/>
          </p:cNvSpPr>
          <p:nvPr/>
        </p:nvSpPr>
        <p:spPr>
          <a:xfrm>
            <a:off x="571500" y="2400300"/>
            <a:ext cx="76200" cy="76200"/>
          </a:xfrm>
          <a:prstGeom prst="roundRect">
            <a:avLst>
              <a:gd name="adj" fmla="val 50000"/>
            </a:avLst>
          </a:prstGeom>
          <a:solidFill>
            <a:srgbClr val="20C7B0"/>
          </a:solidFill>
          <a:ln w="0">
            <a:noFill/>
          </a:ln>
        </p:spPr>
        <p:txBody>
          <a:bodyPr/>
          <a:lstStyle/>
          <a:p>
            <a:endParaRPr lang="en-VN"/>
          </a:p>
        </p:txBody>
      </p:sp>
      <p:sp>
        <p:nvSpPr>
          <p:cNvPr id="6" name="Rectangle 5">
            <a:extLst>
              <a:ext uri="{FF2B5EF4-FFF2-40B4-BE49-F238E27FC236}">
                <a16:creationId xmlns:a16="http://schemas.microsoft.com/office/drawing/2014/main" id="{06F28F54-3E04-4D5A-A184-6FB25219CB9A}"/>
              </a:ext>
            </a:extLst>
          </p:cNvPr>
          <p:cNvSpPr>
            <a:spLocks noGrp="1"/>
          </p:cNvSpPr>
          <p:nvPr/>
        </p:nvSpPr>
        <p:spPr>
          <a:xfrm>
            <a:off x="781050" y="2333625"/>
            <a:ext cx="4743450" cy="266700"/>
          </a:xfrm>
          <a:prstGeom prst="rect">
            <a:avLst/>
          </a:prstGeom>
          <a:noFill/>
          <a:ln w="0">
            <a:noFill/>
          </a:ln>
        </p:spPr>
        <p:txBody>
          <a:bodyPr anchor="ctr">
            <a:normAutofit fontScale="85185"/>
          </a:bodyPr>
          <a:lstStyle/>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Nguy cơ giao thức</a:t>
            </a:r>
          </a:p>
        </p:txBody>
      </p:sp>
      <p:sp>
        <p:nvSpPr>
          <p:cNvPr id="7" name="Rectangle 6">
            <a:extLst>
              <a:ext uri="{FF2B5EF4-FFF2-40B4-BE49-F238E27FC236}">
                <a16:creationId xmlns:a16="http://schemas.microsoft.com/office/drawing/2014/main" id="{076C0D5D-3241-4D4C-853F-B170F748DB4E}"/>
              </a:ext>
            </a:extLst>
          </p:cNvPr>
          <p:cNvSpPr>
            <a:spLocks noGrp="1"/>
          </p:cNvSpPr>
          <p:nvPr/>
        </p:nvSpPr>
        <p:spPr>
          <a:xfrm>
            <a:off x="781050" y="2609850"/>
            <a:ext cx="4743450" cy="552450"/>
          </a:xfrm>
          <a:prstGeom prst="rect">
            <a:avLst/>
          </a:prstGeom>
          <a:noFill/>
          <a:ln w="0">
            <a:noFill/>
          </a:ln>
        </p:spPr>
        <p:txBody>
          <a:bodyPr anchor="ctr">
            <a:normAutofit/>
          </a:bodyPr>
          <a:lstStyle/>
          <a:p>
            <a:pPr algn="l">
              <a:defRPr sz="1125" b="0">
                <a:solidFill>
                  <a:srgbClr val="9FB0BF"/>
                </a:solidFill>
                <a:latin typeface="DejaVu Sans"/>
                <a:ea typeface="DejaVu Sans"/>
                <a:cs typeface="DejaVu Sans"/>
              </a:defRPr>
            </a:pPr>
            <a:r>
              <a:rPr sz="1125" b="0">
                <a:solidFill>
                  <a:srgbClr val="9FB0BF"/>
                </a:solidFill>
                <a:latin typeface="DejaVu Sans"/>
                <a:ea typeface="DejaVu Sans"/>
                <a:cs typeface="DejaVu Sans"/>
              </a:rPr>
              <a:t>Nghe và sửa gói UART, gửi gói sai CRC, phát lại nonce đã dùng và đưa lệnh không hợp lệ.</a:t>
            </a:r>
          </a:p>
        </p:txBody>
      </p:sp>
      <p:sp>
        <p:nvSpPr>
          <p:cNvPr id="8" name="Rounded Rectangle 7">
            <a:extLst>
              <a:ext uri="{FF2B5EF4-FFF2-40B4-BE49-F238E27FC236}">
                <a16:creationId xmlns:a16="http://schemas.microsoft.com/office/drawing/2014/main" id="{A461DBBE-BC4C-46C9-86FF-50A375A28E94}"/>
              </a:ext>
            </a:extLst>
          </p:cNvPr>
          <p:cNvSpPr>
            <a:spLocks noGrp="1"/>
          </p:cNvSpPr>
          <p:nvPr/>
        </p:nvSpPr>
        <p:spPr>
          <a:xfrm>
            <a:off x="6286500" y="2400300"/>
            <a:ext cx="76200" cy="76200"/>
          </a:xfrm>
          <a:prstGeom prst="roundRect">
            <a:avLst>
              <a:gd name="adj" fmla="val 50000"/>
            </a:avLst>
          </a:prstGeom>
          <a:solidFill>
            <a:srgbClr val="20C7B0"/>
          </a:solidFill>
          <a:ln w="0">
            <a:noFill/>
          </a:ln>
        </p:spPr>
        <p:txBody>
          <a:bodyPr/>
          <a:lstStyle/>
          <a:p>
            <a:endParaRPr lang="en-VN"/>
          </a:p>
        </p:txBody>
      </p:sp>
      <p:sp>
        <p:nvSpPr>
          <p:cNvPr id="9" name="Rectangle 8">
            <a:extLst>
              <a:ext uri="{FF2B5EF4-FFF2-40B4-BE49-F238E27FC236}">
                <a16:creationId xmlns:a16="http://schemas.microsoft.com/office/drawing/2014/main" id="{687E34DE-D1D4-4B0F-B63B-1827FBE4C1EC}"/>
              </a:ext>
            </a:extLst>
          </p:cNvPr>
          <p:cNvSpPr>
            <a:spLocks noGrp="1"/>
          </p:cNvSpPr>
          <p:nvPr/>
        </p:nvSpPr>
        <p:spPr>
          <a:xfrm>
            <a:off x="6496050" y="2333625"/>
            <a:ext cx="4743450" cy="266700"/>
          </a:xfrm>
          <a:prstGeom prst="rect">
            <a:avLst/>
          </a:prstGeom>
          <a:noFill/>
          <a:ln w="0">
            <a:noFill/>
          </a:ln>
        </p:spPr>
        <p:txBody>
          <a:bodyPr anchor="ctr">
            <a:normAutofit fontScale="85185"/>
          </a:bodyPr>
          <a:lstStyle/>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Rủi ro khóa</a:t>
            </a:r>
          </a:p>
        </p:txBody>
      </p:sp>
      <p:sp>
        <p:nvSpPr>
          <p:cNvPr id="10" name="Rectangle 9">
            <a:extLst>
              <a:ext uri="{FF2B5EF4-FFF2-40B4-BE49-F238E27FC236}">
                <a16:creationId xmlns:a16="http://schemas.microsoft.com/office/drawing/2014/main" id="{5253B3CD-9D35-46E0-9063-793CC7635359}"/>
              </a:ext>
            </a:extLst>
          </p:cNvPr>
          <p:cNvSpPr>
            <a:spLocks noGrp="1"/>
          </p:cNvSpPr>
          <p:nvPr/>
        </p:nvSpPr>
        <p:spPr>
          <a:xfrm>
            <a:off x="6496050" y="2609850"/>
            <a:ext cx="4743450" cy="552450"/>
          </a:xfrm>
          <a:prstGeom prst="rect">
            <a:avLst/>
          </a:prstGeom>
          <a:noFill/>
          <a:ln w="0">
            <a:noFill/>
          </a:ln>
        </p:spPr>
        <p:txBody>
          <a:bodyPr anchor="ctr">
            <a:normAutofit/>
          </a:bodyPr>
          <a:lstStyle/>
          <a:p>
            <a:pPr algn="l">
              <a:defRPr sz="1125" b="0">
                <a:solidFill>
                  <a:srgbClr val="9FB0BF"/>
                </a:solidFill>
                <a:latin typeface="DejaVu Sans"/>
                <a:ea typeface="DejaVu Sans"/>
                <a:cs typeface="DejaVu Sans"/>
              </a:defRPr>
            </a:pPr>
            <a:r>
              <a:rPr sz="1125" b="0">
                <a:solidFill>
                  <a:srgbClr val="9FB0BF"/>
                </a:solidFill>
                <a:latin typeface="DejaVu Sans"/>
                <a:ea typeface="DejaVu Sans"/>
                <a:cs typeface="DejaVu Sans"/>
              </a:rPr>
              <a:t>Khóa cố định bị trích xuất có thể làm suy yếu toàn bộ thiết bị dùng chung cấu hình.</a:t>
            </a:r>
          </a:p>
        </p:txBody>
      </p:sp>
      <p:sp>
        <p:nvSpPr>
          <p:cNvPr id="11" name="Rounded Rectangle 10">
            <a:extLst>
              <a:ext uri="{FF2B5EF4-FFF2-40B4-BE49-F238E27FC236}">
                <a16:creationId xmlns:a16="http://schemas.microsoft.com/office/drawing/2014/main" id="{467BF2E1-76CC-4E16-ADCA-F8E164929447}"/>
              </a:ext>
            </a:extLst>
          </p:cNvPr>
          <p:cNvSpPr>
            <a:spLocks noGrp="1"/>
          </p:cNvSpPr>
          <p:nvPr/>
        </p:nvSpPr>
        <p:spPr>
          <a:xfrm>
            <a:off x="571500" y="3829050"/>
            <a:ext cx="76200" cy="76200"/>
          </a:xfrm>
          <a:prstGeom prst="roundRect">
            <a:avLst>
              <a:gd name="adj" fmla="val 50000"/>
            </a:avLst>
          </a:prstGeom>
          <a:solidFill>
            <a:srgbClr val="20C7B0"/>
          </a:solidFill>
          <a:ln w="0">
            <a:noFill/>
          </a:ln>
        </p:spPr>
        <p:txBody>
          <a:bodyPr/>
          <a:lstStyle/>
          <a:p>
            <a:endParaRPr lang="en-VN"/>
          </a:p>
        </p:txBody>
      </p:sp>
      <p:sp>
        <p:nvSpPr>
          <p:cNvPr id="12" name="Rectangle 11">
            <a:extLst>
              <a:ext uri="{FF2B5EF4-FFF2-40B4-BE49-F238E27FC236}">
                <a16:creationId xmlns:a16="http://schemas.microsoft.com/office/drawing/2014/main" id="{FA6E7C0E-8CA8-47B8-BCC8-3A2DFCA4C8ED}"/>
              </a:ext>
            </a:extLst>
          </p:cNvPr>
          <p:cNvSpPr>
            <a:spLocks noGrp="1"/>
          </p:cNvSpPr>
          <p:nvPr/>
        </p:nvSpPr>
        <p:spPr>
          <a:xfrm>
            <a:off x="781050" y="3762375"/>
            <a:ext cx="4743450" cy="266700"/>
          </a:xfrm>
          <a:prstGeom prst="rect">
            <a:avLst/>
          </a:prstGeom>
          <a:noFill/>
          <a:ln w="0">
            <a:noFill/>
          </a:ln>
        </p:spPr>
        <p:txBody>
          <a:bodyPr anchor="ctr">
            <a:normAutofit fontScale="85185"/>
          </a:bodyPr>
          <a:lstStyle/>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PUF có nhiễu</a:t>
            </a:r>
          </a:p>
        </p:txBody>
      </p:sp>
      <p:sp>
        <p:nvSpPr>
          <p:cNvPr id="13" name="Rectangle 12">
            <a:extLst>
              <a:ext uri="{FF2B5EF4-FFF2-40B4-BE49-F238E27FC236}">
                <a16:creationId xmlns:a16="http://schemas.microsoft.com/office/drawing/2014/main" id="{9A976DC5-696E-4233-A87E-4002F66563D1}"/>
              </a:ext>
            </a:extLst>
          </p:cNvPr>
          <p:cNvSpPr>
            <a:spLocks noGrp="1"/>
          </p:cNvSpPr>
          <p:nvPr/>
        </p:nvSpPr>
        <p:spPr>
          <a:xfrm>
            <a:off x="781050" y="4038600"/>
            <a:ext cx="4743450" cy="552450"/>
          </a:xfrm>
          <a:prstGeom prst="rect">
            <a:avLst/>
          </a:prstGeom>
          <a:noFill/>
          <a:ln w="0">
            <a:noFill/>
          </a:ln>
        </p:spPr>
        <p:txBody>
          <a:bodyPr anchor="ctr">
            <a:normAutofit/>
          </a:bodyPr>
          <a:lstStyle/>
          <a:p>
            <a:pPr algn="l">
              <a:defRPr sz="1125" b="0">
                <a:solidFill>
                  <a:srgbClr val="9FB0BF"/>
                </a:solidFill>
                <a:latin typeface="DejaVu Sans"/>
                <a:ea typeface="DejaVu Sans"/>
                <a:cs typeface="DejaVu Sans"/>
              </a:defRPr>
            </a:pPr>
            <a:r>
              <a:rPr sz="1125" b="0">
                <a:solidFill>
                  <a:srgbClr val="9FB0BF"/>
                </a:solidFill>
                <a:latin typeface="DejaVu Sans"/>
                <a:ea typeface="DejaVu Sans"/>
                <a:cs typeface="DejaVu Sans"/>
              </a:rPr>
              <a:t>Đáp ứng RO-PUF thay đổi theo khởi động, điện áp và nhiệt độ nên cần đặc trưng hóa và hiệu chỉnh lỗi.</a:t>
            </a:r>
          </a:p>
        </p:txBody>
      </p:sp>
      <p:sp>
        <p:nvSpPr>
          <p:cNvPr id="14" name="Rounded Rectangle 13">
            <a:extLst>
              <a:ext uri="{FF2B5EF4-FFF2-40B4-BE49-F238E27FC236}">
                <a16:creationId xmlns:a16="http://schemas.microsoft.com/office/drawing/2014/main" id="{F16A5D6C-B72F-4C0E-824C-6F6EDFD40358}"/>
              </a:ext>
            </a:extLst>
          </p:cNvPr>
          <p:cNvSpPr>
            <a:spLocks noGrp="1"/>
          </p:cNvSpPr>
          <p:nvPr/>
        </p:nvSpPr>
        <p:spPr>
          <a:xfrm>
            <a:off x="6286500" y="3829050"/>
            <a:ext cx="76200" cy="76200"/>
          </a:xfrm>
          <a:prstGeom prst="roundRect">
            <a:avLst>
              <a:gd name="adj" fmla="val 50000"/>
            </a:avLst>
          </a:prstGeom>
          <a:solidFill>
            <a:srgbClr val="20C7B0"/>
          </a:solidFill>
          <a:ln w="0">
            <a:noFill/>
          </a:ln>
        </p:spPr>
        <p:txBody>
          <a:bodyPr/>
          <a:lstStyle/>
          <a:p>
            <a:endParaRPr lang="en-VN"/>
          </a:p>
        </p:txBody>
      </p:sp>
      <p:sp>
        <p:nvSpPr>
          <p:cNvPr id="15" name="Rectangle 14">
            <a:extLst>
              <a:ext uri="{FF2B5EF4-FFF2-40B4-BE49-F238E27FC236}">
                <a16:creationId xmlns:a16="http://schemas.microsoft.com/office/drawing/2014/main" id="{C73A4ECB-CB15-4C0E-9E1C-632A098F4C7C}"/>
              </a:ext>
            </a:extLst>
          </p:cNvPr>
          <p:cNvSpPr>
            <a:spLocks noGrp="1"/>
          </p:cNvSpPr>
          <p:nvPr/>
        </p:nvSpPr>
        <p:spPr>
          <a:xfrm>
            <a:off x="6496050" y="3762375"/>
            <a:ext cx="4743450" cy="266700"/>
          </a:xfrm>
          <a:prstGeom prst="rect">
            <a:avLst/>
          </a:prstGeom>
          <a:noFill/>
          <a:ln w="0">
            <a:noFill/>
          </a:ln>
        </p:spPr>
        <p:txBody>
          <a:bodyPr anchor="ctr">
            <a:normAutofit fontScale="85185"/>
          </a:bodyPr>
          <a:lstStyle/>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Ngoài phạm vi hiện tại</a:t>
            </a:r>
          </a:p>
        </p:txBody>
      </p:sp>
      <p:sp>
        <p:nvSpPr>
          <p:cNvPr id="16" name="Rectangle 15">
            <a:extLst>
              <a:ext uri="{FF2B5EF4-FFF2-40B4-BE49-F238E27FC236}">
                <a16:creationId xmlns:a16="http://schemas.microsoft.com/office/drawing/2014/main" id="{0E55B464-E16E-42D4-857A-D301BE6801B8}"/>
              </a:ext>
            </a:extLst>
          </p:cNvPr>
          <p:cNvSpPr>
            <a:spLocks noGrp="1"/>
          </p:cNvSpPr>
          <p:nvPr/>
        </p:nvSpPr>
        <p:spPr>
          <a:xfrm>
            <a:off x="6496050" y="4038600"/>
            <a:ext cx="4743450" cy="552450"/>
          </a:xfrm>
          <a:prstGeom prst="rect">
            <a:avLst/>
          </a:prstGeom>
          <a:noFill/>
          <a:ln w="0">
            <a:noFill/>
          </a:ln>
        </p:spPr>
        <p:txBody>
          <a:bodyPr anchor="ctr">
            <a:normAutofit/>
          </a:bodyPr>
          <a:lstStyle/>
          <a:p>
            <a:pPr algn="l">
              <a:defRPr sz="1125" b="0">
                <a:solidFill>
                  <a:srgbClr val="9FB0BF"/>
                </a:solidFill>
                <a:latin typeface="DejaVu Sans"/>
                <a:ea typeface="DejaVu Sans"/>
                <a:cs typeface="DejaVu Sans"/>
              </a:defRPr>
            </a:pPr>
            <a:r>
              <a:rPr sz="1125" b="0">
                <a:solidFill>
                  <a:srgbClr val="9FB0BF"/>
                </a:solidFill>
                <a:latin typeface="DejaVu Sans"/>
                <a:ea typeface="DejaVu Sans"/>
                <a:cs typeface="DejaVu Sans"/>
              </a:rPr>
              <a:t>Side-channel, fault injection, trích xuất bitstream, chứng nhận silicon và đánh giá tấn công vật lý.</a:t>
            </a:r>
          </a:p>
        </p:txBody>
      </p:sp>
      <p:sp>
        <p:nvSpPr>
          <p:cNvPr id="17" name="Rectangle 16">
            <a:extLst>
              <a:ext uri="{FF2B5EF4-FFF2-40B4-BE49-F238E27FC236}">
                <a16:creationId xmlns:a16="http://schemas.microsoft.com/office/drawing/2014/main" id="{F74EE5DF-3716-4FFA-91FB-C381AF606E9F}"/>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TrueChip  •  Prototype xác thực phần cứng</a:t>
            </a:r>
          </a:p>
        </p:txBody>
      </p:sp>
      <p:sp>
        <p:nvSpPr>
          <p:cNvPr id="18" name="Rectangle 17">
            <a:extLst>
              <a:ext uri="{FF2B5EF4-FFF2-40B4-BE49-F238E27FC236}">
                <a16:creationId xmlns:a16="http://schemas.microsoft.com/office/drawing/2014/main" id="{AAC9764A-20FF-4FEA-8DC5-AF0B289EB2CB}"/>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03</a:t>
            </a:r>
          </a:p>
        </p:txBody>
      </p:sp>
    </p:spTree>
    <p:extLst>
      <p:ext uri="{BB962C8B-B14F-4D97-AF65-F5344CB8AC3E}">
        <p14:creationId xmlns:p14="http://schemas.microsoft.com/office/powerpoint/2010/main" val="1148549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785AB96-3700-475A-B320-4282FC89B43E}"/>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5E8AFCD4-CD09-426A-AD6B-1F0969B0EF39}"/>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Mục tiêu và phạm vi</a:t>
            </a:r>
          </a:p>
        </p:txBody>
      </p:sp>
      <p:sp>
        <p:nvSpPr>
          <p:cNvPr id="3" name="Rectangle 2">
            <a:extLst>
              <a:ext uri="{FF2B5EF4-FFF2-40B4-BE49-F238E27FC236}">
                <a16:creationId xmlns:a16="http://schemas.microsoft.com/office/drawing/2014/main" id="{E03A3877-A0E6-4DD2-9D91-EC49432233D6}"/>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sp>
        <p:nvSpPr>
          <p:cNvPr id="4" name="Rectangle 3">
            <a:extLst>
              <a:ext uri="{FF2B5EF4-FFF2-40B4-BE49-F238E27FC236}">
                <a16:creationId xmlns:a16="http://schemas.microsoft.com/office/drawing/2014/main" id="{C9056F31-FC08-4E3B-A73D-B380528D719B}"/>
              </a:ext>
            </a:extLst>
          </p:cNvPr>
          <p:cNvSpPr>
            <a:spLocks noGrp="1"/>
          </p:cNvSpPr>
          <p:nvPr/>
        </p:nvSpPr>
        <p:spPr>
          <a:xfrm>
            <a:off x="552450" y="1428750"/>
            <a:ext cx="647700" cy="571500"/>
          </a:xfrm>
          <a:prstGeom prst="rect">
            <a:avLst/>
          </a:prstGeom>
          <a:noFill/>
          <a:ln w="0">
            <a:noFill/>
          </a:ln>
        </p:spPr>
        <p:txBody>
          <a:bodyPr anchor="ctr">
            <a:normAutofit fontScale="97812"/>
          </a:bodyPr>
          <a:lstStyle/>
          <a:p>
            <a:pPr algn="l">
              <a:defRPr sz="2250" b="1">
                <a:solidFill>
                  <a:srgbClr val="20C7B0"/>
                </a:solidFill>
                <a:latin typeface="DejaVu Sans"/>
                <a:ea typeface="DejaVu Sans"/>
                <a:cs typeface="DejaVu Sans"/>
              </a:defRPr>
            </a:pPr>
            <a:r>
              <a:rPr sz="2250" b="1" dirty="0">
                <a:solidFill>
                  <a:srgbClr val="20C7B0"/>
                </a:solidFill>
                <a:latin typeface="DejaVu Sans"/>
                <a:ea typeface="DejaVu Sans"/>
                <a:cs typeface="DejaVu Sans"/>
              </a:rPr>
              <a:t>01</a:t>
            </a:r>
          </a:p>
        </p:txBody>
      </p:sp>
      <p:sp>
        <p:nvSpPr>
          <p:cNvPr id="5" name="Rectangle 4">
            <a:extLst>
              <a:ext uri="{FF2B5EF4-FFF2-40B4-BE49-F238E27FC236}">
                <a16:creationId xmlns:a16="http://schemas.microsoft.com/office/drawing/2014/main" id="{A8F10071-9E2C-4CB8-BB35-54CF5F7132E4}"/>
              </a:ext>
            </a:extLst>
          </p:cNvPr>
          <p:cNvSpPr>
            <a:spLocks noGrp="1"/>
          </p:cNvSpPr>
          <p:nvPr/>
        </p:nvSpPr>
        <p:spPr>
          <a:xfrm>
            <a:off x="1285875" y="1428750"/>
            <a:ext cx="2952750" cy="266700"/>
          </a:xfrm>
          <a:prstGeom prst="rect">
            <a:avLst/>
          </a:prstGeom>
          <a:noFill/>
          <a:ln w="0">
            <a:noFill/>
          </a:ln>
        </p:spPr>
        <p:txBody>
          <a:bodyPr anchor="ctr">
            <a:normAutofit fontScale="76667"/>
          </a:bodyPr>
          <a:lstStyle/>
          <a:p>
            <a:pPr algn="l">
              <a:defRPr sz="1500" b="1">
                <a:solidFill>
                  <a:srgbClr val="14202B"/>
                </a:solidFill>
                <a:latin typeface="DejaVu Sans"/>
                <a:ea typeface="DejaVu Sans"/>
                <a:cs typeface="DejaVu Sans"/>
              </a:defRPr>
            </a:pPr>
            <a:r>
              <a:rPr sz="1500" b="1">
                <a:solidFill>
                  <a:srgbClr val="14202B"/>
                </a:solidFill>
                <a:latin typeface="DejaVu Sans"/>
                <a:ea typeface="DejaVu Sans"/>
                <a:cs typeface="DejaVu Sans"/>
              </a:rPr>
              <a:t>Hiện thực RTL</a:t>
            </a:r>
          </a:p>
        </p:txBody>
      </p:sp>
      <p:sp>
        <p:nvSpPr>
          <p:cNvPr id="6" name="Rectangle 5">
            <a:extLst>
              <a:ext uri="{FF2B5EF4-FFF2-40B4-BE49-F238E27FC236}">
                <a16:creationId xmlns:a16="http://schemas.microsoft.com/office/drawing/2014/main" id="{53367A04-1A24-455E-9E7E-EB255400376D}"/>
              </a:ext>
            </a:extLst>
          </p:cNvPr>
          <p:cNvSpPr>
            <a:spLocks noGrp="1"/>
          </p:cNvSpPr>
          <p:nvPr/>
        </p:nvSpPr>
        <p:spPr>
          <a:xfrm>
            <a:off x="4267200" y="1428750"/>
            <a:ext cx="7286625" cy="495300"/>
          </a:xfrm>
          <a:prstGeom prst="rect">
            <a:avLst/>
          </a:prstGeom>
          <a:noFill/>
          <a:ln w="0">
            <a:noFill/>
          </a:ln>
        </p:spPr>
        <p:txBody>
          <a:bodyPr anchor="ctr">
            <a:normAutofit/>
          </a:bodyPr>
          <a:lstStyle/>
          <a:p>
            <a:pPr algn="l">
              <a:defRPr sz="1275" b="0">
                <a:solidFill>
                  <a:srgbClr val="4E6271"/>
                </a:solidFill>
                <a:latin typeface="DejaVu Sans"/>
                <a:ea typeface="DejaVu Sans"/>
                <a:cs typeface="DejaVu Sans"/>
              </a:defRPr>
            </a:pPr>
            <a:r>
              <a:rPr sz="1275" b="0">
                <a:solidFill>
                  <a:srgbClr val="4E6271"/>
                </a:solidFill>
                <a:latin typeface="DejaVu Sans"/>
                <a:ea typeface="DejaVu Sans"/>
                <a:cs typeface="DejaVu Sans"/>
              </a:rPr>
              <a:t>UART, parser/CRC16, FIFO, Auth FSM, AES-128 và RO-PUF proof of concept.</a:t>
            </a:r>
          </a:p>
        </p:txBody>
      </p:sp>
      <p:sp>
        <p:nvSpPr>
          <p:cNvPr id="7" name="Rectangle 6">
            <a:extLst>
              <a:ext uri="{FF2B5EF4-FFF2-40B4-BE49-F238E27FC236}">
                <a16:creationId xmlns:a16="http://schemas.microsoft.com/office/drawing/2014/main" id="{8435C33F-3E0B-43A0-B612-47680396621E}"/>
              </a:ext>
            </a:extLst>
          </p:cNvPr>
          <p:cNvSpPr>
            <a:spLocks noGrp="1"/>
          </p:cNvSpPr>
          <p:nvPr/>
        </p:nvSpPr>
        <p:spPr>
          <a:xfrm>
            <a:off x="1285875" y="2152650"/>
            <a:ext cx="10287000" cy="9525"/>
          </a:xfrm>
          <a:prstGeom prst="rect">
            <a:avLst/>
          </a:prstGeom>
          <a:solidFill>
            <a:srgbClr val="D7E0E6"/>
          </a:solidFill>
          <a:ln w="0">
            <a:noFill/>
          </a:ln>
        </p:spPr>
        <p:txBody>
          <a:bodyPr/>
          <a:lstStyle/>
          <a:p>
            <a:endParaRPr lang="en-VN"/>
          </a:p>
        </p:txBody>
      </p:sp>
      <p:sp>
        <p:nvSpPr>
          <p:cNvPr id="8" name="Rectangle 7">
            <a:extLst>
              <a:ext uri="{FF2B5EF4-FFF2-40B4-BE49-F238E27FC236}">
                <a16:creationId xmlns:a16="http://schemas.microsoft.com/office/drawing/2014/main" id="{E021D30B-D198-4D43-B343-3D044C8DB7F5}"/>
              </a:ext>
            </a:extLst>
          </p:cNvPr>
          <p:cNvSpPr>
            <a:spLocks noGrp="1"/>
          </p:cNvSpPr>
          <p:nvPr/>
        </p:nvSpPr>
        <p:spPr>
          <a:xfrm>
            <a:off x="552449" y="2533650"/>
            <a:ext cx="647699" cy="571500"/>
          </a:xfrm>
          <a:prstGeom prst="rect">
            <a:avLst/>
          </a:prstGeom>
          <a:noFill/>
          <a:ln w="0">
            <a:noFill/>
          </a:ln>
        </p:spPr>
        <p:txBody>
          <a:bodyPr anchor="ctr">
            <a:normAutofit fontScale="97812"/>
          </a:bodyPr>
          <a:lstStyle/>
          <a:p>
            <a:pPr algn="l">
              <a:defRPr sz="2250" b="1">
                <a:solidFill>
                  <a:srgbClr val="20C7B0"/>
                </a:solidFill>
                <a:latin typeface="DejaVu Sans"/>
                <a:ea typeface="DejaVu Sans"/>
                <a:cs typeface="DejaVu Sans"/>
              </a:defRPr>
            </a:pPr>
            <a:r>
              <a:rPr sz="2250" b="1" dirty="0">
                <a:solidFill>
                  <a:srgbClr val="20C7B0"/>
                </a:solidFill>
                <a:latin typeface="DejaVu Sans"/>
                <a:ea typeface="DejaVu Sans"/>
                <a:cs typeface="DejaVu Sans"/>
              </a:rPr>
              <a:t>02</a:t>
            </a:r>
          </a:p>
        </p:txBody>
      </p:sp>
      <p:sp>
        <p:nvSpPr>
          <p:cNvPr id="9" name="Rectangle 8">
            <a:extLst>
              <a:ext uri="{FF2B5EF4-FFF2-40B4-BE49-F238E27FC236}">
                <a16:creationId xmlns:a16="http://schemas.microsoft.com/office/drawing/2014/main" id="{1C9B4EA9-2439-4407-9DAB-9D96C554832C}"/>
              </a:ext>
            </a:extLst>
          </p:cNvPr>
          <p:cNvSpPr>
            <a:spLocks noGrp="1"/>
          </p:cNvSpPr>
          <p:nvPr/>
        </p:nvSpPr>
        <p:spPr>
          <a:xfrm>
            <a:off x="1285875" y="2533650"/>
            <a:ext cx="2952750" cy="266700"/>
          </a:xfrm>
          <a:prstGeom prst="rect">
            <a:avLst/>
          </a:prstGeom>
          <a:noFill/>
          <a:ln w="0">
            <a:noFill/>
          </a:ln>
        </p:spPr>
        <p:txBody>
          <a:bodyPr anchor="ctr">
            <a:normAutofit fontScale="76667"/>
          </a:bodyPr>
          <a:lstStyle/>
          <a:p>
            <a:pPr algn="l">
              <a:defRPr sz="1500" b="1">
                <a:solidFill>
                  <a:srgbClr val="14202B"/>
                </a:solidFill>
                <a:latin typeface="DejaVu Sans"/>
                <a:ea typeface="DejaVu Sans"/>
                <a:cs typeface="DejaVu Sans"/>
              </a:defRPr>
            </a:pPr>
            <a:r>
              <a:rPr sz="1500" b="1">
                <a:solidFill>
                  <a:srgbClr val="14202B"/>
                </a:solidFill>
                <a:latin typeface="DejaVu Sans"/>
                <a:ea typeface="DejaVu Sans"/>
                <a:cs typeface="DejaVu Sans"/>
              </a:rPr>
              <a:t>Kiểm chứng theo khối</a:t>
            </a:r>
          </a:p>
        </p:txBody>
      </p:sp>
      <p:sp>
        <p:nvSpPr>
          <p:cNvPr id="10" name="Rectangle 9">
            <a:extLst>
              <a:ext uri="{FF2B5EF4-FFF2-40B4-BE49-F238E27FC236}">
                <a16:creationId xmlns:a16="http://schemas.microsoft.com/office/drawing/2014/main" id="{0DF9E0AE-A09D-44AC-AE30-57B5145DAE87}"/>
              </a:ext>
            </a:extLst>
          </p:cNvPr>
          <p:cNvSpPr>
            <a:spLocks noGrp="1"/>
          </p:cNvSpPr>
          <p:nvPr/>
        </p:nvSpPr>
        <p:spPr>
          <a:xfrm>
            <a:off x="4267200" y="2533650"/>
            <a:ext cx="7286625" cy="495300"/>
          </a:xfrm>
          <a:prstGeom prst="rect">
            <a:avLst/>
          </a:prstGeom>
          <a:noFill/>
          <a:ln w="0">
            <a:noFill/>
          </a:ln>
        </p:spPr>
        <p:txBody>
          <a:bodyPr anchor="ctr">
            <a:normAutofit/>
          </a:bodyPr>
          <a:lstStyle/>
          <a:p>
            <a:pPr algn="l">
              <a:defRPr sz="1275" b="0">
                <a:solidFill>
                  <a:srgbClr val="4E6271"/>
                </a:solidFill>
                <a:latin typeface="DejaVu Sans"/>
                <a:ea typeface="DejaVu Sans"/>
                <a:cs typeface="DejaVu Sans"/>
              </a:defRPr>
            </a:pPr>
            <a:r>
              <a:rPr sz="1275" b="0">
                <a:solidFill>
                  <a:srgbClr val="4E6271"/>
                </a:solidFill>
                <a:latin typeface="DejaVu Sans"/>
                <a:ea typeface="DejaVu Sans"/>
                <a:cs typeface="DejaVu Sans"/>
              </a:rPr>
              <a:t>AES known-answer, CRC đúng/sai, GET_ID, CHALLENGE, replay và rate limit.</a:t>
            </a:r>
          </a:p>
        </p:txBody>
      </p:sp>
      <p:sp>
        <p:nvSpPr>
          <p:cNvPr id="11" name="Rectangle 10">
            <a:extLst>
              <a:ext uri="{FF2B5EF4-FFF2-40B4-BE49-F238E27FC236}">
                <a16:creationId xmlns:a16="http://schemas.microsoft.com/office/drawing/2014/main" id="{21AC6538-A399-4CAB-B20F-14A36E3F7DB5}"/>
              </a:ext>
            </a:extLst>
          </p:cNvPr>
          <p:cNvSpPr>
            <a:spLocks noGrp="1"/>
          </p:cNvSpPr>
          <p:nvPr/>
        </p:nvSpPr>
        <p:spPr>
          <a:xfrm>
            <a:off x="1285875" y="3257550"/>
            <a:ext cx="10287000" cy="9525"/>
          </a:xfrm>
          <a:prstGeom prst="rect">
            <a:avLst/>
          </a:prstGeom>
          <a:solidFill>
            <a:srgbClr val="D7E0E6"/>
          </a:solidFill>
          <a:ln w="0">
            <a:noFill/>
          </a:ln>
        </p:spPr>
        <p:txBody>
          <a:bodyPr/>
          <a:lstStyle/>
          <a:p>
            <a:endParaRPr lang="en-VN"/>
          </a:p>
        </p:txBody>
      </p:sp>
      <p:sp>
        <p:nvSpPr>
          <p:cNvPr id="12" name="Rectangle 11">
            <a:extLst>
              <a:ext uri="{FF2B5EF4-FFF2-40B4-BE49-F238E27FC236}">
                <a16:creationId xmlns:a16="http://schemas.microsoft.com/office/drawing/2014/main" id="{9EEFD883-3323-4083-A856-C8FDE3D785A4}"/>
              </a:ext>
            </a:extLst>
          </p:cNvPr>
          <p:cNvSpPr>
            <a:spLocks noGrp="1"/>
          </p:cNvSpPr>
          <p:nvPr/>
        </p:nvSpPr>
        <p:spPr>
          <a:xfrm>
            <a:off x="552450" y="3638550"/>
            <a:ext cx="647698" cy="571500"/>
          </a:xfrm>
          <a:prstGeom prst="rect">
            <a:avLst/>
          </a:prstGeom>
          <a:noFill/>
          <a:ln w="0">
            <a:noFill/>
          </a:ln>
        </p:spPr>
        <p:txBody>
          <a:bodyPr anchor="ctr">
            <a:normAutofit fontScale="97812"/>
          </a:bodyPr>
          <a:lstStyle/>
          <a:p>
            <a:pPr algn="l">
              <a:defRPr sz="2250" b="1">
                <a:solidFill>
                  <a:srgbClr val="20C7B0"/>
                </a:solidFill>
                <a:latin typeface="DejaVu Sans"/>
                <a:ea typeface="DejaVu Sans"/>
                <a:cs typeface="DejaVu Sans"/>
              </a:defRPr>
            </a:pPr>
            <a:r>
              <a:rPr sz="2250" b="1" dirty="0">
                <a:solidFill>
                  <a:srgbClr val="20C7B0"/>
                </a:solidFill>
                <a:latin typeface="DejaVu Sans"/>
                <a:ea typeface="DejaVu Sans"/>
                <a:cs typeface="DejaVu Sans"/>
              </a:rPr>
              <a:t>03</a:t>
            </a:r>
          </a:p>
        </p:txBody>
      </p:sp>
      <p:sp>
        <p:nvSpPr>
          <p:cNvPr id="13" name="Rectangle 12">
            <a:extLst>
              <a:ext uri="{FF2B5EF4-FFF2-40B4-BE49-F238E27FC236}">
                <a16:creationId xmlns:a16="http://schemas.microsoft.com/office/drawing/2014/main" id="{4ECBEDC6-4870-4E18-91F1-40CECE6DA11C}"/>
              </a:ext>
            </a:extLst>
          </p:cNvPr>
          <p:cNvSpPr>
            <a:spLocks noGrp="1"/>
          </p:cNvSpPr>
          <p:nvPr/>
        </p:nvSpPr>
        <p:spPr>
          <a:xfrm>
            <a:off x="1285875" y="3638550"/>
            <a:ext cx="2952750" cy="266700"/>
          </a:xfrm>
          <a:prstGeom prst="rect">
            <a:avLst/>
          </a:prstGeom>
          <a:noFill/>
          <a:ln w="0">
            <a:noFill/>
          </a:ln>
        </p:spPr>
        <p:txBody>
          <a:bodyPr anchor="ctr">
            <a:normAutofit fontScale="76667"/>
          </a:bodyPr>
          <a:lstStyle/>
          <a:p>
            <a:pPr algn="l">
              <a:defRPr sz="1500" b="1">
                <a:solidFill>
                  <a:srgbClr val="14202B"/>
                </a:solidFill>
                <a:latin typeface="DejaVu Sans"/>
                <a:ea typeface="DejaVu Sans"/>
                <a:cs typeface="DejaVu Sans"/>
              </a:defRPr>
            </a:pPr>
            <a:r>
              <a:rPr sz="1500" b="1">
                <a:solidFill>
                  <a:srgbClr val="14202B"/>
                </a:solidFill>
                <a:latin typeface="DejaVu Sans"/>
                <a:ea typeface="DejaVu Sans"/>
                <a:cs typeface="DejaVu Sans"/>
              </a:rPr>
              <a:t>Demo đầu cuối</a:t>
            </a:r>
          </a:p>
        </p:txBody>
      </p:sp>
      <p:sp>
        <p:nvSpPr>
          <p:cNvPr id="14" name="Rectangle 13">
            <a:extLst>
              <a:ext uri="{FF2B5EF4-FFF2-40B4-BE49-F238E27FC236}">
                <a16:creationId xmlns:a16="http://schemas.microsoft.com/office/drawing/2014/main" id="{64A56946-2CD3-4C65-B41E-BB6541191F5D}"/>
              </a:ext>
            </a:extLst>
          </p:cNvPr>
          <p:cNvSpPr>
            <a:spLocks noGrp="1"/>
          </p:cNvSpPr>
          <p:nvPr/>
        </p:nvSpPr>
        <p:spPr>
          <a:xfrm>
            <a:off x="4267200" y="3638550"/>
            <a:ext cx="7286625" cy="495300"/>
          </a:xfrm>
          <a:prstGeom prst="rect">
            <a:avLst/>
          </a:prstGeom>
          <a:noFill/>
          <a:ln w="0">
            <a:noFill/>
          </a:ln>
        </p:spPr>
        <p:txBody>
          <a:bodyPr anchor="ctr">
            <a:normAutofit/>
          </a:bodyPr>
          <a:lstStyle/>
          <a:p>
            <a:pPr algn="l">
              <a:defRPr sz="1275" b="0">
                <a:solidFill>
                  <a:srgbClr val="4E6271"/>
                </a:solidFill>
                <a:latin typeface="DejaVu Sans"/>
                <a:ea typeface="DejaVu Sans"/>
                <a:cs typeface="DejaVu Sans"/>
              </a:defRPr>
            </a:pPr>
            <a:r>
              <a:rPr sz="1275" b="0">
                <a:solidFill>
                  <a:srgbClr val="4E6271"/>
                </a:solidFill>
                <a:latin typeface="DejaVu Sans"/>
                <a:ea typeface="DejaVu Sans"/>
                <a:cs typeface="DejaVu Sans"/>
              </a:rPr>
              <a:t>Ghi danh, kết nối Web Serial, challenge-response và kết quả xác thực trên máy chủ.</a:t>
            </a:r>
          </a:p>
        </p:txBody>
      </p:sp>
      <p:sp>
        <p:nvSpPr>
          <p:cNvPr id="15" name="Rectangle 14">
            <a:extLst>
              <a:ext uri="{FF2B5EF4-FFF2-40B4-BE49-F238E27FC236}">
                <a16:creationId xmlns:a16="http://schemas.microsoft.com/office/drawing/2014/main" id="{10B5CECB-D998-41AE-B199-7B2971F421EB}"/>
              </a:ext>
            </a:extLst>
          </p:cNvPr>
          <p:cNvSpPr>
            <a:spLocks noGrp="1"/>
          </p:cNvSpPr>
          <p:nvPr/>
        </p:nvSpPr>
        <p:spPr>
          <a:xfrm>
            <a:off x="1285875" y="4362450"/>
            <a:ext cx="10287000" cy="9525"/>
          </a:xfrm>
          <a:prstGeom prst="rect">
            <a:avLst/>
          </a:prstGeom>
          <a:solidFill>
            <a:srgbClr val="D7E0E6"/>
          </a:solidFill>
          <a:ln w="0">
            <a:noFill/>
          </a:ln>
        </p:spPr>
        <p:txBody>
          <a:bodyPr/>
          <a:lstStyle/>
          <a:p>
            <a:endParaRPr lang="en-VN"/>
          </a:p>
        </p:txBody>
      </p:sp>
      <p:sp>
        <p:nvSpPr>
          <p:cNvPr id="16" name="Rectangle 15">
            <a:extLst>
              <a:ext uri="{FF2B5EF4-FFF2-40B4-BE49-F238E27FC236}">
                <a16:creationId xmlns:a16="http://schemas.microsoft.com/office/drawing/2014/main" id="{2E46BDD9-E977-4B9A-B76F-183F7D198A9C}"/>
              </a:ext>
            </a:extLst>
          </p:cNvPr>
          <p:cNvSpPr>
            <a:spLocks noGrp="1"/>
          </p:cNvSpPr>
          <p:nvPr/>
        </p:nvSpPr>
        <p:spPr>
          <a:xfrm>
            <a:off x="552449" y="4743450"/>
            <a:ext cx="647697" cy="571500"/>
          </a:xfrm>
          <a:prstGeom prst="rect">
            <a:avLst/>
          </a:prstGeom>
          <a:noFill/>
          <a:ln w="0">
            <a:noFill/>
          </a:ln>
        </p:spPr>
        <p:txBody>
          <a:bodyPr anchor="ctr">
            <a:normAutofit fontScale="97812"/>
          </a:bodyPr>
          <a:lstStyle/>
          <a:p>
            <a:pPr algn="l">
              <a:defRPr sz="2250" b="1">
                <a:solidFill>
                  <a:srgbClr val="20C7B0"/>
                </a:solidFill>
                <a:latin typeface="DejaVu Sans"/>
                <a:ea typeface="DejaVu Sans"/>
                <a:cs typeface="DejaVu Sans"/>
              </a:defRPr>
            </a:pPr>
            <a:r>
              <a:rPr sz="2250" b="1" dirty="0">
                <a:solidFill>
                  <a:srgbClr val="20C7B0"/>
                </a:solidFill>
                <a:latin typeface="DejaVu Sans"/>
                <a:ea typeface="DejaVu Sans"/>
                <a:cs typeface="DejaVu Sans"/>
              </a:rPr>
              <a:t>04</a:t>
            </a:r>
          </a:p>
        </p:txBody>
      </p:sp>
      <p:sp>
        <p:nvSpPr>
          <p:cNvPr id="17" name="Rectangle 16">
            <a:extLst>
              <a:ext uri="{FF2B5EF4-FFF2-40B4-BE49-F238E27FC236}">
                <a16:creationId xmlns:a16="http://schemas.microsoft.com/office/drawing/2014/main" id="{BA5811F1-3CA5-4A7A-B56D-DEAD2D9D8F4C}"/>
              </a:ext>
            </a:extLst>
          </p:cNvPr>
          <p:cNvSpPr>
            <a:spLocks noGrp="1"/>
          </p:cNvSpPr>
          <p:nvPr/>
        </p:nvSpPr>
        <p:spPr>
          <a:xfrm>
            <a:off x="1285875" y="4743450"/>
            <a:ext cx="2952750" cy="266700"/>
          </a:xfrm>
          <a:prstGeom prst="rect">
            <a:avLst/>
          </a:prstGeom>
          <a:noFill/>
          <a:ln w="0">
            <a:noFill/>
          </a:ln>
        </p:spPr>
        <p:txBody>
          <a:bodyPr anchor="ctr">
            <a:normAutofit fontScale="76667"/>
          </a:bodyPr>
          <a:lstStyle/>
          <a:p>
            <a:pPr algn="l">
              <a:defRPr sz="1500" b="1">
                <a:solidFill>
                  <a:srgbClr val="14202B"/>
                </a:solidFill>
                <a:latin typeface="DejaVu Sans"/>
                <a:ea typeface="DejaVu Sans"/>
                <a:cs typeface="DejaVu Sans"/>
              </a:defRPr>
            </a:pPr>
            <a:r>
              <a:rPr sz="1500" b="1">
                <a:solidFill>
                  <a:srgbClr val="14202B"/>
                </a:solidFill>
                <a:latin typeface="DejaVu Sans"/>
                <a:ea typeface="DejaVu Sans"/>
                <a:cs typeface="DejaVu Sans"/>
              </a:rPr>
              <a:t>Hardening ASIC</a:t>
            </a:r>
          </a:p>
        </p:txBody>
      </p:sp>
      <p:sp>
        <p:nvSpPr>
          <p:cNvPr id="18" name="Rectangle 17">
            <a:extLst>
              <a:ext uri="{FF2B5EF4-FFF2-40B4-BE49-F238E27FC236}">
                <a16:creationId xmlns:a16="http://schemas.microsoft.com/office/drawing/2014/main" id="{4A0E6A70-74D5-41C2-8E93-C7A0570E97D1}"/>
              </a:ext>
            </a:extLst>
          </p:cNvPr>
          <p:cNvSpPr>
            <a:spLocks noGrp="1"/>
          </p:cNvSpPr>
          <p:nvPr/>
        </p:nvSpPr>
        <p:spPr>
          <a:xfrm>
            <a:off x="4267200" y="4743450"/>
            <a:ext cx="7286625" cy="495300"/>
          </a:xfrm>
          <a:prstGeom prst="rect">
            <a:avLst/>
          </a:prstGeom>
          <a:noFill/>
          <a:ln w="0">
            <a:noFill/>
          </a:ln>
        </p:spPr>
        <p:txBody>
          <a:bodyPr anchor="ctr">
            <a:normAutofit/>
          </a:bodyPr>
          <a:lstStyle/>
          <a:p>
            <a:pPr algn="l">
              <a:defRPr sz="1275" b="0">
                <a:solidFill>
                  <a:srgbClr val="4E6271"/>
                </a:solidFill>
                <a:latin typeface="DejaVu Sans"/>
                <a:ea typeface="DejaVu Sans"/>
                <a:cs typeface="DejaVu Sans"/>
              </a:defRPr>
            </a:pPr>
            <a:r>
              <a:rPr sz="1275" b="0">
                <a:solidFill>
                  <a:srgbClr val="4E6271"/>
                </a:solidFill>
                <a:latin typeface="DejaVu Sans"/>
                <a:ea typeface="DejaVu Sans"/>
                <a:cs typeface="DejaVu Sans"/>
              </a:rPr>
              <a:t>Đưa lõi bảo mật số qua OpenLane SKY130A và công bố rõ signoff cùng giới hạn.</a:t>
            </a:r>
          </a:p>
        </p:txBody>
      </p:sp>
      <p:sp>
        <p:nvSpPr>
          <p:cNvPr id="19" name="Rectangle 18">
            <a:extLst>
              <a:ext uri="{FF2B5EF4-FFF2-40B4-BE49-F238E27FC236}">
                <a16:creationId xmlns:a16="http://schemas.microsoft.com/office/drawing/2014/main" id="{8A8D5506-FBFD-477B-8A0A-8110E8F59D78}"/>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20" name="Rectangle 19">
            <a:extLst>
              <a:ext uri="{FF2B5EF4-FFF2-40B4-BE49-F238E27FC236}">
                <a16:creationId xmlns:a16="http://schemas.microsoft.com/office/drawing/2014/main" id="{10D89928-7E32-4275-90C5-3A1F0216C7F6}"/>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04</a:t>
            </a:r>
          </a:p>
        </p:txBody>
      </p:sp>
    </p:spTree>
    <p:extLst>
      <p:ext uri="{BB962C8B-B14F-4D97-AF65-F5344CB8AC3E}">
        <p14:creationId xmlns:p14="http://schemas.microsoft.com/office/powerpoint/2010/main" val="210212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B6A8CDA-6390-44C0-9DBB-7AA5D6DAC07B}"/>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D34EEC9B-BC9C-444C-8F16-ED2D5D930F75}"/>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Kiến trúc tổng thể</a:t>
            </a:r>
          </a:p>
        </p:txBody>
      </p:sp>
      <p:sp>
        <p:nvSpPr>
          <p:cNvPr id="3" name="Rectangle 2">
            <a:extLst>
              <a:ext uri="{FF2B5EF4-FFF2-40B4-BE49-F238E27FC236}">
                <a16:creationId xmlns:a16="http://schemas.microsoft.com/office/drawing/2014/main" id="{07CDCFEA-6DF9-4EFA-9C97-01FD44337778}"/>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pic>
        <p:nvPicPr>
          <p:cNvPr id="11" name="Picture 10"/>
          <p:cNvPicPr>
            <a:picLocks noChangeAspect="1"/>
          </p:cNvPicPr>
          <p:nvPr/>
        </p:nvPicPr>
        <p:blipFill>
          <a:blip r:embed="rId3"/>
          <a:stretch/>
        </p:blipFill>
        <p:spPr>
          <a:xfrm>
            <a:off x="1050890" y="1285875"/>
            <a:ext cx="10090220" cy="4591050"/>
          </a:xfrm>
          <a:prstGeom prst="rect">
            <a:avLst/>
          </a:prstGeom>
        </p:spPr>
      </p:pic>
      <p:sp>
        <p:nvSpPr>
          <p:cNvPr id="5" name="Rectangle 4">
            <a:extLst>
              <a:ext uri="{FF2B5EF4-FFF2-40B4-BE49-F238E27FC236}">
                <a16:creationId xmlns:a16="http://schemas.microsoft.com/office/drawing/2014/main" id="{832D773D-784F-48A6-ADB7-F9E95F5319C1}"/>
              </a:ext>
            </a:extLst>
          </p:cNvPr>
          <p:cNvSpPr>
            <a:spLocks noGrp="1"/>
          </p:cNvSpPr>
          <p:nvPr/>
        </p:nvSpPr>
        <p:spPr>
          <a:xfrm>
            <a:off x="666750" y="5905500"/>
            <a:ext cx="10858500" cy="428625"/>
          </a:xfrm>
          <a:prstGeom prst="rect">
            <a:avLst/>
          </a:prstGeom>
          <a:noFill/>
          <a:ln w="0">
            <a:noFill/>
          </a:ln>
        </p:spPr>
        <p:txBody>
          <a:bodyPr anchor="ctr">
            <a:normAutofit fontScale="86765"/>
          </a:bodyPr>
          <a:lstStyle/>
          <a:p>
            <a:pPr algn="ctr">
              <a:defRPr sz="1275" b="1">
                <a:solidFill>
                  <a:srgbClr val="14202B"/>
                </a:solidFill>
                <a:latin typeface="DejaVu Sans"/>
                <a:ea typeface="DejaVu Sans"/>
                <a:cs typeface="DejaVu Sans"/>
              </a:defRPr>
            </a:pPr>
            <a:r>
              <a:rPr sz="1275" b="1">
                <a:solidFill>
                  <a:srgbClr val="14202B"/>
                </a:solidFill>
                <a:latin typeface="DejaVu Sans"/>
                <a:ea typeface="DejaVu Sans"/>
                <a:cs typeface="DejaVu Sans"/>
              </a:rPr>
              <a:t>Đường chính: UART RX → parser/CRC → FIFO → Auth FSM → AES-128 → UART TX. Nhánh PUF cung cấp định danh và vật liệu dẫn xuất khóa.</a:t>
            </a:r>
          </a:p>
        </p:txBody>
      </p:sp>
      <p:sp>
        <p:nvSpPr>
          <p:cNvPr id="6" name="Rectangle 5">
            <a:extLst>
              <a:ext uri="{FF2B5EF4-FFF2-40B4-BE49-F238E27FC236}">
                <a16:creationId xmlns:a16="http://schemas.microsoft.com/office/drawing/2014/main" id="{78FDC557-2C4B-4549-9775-2220971EFD3A}"/>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7" name="Rectangle 6">
            <a:extLst>
              <a:ext uri="{FF2B5EF4-FFF2-40B4-BE49-F238E27FC236}">
                <a16:creationId xmlns:a16="http://schemas.microsoft.com/office/drawing/2014/main" id="{E4BDE6F8-3811-408E-BB0A-56672864F012}"/>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05</a:t>
            </a:r>
          </a:p>
        </p:txBody>
      </p:sp>
    </p:spTree>
    <p:extLst>
      <p:ext uri="{BB962C8B-B14F-4D97-AF65-F5344CB8AC3E}">
        <p14:creationId xmlns:p14="http://schemas.microsoft.com/office/powerpoint/2010/main" val="1794295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524"/>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7D3E856-F902-44B7-A6F1-B853463B2183}"/>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KIẾN TRÚC</a:t>
            </a:r>
          </a:p>
        </p:txBody>
      </p:sp>
      <p:sp>
        <p:nvSpPr>
          <p:cNvPr id="2" name="Rectangle 1">
            <a:extLst>
              <a:ext uri="{FF2B5EF4-FFF2-40B4-BE49-F238E27FC236}">
                <a16:creationId xmlns:a16="http://schemas.microsoft.com/office/drawing/2014/main" id="{7A30CD46-8138-4B20-8DE1-8D127E200142}"/>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F7FAFC"/>
                </a:solidFill>
                <a:latin typeface="DejaVu Sans"/>
                <a:ea typeface="DejaVu Sans"/>
                <a:cs typeface="DejaVu Sans"/>
              </a:defRPr>
            </a:pPr>
            <a:r>
              <a:rPr sz="2550" b="1">
                <a:solidFill>
                  <a:srgbClr val="F7FAFC"/>
                </a:solidFill>
                <a:latin typeface="DejaVu Sans"/>
                <a:ea typeface="DejaVu Sans"/>
                <a:cs typeface="DejaVu Sans"/>
              </a:rPr>
              <a:t>Các khối RTL và giao diện</a:t>
            </a:r>
          </a:p>
        </p:txBody>
      </p:sp>
      <p:sp>
        <p:nvSpPr>
          <p:cNvPr id="3" name="Rectangle 2">
            <a:extLst>
              <a:ext uri="{FF2B5EF4-FFF2-40B4-BE49-F238E27FC236}">
                <a16:creationId xmlns:a16="http://schemas.microsoft.com/office/drawing/2014/main" id="{8B71532B-9547-44A5-A2E5-422DACB18FA4}"/>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sp>
        <p:nvSpPr>
          <p:cNvPr id="4" name="Rounded Rectangle 3">
            <a:extLst>
              <a:ext uri="{FF2B5EF4-FFF2-40B4-BE49-F238E27FC236}">
                <a16:creationId xmlns:a16="http://schemas.microsoft.com/office/drawing/2014/main" id="{D03F755C-FFBA-4697-8AC2-67D1FA8F9886}"/>
              </a:ext>
            </a:extLst>
          </p:cNvPr>
          <p:cNvSpPr>
            <a:spLocks noGrp="1"/>
          </p:cNvSpPr>
          <p:nvPr/>
        </p:nvSpPr>
        <p:spPr>
          <a:xfrm>
            <a:off x="476250" y="1619250"/>
            <a:ext cx="2667000" cy="3429000"/>
          </a:xfrm>
          <a:prstGeom prst="roundRect">
            <a:avLst>
              <a:gd name="adj" fmla="val 5714"/>
            </a:avLst>
          </a:prstGeom>
          <a:solidFill>
            <a:srgbClr val="0A1D2F"/>
          </a:solidFill>
          <a:ln w="9525">
            <a:solidFill>
              <a:srgbClr val="315064"/>
            </a:solidFill>
          </a:ln>
        </p:spPr>
        <p:txBody>
          <a:bodyPr/>
          <a:lstStyle/>
          <a:p>
            <a:endParaRPr lang="en-VN"/>
          </a:p>
        </p:txBody>
      </p:sp>
      <p:sp>
        <p:nvSpPr>
          <p:cNvPr id="5" name="Rectangle 4">
            <a:extLst>
              <a:ext uri="{FF2B5EF4-FFF2-40B4-BE49-F238E27FC236}">
                <a16:creationId xmlns:a16="http://schemas.microsoft.com/office/drawing/2014/main" id="{1E90E42B-D811-48A3-BDAE-FAC56F206C72}"/>
              </a:ext>
            </a:extLst>
          </p:cNvPr>
          <p:cNvSpPr>
            <a:spLocks noGrp="1"/>
          </p:cNvSpPr>
          <p:nvPr/>
        </p:nvSpPr>
        <p:spPr>
          <a:xfrm>
            <a:off x="704850" y="1838325"/>
            <a:ext cx="571500" cy="285750"/>
          </a:xfrm>
          <a:prstGeom prst="rect">
            <a:avLst/>
          </a:prstGeom>
          <a:noFill/>
          <a:ln w="0">
            <a:noFill/>
          </a:ln>
        </p:spPr>
        <p:txBody>
          <a:bodyPr anchor="ctr">
            <a:normAutofit/>
          </a:bodyPr>
          <a:lstStyle/>
          <a:p>
            <a:pPr algn="l">
              <a:defRPr sz="1275" b="1">
                <a:solidFill>
                  <a:srgbClr val="20C7B0"/>
                </a:solidFill>
                <a:latin typeface="DejaVu Sans"/>
                <a:ea typeface="DejaVu Sans"/>
                <a:cs typeface="DejaVu Sans"/>
              </a:defRPr>
            </a:pPr>
            <a:r>
              <a:rPr sz="1275" b="1">
                <a:solidFill>
                  <a:srgbClr val="20C7B0"/>
                </a:solidFill>
                <a:latin typeface="DejaVu Sans"/>
                <a:ea typeface="DejaVu Sans"/>
                <a:cs typeface="DejaVu Sans"/>
              </a:rPr>
              <a:t>01</a:t>
            </a:r>
          </a:p>
        </p:txBody>
      </p:sp>
      <p:sp>
        <p:nvSpPr>
          <p:cNvPr id="6" name="Rectangle 5">
            <a:extLst>
              <a:ext uri="{FF2B5EF4-FFF2-40B4-BE49-F238E27FC236}">
                <a16:creationId xmlns:a16="http://schemas.microsoft.com/office/drawing/2014/main" id="{508F018B-90A1-4B3B-83A5-723696E4E068}"/>
              </a:ext>
            </a:extLst>
          </p:cNvPr>
          <p:cNvSpPr>
            <a:spLocks noGrp="1"/>
          </p:cNvSpPr>
          <p:nvPr/>
        </p:nvSpPr>
        <p:spPr>
          <a:xfrm>
            <a:off x="704850" y="2381250"/>
            <a:ext cx="2238375" cy="476250"/>
          </a:xfrm>
          <a:prstGeom prst="rect">
            <a:avLst/>
          </a:prstGeom>
          <a:noFill/>
          <a:ln w="0">
            <a:noFill/>
          </a:ln>
        </p:spPr>
        <p:txBody>
          <a:bodyPr anchor="ctr">
            <a:normAutofit/>
          </a:bodyPr>
          <a:lstStyle/>
          <a:p>
            <a:pPr algn="l">
              <a:defRPr sz="1725" b="1">
                <a:solidFill>
                  <a:srgbClr val="F7FAFC"/>
                </a:solidFill>
                <a:latin typeface="DejaVu Sans"/>
                <a:ea typeface="DejaVu Sans"/>
                <a:cs typeface="DejaVu Sans"/>
              </a:defRPr>
            </a:pPr>
            <a:r>
              <a:rPr sz="1725" b="1">
                <a:solidFill>
                  <a:srgbClr val="F7FAFC"/>
                </a:solidFill>
                <a:latin typeface="DejaVu Sans"/>
                <a:ea typeface="DejaVu Sans"/>
                <a:cs typeface="DejaVu Sans"/>
              </a:rPr>
              <a:t>UART RX/TX</a:t>
            </a:r>
          </a:p>
        </p:txBody>
      </p:sp>
      <p:sp>
        <p:nvSpPr>
          <p:cNvPr id="7" name="Rectangle 6">
            <a:extLst>
              <a:ext uri="{FF2B5EF4-FFF2-40B4-BE49-F238E27FC236}">
                <a16:creationId xmlns:a16="http://schemas.microsoft.com/office/drawing/2014/main" id="{49252BA7-DBB9-4EEC-93BB-A6A33311430B}"/>
              </a:ext>
            </a:extLst>
          </p:cNvPr>
          <p:cNvSpPr>
            <a:spLocks noGrp="1"/>
          </p:cNvSpPr>
          <p:nvPr/>
        </p:nvSpPr>
        <p:spPr>
          <a:xfrm>
            <a:off x="704850" y="3095625"/>
            <a:ext cx="2238375" cy="1381125"/>
          </a:xfrm>
          <a:prstGeom prst="rect">
            <a:avLst/>
          </a:prstGeom>
          <a:noFill/>
          <a:ln w="0">
            <a:noFill/>
          </a:ln>
        </p:spPr>
        <p:txBody>
          <a:bodyPr anchor="ctr">
            <a:normAutofit/>
          </a:bodyPr>
          <a:lstStyle/>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50 MHz</a:t>
            </a:r>
          </a:p>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115200 8N1</a:t>
            </a:r>
          </a:p>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rx_valid / tx_busy</a:t>
            </a:r>
          </a:p>
        </p:txBody>
      </p:sp>
      <p:sp>
        <p:nvSpPr>
          <p:cNvPr id="8" name="Rounded Rectangle 7">
            <a:extLst>
              <a:ext uri="{FF2B5EF4-FFF2-40B4-BE49-F238E27FC236}">
                <a16:creationId xmlns:a16="http://schemas.microsoft.com/office/drawing/2014/main" id="{ECBF6F90-1EC0-471E-9C30-301A18CAFC59}"/>
              </a:ext>
            </a:extLst>
          </p:cNvPr>
          <p:cNvSpPr>
            <a:spLocks noGrp="1"/>
          </p:cNvSpPr>
          <p:nvPr/>
        </p:nvSpPr>
        <p:spPr>
          <a:xfrm>
            <a:off x="3381375" y="1619250"/>
            <a:ext cx="2667000" cy="3429000"/>
          </a:xfrm>
          <a:prstGeom prst="roundRect">
            <a:avLst>
              <a:gd name="adj" fmla="val 5714"/>
            </a:avLst>
          </a:prstGeom>
          <a:solidFill>
            <a:srgbClr val="0C2336"/>
          </a:solidFill>
          <a:ln w="9525">
            <a:solidFill>
              <a:srgbClr val="315064"/>
            </a:solidFill>
          </a:ln>
        </p:spPr>
        <p:txBody>
          <a:bodyPr/>
          <a:lstStyle/>
          <a:p>
            <a:endParaRPr lang="en-VN"/>
          </a:p>
        </p:txBody>
      </p:sp>
      <p:sp>
        <p:nvSpPr>
          <p:cNvPr id="9" name="Rectangle 8">
            <a:extLst>
              <a:ext uri="{FF2B5EF4-FFF2-40B4-BE49-F238E27FC236}">
                <a16:creationId xmlns:a16="http://schemas.microsoft.com/office/drawing/2014/main" id="{9E5F5F04-BD53-4068-B453-0B0A88019F84}"/>
              </a:ext>
            </a:extLst>
          </p:cNvPr>
          <p:cNvSpPr>
            <a:spLocks noGrp="1"/>
          </p:cNvSpPr>
          <p:nvPr/>
        </p:nvSpPr>
        <p:spPr>
          <a:xfrm>
            <a:off x="3609975" y="1838325"/>
            <a:ext cx="571500" cy="285750"/>
          </a:xfrm>
          <a:prstGeom prst="rect">
            <a:avLst/>
          </a:prstGeom>
          <a:noFill/>
          <a:ln w="0">
            <a:noFill/>
          </a:ln>
        </p:spPr>
        <p:txBody>
          <a:bodyPr anchor="ctr">
            <a:normAutofit/>
          </a:bodyPr>
          <a:lstStyle/>
          <a:p>
            <a:pPr algn="l">
              <a:defRPr sz="1275" b="1">
                <a:solidFill>
                  <a:srgbClr val="20C7B0"/>
                </a:solidFill>
                <a:latin typeface="DejaVu Sans"/>
                <a:ea typeface="DejaVu Sans"/>
                <a:cs typeface="DejaVu Sans"/>
              </a:defRPr>
            </a:pPr>
            <a:r>
              <a:rPr sz="1275" b="1">
                <a:solidFill>
                  <a:srgbClr val="20C7B0"/>
                </a:solidFill>
                <a:latin typeface="DejaVu Sans"/>
                <a:ea typeface="DejaVu Sans"/>
                <a:cs typeface="DejaVu Sans"/>
              </a:rPr>
              <a:t>02</a:t>
            </a:r>
          </a:p>
        </p:txBody>
      </p:sp>
      <p:sp>
        <p:nvSpPr>
          <p:cNvPr id="10" name="Rectangle 9">
            <a:extLst>
              <a:ext uri="{FF2B5EF4-FFF2-40B4-BE49-F238E27FC236}">
                <a16:creationId xmlns:a16="http://schemas.microsoft.com/office/drawing/2014/main" id="{FF9B0449-FB68-4527-8826-DD59CB71486A}"/>
              </a:ext>
            </a:extLst>
          </p:cNvPr>
          <p:cNvSpPr>
            <a:spLocks noGrp="1"/>
          </p:cNvSpPr>
          <p:nvPr/>
        </p:nvSpPr>
        <p:spPr>
          <a:xfrm>
            <a:off x="3609975" y="2381250"/>
            <a:ext cx="2238375" cy="476250"/>
          </a:xfrm>
          <a:prstGeom prst="rect">
            <a:avLst/>
          </a:prstGeom>
          <a:noFill/>
          <a:ln w="0">
            <a:noFill/>
          </a:ln>
        </p:spPr>
        <p:txBody>
          <a:bodyPr anchor="ctr">
            <a:normAutofit/>
          </a:bodyPr>
          <a:lstStyle/>
          <a:p>
            <a:pPr algn="l">
              <a:defRPr sz="1725" b="1">
                <a:solidFill>
                  <a:srgbClr val="F7FAFC"/>
                </a:solidFill>
                <a:latin typeface="DejaVu Sans"/>
                <a:ea typeface="DejaVu Sans"/>
                <a:cs typeface="DejaVu Sans"/>
              </a:defRPr>
            </a:pPr>
            <a:r>
              <a:rPr sz="1725" b="1">
                <a:solidFill>
                  <a:srgbClr val="F7FAFC"/>
                </a:solidFill>
                <a:latin typeface="DejaVu Sans"/>
                <a:ea typeface="DejaVu Sans"/>
                <a:cs typeface="DejaVu Sans"/>
              </a:rPr>
              <a:t>Parser + CRC</a:t>
            </a:r>
          </a:p>
        </p:txBody>
      </p:sp>
      <p:sp>
        <p:nvSpPr>
          <p:cNvPr id="11" name="Rectangle 10">
            <a:extLst>
              <a:ext uri="{FF2B5EF4-FFF2-40B4-BE49-F238E27FC236}">
                <a16:creationId xmlns:a16="http://schemas.microsoft.com/office/drawing/2014/main" id="{EC56DB52-7B8D-4211-8672-16F78E4C00AF}"/>
              </a:ext>
            </a:extLst>
          </p:cNvPr>
          <p:cNvSpPr>
            <a:spLocks noGrp="1"/>
          </p:cNvSpPr>
          <p:nvPr/>
        </p:nvSpPr>
        <p:spPr>
          <a:xfrm>
            <a:off x="3609975" y="3095625"/>
            <a:ext cx="2238375" cy="1381125"/>
          </a:xfrm>
          <a:prstGeom prst="rect">
            <a:avLst/>
          </a:prstGeom>
          <a:noFill/>
          <a:ln w="0">
            <a:noFill/>
          </a:ln>
        </p:spPr>
        <p:txBody>
          <a:bodyPr anchor="ctr">
            <a:normAutofit/>
          </a:bodyPr>
          <a:lstStyle/>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A5 | VER | CMD | LEN</a:t>
            </a:r>
          </a:p>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CRC16-CCITT</a:t>
            </a:r>
          </a:p>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crc_error / packet_error</a:t>
            </a:r>
          </a:p>
        </p:txBody>
      </p:sp>
      <p:sp>
        <p:nvSpPr>
          <p:cNvPr id="12" name="Rounded Rectangle 11">
            <a:extLst>
              <a:ext uri="{FF2B5EF4-FFF2-40B4-BE49-F238E27FC236}">
                <a16:creationId xmlns:a16="http://schemas.microsoft.com/office/drawing/2014/main" id="{BA30F506-CFB6-4E5D-A7B9-246FFA941AF8}"/>
              </a:ext>
            </a:extLst>
          </p:cNvPr>
          <p:cNvSpPr>
            <a:spLocks noGrp="1"/>
          </p:cNvSpPr>
          <p:nvPr/>
        </p:nvSpPr>
        <p:spPr>
          <a:xfrm>
            <a:off x="6286500" y="1619250"/>
            <a:ext cx="2667000" cy="3429000"/>
          </a:xfrm>
          <a:prstGeom prst="roundRect">
            <a:avLst>
              <a:gd name="adj" fmla="val 5714"/>
            </a:avLst>
          </a:prstGeom>
          <a:solidFill>
            <a:srgbClr val="0A1D2F"/>
          </a:solidFill>
          <a:ln w="9525">
            <a:solidFill>
              <a:srgbClr val="315064"/>
            </a:solidFill>
          </a:ln>
        </p:spPr>
        <p:txBody>
          <a:bodyPr/>
          <a:lstStyle/>
          <a:p>
            <a:endParaRPr lang="en-VN"/>
          </a:p>
        </p:txBody>
      </p:sp>
      <p:sp>
        <p:nvSpPr>
          <p:cNvPr id="13" name="Rectangle 12">
            <a:extLst>
              <a:ext uri="{FF2B5EF4-FFF2-40B4-BE49-F238E27FC236}">
                <a16:creationId xmlns:a16="http://schemas.microsoft.com/office/drawing/2014/main" id="{A8F31B15-EB23-44E0-944B-4CE280FFB68E}"/>
              </a:ext>
            </a:extLst>
          </p:cNvPr>
          <p:cNvSpPr>
            <a:spLocks noGrp="1"/>
          </p:cNvSpPr>
          <p:nvPr/>
        </p:nvSpPr>
        <p:spPr>
          <a:xfrm>
            <a:off x="6515100" y="1838325"/>
            <a:ext cx="571500" cy="285750"/>
          </a:xfrm>
          <a:prstGeom prst="rect">
            <a:avLst/>
          </a:prstGeom>
          <a:noFill/>
          <a:ln w="0">
            <a:noFill/>
          </a:ln>
        </p:spPr>
        <p:txBody>
          <a:bodyPr anchor="ctr">
            <a:normAutofit/>
          </a:bodyPr>
          <a:lstStyle/>
          <a:p>
            <a:pPr algn="l">
              <a:defRPr sz="1275" b="1">
                <a:solidFill>
                  <a:srgbClr val="20C7B0"/>
                </a:solidFill>
                <a:latin typeface="DejaVu Sans"/>
                <a:ea typeface="DejaVu Sans"/>
                <a:cs typeface="DejaVu Sans"/>
              </a:defRPr>
            </a:pPr>
            <a:r>
              <a:rPr sz="1275" b="1">
                <a:solidFill>
                  <a:srgbClr val="20C7B0"/>
                </a:solidFill>
                <a:latin typeface="DejaVu Sans"/>
                <a:ea typeface="DejaVu Sans"/>
                <a:cs typeface="DejaVu Sans"/>
              </a:rPr>
              <a:t>03</a:t>
            </a:r>
          </a:p>
        </p:txBody>
      </p:sp>
      <p:sp>
        <p:nvSpPr>
          <p:cNvPr id="14" name="Rectangle 13">
            <a:extLst>
              <a:ext uri="{FF2B5EF4-FFF2-40B4-BE49-F238E27FC236}">
                <a16:creationId xmlns:a16="http://schemas.microsoft.com/office/drawing/2014/main" id="{6DE8D1FA-8C07-495E-9F99-C3DD872EB2D2}"/>
              </a:ext>
            </a:extLst>
          </p:cNvPr>
          <p:cNvSpPr>
            <a:spLocks noGrp="1"/>
          </p:cNvSpPr>
          <p:nvPr/>
        </p:nvSpPr>
        <p:spPr>
          <a:xfrm>
            <a:off x="6515100" y="2381250"/>
            <a:ext cx="2238375" cy="476250"/>
          </a:xfrm>
          <a:prstGeom prst="rect">
            <a:avLst/>
          </a:prstGeom>
          <a:noFill/>
          <a:ln w="0">
            <a:noFill/>
          </a:ln>
        </p:spPr>
        <p:txBody>
          <a:bodyPr anchor="ctr">
            <a:normAutofit fontScale="98302"/>
          </a:bodyPr>
          <a:lstStyle/>
          <a:p>
            <a:pPr algn="l">
              <a:defRPr sz="1725" b="1">
                <a:solidFill>
                  <a:srgbClr val="F7FAFC"/>
                </a:solidFill>
                <a:latin typeface="DejaVu Sans"/>
                <a:ea typeface="DejaVu Sans"/>
                <a:cs typeface="DejaVu Sans"/>
              </a:defRPr>
            </a:pPr>
            <a:r>
              <a:rPr sz="1725" b="1">
                <a:solidFill>
                  <a:srgbClr val="F7FAFC"/>
                </a:solidFill>
                <a:latin typeface="DejaVu Sans"/>
                <a:ea typeface="DejaVu Sans"/>
                <a:cs typeface="DejaVu Sans"/>
              </a:rPr>
              <a:t>FIFO + Auth FSM</a:t>
            </a:r>
          </a:p>
        </p:txBody>
      </p:sp>
      <p:sp>
        <p:nvSpPr>
          <p:cNvPr id="15" name="Rectangle 14">
            <a:extLst>
              <a:ext uri="{FF2B5EF4-FFF2-40B4-BE49-F238E27FC236}">
                <a16:creationId xmlns:a16="http://schemas.microsoft.com/office/drawing/2014/main" id="{529E2D91-C09C-4056-B7A7-9D241B7530B7}"/>
              </a:ext>
            </a:extLst>
          </p:cNvPr>
          <p:cNvSpPr>
            <a:spLocks noGrp="1"/>
          </p:cNvSpPr>
          <p:nvPr/>
        </p:nvSpPr>
        <p:spPr>
          <a:xfrm>
            <a:off x="6515100" y="3095625"/>
            <a:ext cx="2238375" cy="1381125"/>
          </a:xfrm>
          <a:prstGeom prst="rect">
            <a:avLst/>
          </a:prstGeom>
          <a:noFill/>
          <a:ln w="0">
            <a:noFill/>
          </a:ln>
        </p:spPr>
        <p:txBody>
          <a:bodyPr anchor="ctr">
            <a:normAutofit/>
          </a:bodyPr>
          <a:lstStyle/>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8 lệnh</a:t>
            </a:r>
          </a:p>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nonce 128 bit</a:t>
            </a:r>
          </a:p>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replay / cooldown</a:t>
            </a:r>
          </a:p>
        </p:txBody>
      </p:sp>
      <p:sp>
        <p:nvSpPr>
          <p:cNvPr id="16" name="Rounded Rectangle 15">
            <a:extLst>
              <a:ext uri="{FF2B5EF4-FFF2-40B4-BE49-F238E27FC236}">
                <a16:creationId xmlns:a16="http://schemas.microsoft.com/office/drawing/2014/main" id="{B4E110F6-5A43-4FA8-811F-6D1308E5D0BE}"/>
              </a:ext>
            </a:extLst>
          </p:cNvPr>
          <p:cNvSpPr>
            <a:spLocks noGrp="1"/>
          </p:cNvSpPr>
          <p:nvPr/>
        </p:nvSpPr>
        <p:spPr>
          <a:xfrm>
            <a:off x="9191625" y="1619250"/>
            <a:ext cx="2667000" cy="3429000"/>
          </a:xfrm>
          <a:prstGeom prst="roundRect">
            <a:avLst>
              <a:gd name="adj" fmla="val 5714"/>
            </a:avLst>
          </a:prstGeom>
          <a:solidFill>
            <a:srgbClr val="0C2336"/>
          </a:solidFill>
          <a:ln w="9525">
            <a:solidFill>
              <a:srgbClr val="315064"/>
            </a:solidFill>
          </a:ln>
        </p:spPr>
        <p:txBody>
          <a:bodyPr/>
          <a:lstStyle/>
          <a:p>
            <a:endParaRPr lang="en-VN"/>
          </a:p>
        </p:txBody>
      </p:sp>
      <p:sp>
        <p:nvSpPr>
          <p:cNvPr id="17" name="Rectangle 16">
            <a:extLst>
              <a:ext uri="{FF2B5EF4-FFF2-40B4-BE49-F238E27FC236}">
                <a16:creationId xmlns:a16="http://schemas.microsoft.com/office/drawing/2014/main" id="{09291AB0-A0A8-42B9-9253-5A74A0555221}"/>
              </a:ext>
            </a:extLst>
          </p:cNvPr>
          <p:cNvSpPr>
            <a:spLocks noGrp="1"/>
          </p:cNvSpPr>
          <p:nvPr/>
        </p:nvSpPr>
        <p:spPr>
          <a:xfrm>
            <a:off x="9420225" y="1838325"/>
            <a:ext cx="571500" cy="285750"/>
          </a:xfrm>
          <a:prstGeom prst="rect">
            <a:avLst/>
          </a:prstGeom>
          <a:noFill/>
          <a:ln w="0">
            <a:noFill/>
          </a:ln>
        </p:spPr>
        <p:txBody>
          <a:bodyPr anchor="ctr">
            <a:normAutofit/>
          </a:bodyPr>
          <a:lstStyle/>
          <a:p>
            <a:pPr algn="l">
              <a:defRPr sz="1275" b="1">
                <a:solidFill>
                  <a:srgbClr val="20C7B0"/>
                </a:solidFill>
                <a:latin typeface="DejaVu Sans"/>
                <a:ea typeface="DejaVu Sans"/>
                <a:cs typeface="DejaVu Sans"/>
              </a:defRPr>
            </a:pPr>
            <a:r>
              <a:rPr sz="1275" b="1">
                <a:solidFill>
                  <a:srgbClr val="20C7B0"/>
                </a:solidFill>
                <a:latin typeface="DejaVu Sans"/>
                <a:ea typeface="DejaVu Sans"/>
                <a:cs typeface="DejaVu Sans"/>
              </a:rPr>
              <a:t>04</a:t>
            </a:r>
          </a:p>
        </p:txBody>
      </p:sp>
      <p:sp>
        <p:nvSpPr>
          <p:cNvPr id="18" name="Rectangle 17">
            <a:extLst>
              <a:ext uri="{FF2B5EF4-FFF2-40B4-BE49-F238E27FC236}">
                <a16:creationId xmlns:a16="http://schemas.microsoft.com/office/drawing/2014/main" id="{F3485823-0730-4430-A7B4-110FFCECD3A7}"/>
              </a:ext>
            </a:extLst>
          </p:cNvPr>
          <p:cNvSpPr>
            <a:spLocks noGrp="1"/>
          </p:cNvSpPr>
          <p:nvPr/>
        </p:nvSpPr>
        <p:spPr>
          <a:xfrm>
            <a:off x="9420225" y="2381250"/>
            <a:ext cx="2238375" cy="476250"/>
          </a:xfrm>
          <a:prstGeom prst="rect">
            <a:avLst/>
          </a:prstGeom>
          <a:noFill/>
          <a:ln w="0">
            <a:noFill/>
          </a:ln>
        </p:spPr>
        <p:txBody>
          <a:bodyPr anchor="ctr">
            <a:normAutofit/>
          </a:bodyPr>
          <a:lstStyle/>
          <a:p>
            <a:pPr algn="l">
              <a:defRPr sz="1725" b="1">
                <a:solidFill>
                  <a:srgbClr val="F7FAFC"/>
                </a:solidFill>
                <a:latin typeface="DejaVu Sans"/>
                <a:ea typeface="DejaVu Sans"/>
                <a:cs typeface="DejaVu Sans"/>
              </a:defRPr>
            </a:pPr>
            <a:r>
              <a:rPr sz="1725" b="1">
                <a:solidFill>
                  <a:srgbClr val="F7FAFC"/>
                </a:solidFill>
                <a:latin typeface="DejaVu Sans"/>
                <a:ea typeface="DejaVu Sans"/>
                <a:cs typeface="DejaVu Sans"/>
              </a:rPr>
              <a:t>AES + RO-PUF</a:t>
            </a:r>
          </a:p>
        </p:txBody>
      </p:sp>
      <p:sp>
        <p:nvSpPr>
          <p:cNvPr id="19" name="Rectangle 18">
            <a:extLst>
              <a:ext uri="{FF2B5EF4-FFF2-40B4-BE49-F238E27FC236}">
                <a16:creationId xmlns:a16="http://schemas.microsoft.com/office/drawing/2014/main" id="{16070609-276F-4256-9940-A5CC627C4F62}"/>
              </a:ext>
            </a:extLst>
          </p:cNvPr>
          <p:cNvSpPr>
            <a:spLocks noGrp="1"/>
          </p:cNvSpPr>
          <p:nvPr/>
        </p:nvSpPr>
        <p:spPr>
          <a:xfrm>
            <a:off x="9420225" y="3095625"/>
            <a:ext cx="2238375" cy="1381125"/>
          </a:xfrm>
          <a:prstGeom prst="rect">
            <a:avLst/>
          </a:prstGeom>
          <a:noFill/>
          <a:ln w="0">
            <a:noFill/>
          </a:ln>
        </p:spPr>
        <p:txBody>
          <a:bodyPr anchor="ctr">
            <a:normAutofit/>
          </a:bodyPr>
          <a:lstStyle/>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AES-128 một block</a:t>
            </a:r>
          </a:p>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256 RO / 128 cặp</a:t>
            </a:r>
          </a:p>
          <a:p>
            <a:pPr algn="l">
              <a:defRPr sz="1350" b="0">
                <a:solidFill>
                  <a:srgbClr val="9FB0BF"/>
                </a:solidFill>
                <a:latin typeface="DejaVu Sans"/>
                <a:ea typeface="DejaVu Sans"/>
                <a:cs typeface="DejaVu Sans"/>
              </a:defRPr>
            </a:pPr>
            <a:r>
              <a:rPr sz="1350" b="0">
                <a:solidFill>
                  <a:srgbClr val="9FB0BF"/>
                </a:solidFill>
                <a:latin typeface="DejaVu Sans"/>
                <a:ea typeface="DejaVu Sans"/>
                <a:cs typeface="DejaVu Sans"/>
              </a:rPr>
              <a:t>ROUNDS = 7</a:t>
            </a:r>
          </a:p>
        </p:txBody>
      </p:sp>
      <p:sp>
        <p:nvSpPr>
          <p:cNvPr id="20" name="Rectangle 19">
            <a:extLst>
              <a:ext uri="{FF2B5EF4-FFF2-40B4-BE49-F238E27FC236}">
                <a16:creationId xmlns:a16="http://schemas.microsoft.com/office/drawing/2014/main" id="{A97AA1FA-6395-49D4-B5DF-79D64E16D2CA}"/>
              </a:ext>
            </a:extLst>
          </p:cNvPr>
          <p:cNvSpPr>
            <a:spLocks noGrp="1"/>
          </p:cNvSpPr>
          <p:nvPr/>
        </p:nvSpPr>
        <p:spPr>
          <a:xfrm>
            <a:off x="571500" y="5476875"/>
            <a:ext cx="11049000" cy="342900"/>
          </a:xfrm>
          <a:prstGeom prst="rect">
            <a:avLst/>
          </a:prstGeom>
          <a:noFill/>
          <a:ln w="0">
            <a:noFill/>
          </a:ln>
        </p:spPr>
        <p:txBody>
          <a:bodyPr anchor="ctr">
            <a:normAutofit/>
          </a:bodyPr>
          <a:lstStyle/>
          <a:p>
            <a:pPr algn="ctr">
              <a:defRPr sz="1500" b="1">
                <a:solidFill>
                  <a:srgbClr val="F7FAFC"/>
                </a:solidFill>
                <a:latin typeface="DejaVu Sans"/>
                <a:ea typeface="DejaVu Sans"/>
                <a:cs typeface="DejaVu Sans"/>
              </a:defRPr>
            </a:pPr>
            <a:r>
              <a:rPr sz="1500" b="1">
                <a:solidFill>
                  <a:srgbClr val="F7FAFC"/>
                </a:solidFill>
                <a:latin typeface="DejaVu Sans"/>
                <a:ea typeface="DejaVu Sans"/>
                <a:cs typeface="DejaVu Sans"/>
              </a:rPr>
              <a:t>Top-level FPGA: secure_soc_top    |    Hardening target: secure_asic_top</a:t>
            </a:r>
          </a:p>
        </p:txBody>
      </p:sp>
      <p:sp>
        <p:nvSpPr>
          <p:cNvPr id="21" name="Rectangle 20">
            <a:extLst>
              <a:ext uri="{FF2B5EF4-FFF2-40B4-BE49-F238E27FC236}">
                <a16:creationId xmlns:a16="http://schemas.microsoft.com/office/drawing/2014/main" id="{E647CDAD-12C4-472C-B519-83A63891B7F2}"/>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TrueChip  •  Prototype xác thực phần cứng</a:t>
            </a:r>
          </a:p>
        </p:txBody>
      </p:sp>
      <p:sp>
        <p:nvSpPr>
          <p:cNvPr id="22" name="Rectangle 21">
            <a:extLst>
              <a:ext uri="{FF2B5EF4-FFF2-40B4-BE49-F238E27FC236}">
                <a16:creationId xmlns:a16="http://schemas.microsoft.com/office/drawing/2014/main" id="{5994DB54-2C95-4A3A-895E-CCCA8CDC94A4}"/>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06</a:t>
            </a:r>
          </a:p>
        </p:txBody>
      </p:sp>
    </p:spTree>
    <p:extLst>
      <p:ext uri="{BB962C8B-B14F-4D97-AF65-F5344CB8AC3E}">
        <p14:creationId xmlns:p14="http://schemas.microsoft.com/office/powerpoint/2010/main" val="1685610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DCB681F5-8C5F-4864-8438-3119E9A44FFD}"/>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72E9FB82-4CEF-4238-B087-66FEF21D715E}"/>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Protocol V2 và luồng challenge-response</a:t>
            </a:r>
          </a:p>
        </p:txBody>
      </p:sp>
      <p:sp>
        <p:nvSpPr>
          <p:cNvPr id="3" name="Rectangle 2">
            <a:extLst>
              <a:ext uri="{FF2B5EF4-FFF2-40B4-BE49-F238E27FC236}">
                <a16:creationId xmlns:a16="http://schemas.microsoft.com/office/drawing/2014/main" id="{1F6D27EF-952A-423E-91DC-8E082ECBC154}"/>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sp>
        <p:nvSpPr>
          <p:cNvPr id="4" name="Rounded Rectangle 3">
            <a:extLst>
              <a:ext uri="{FF2B5EF4-FFF2-40B4-BE49-F238E27FC236}">
                <a16:creationId xmlns:a16="http://schemas.microsoft.com/office/drawing/2014/main" id="{4718B91B-C47C-4F64-930B-2CB15CE432E5}"/>
              </a:ext>
            </a:extLst>
          </p:cNvPr>
          <p:cNvSpPr>
            <a:spLocks noGrp="1"/>
          </p:cNvSpPr>
          <p:nvPr/>
        </p:nvSpPr>
        <p:spPr>
          <a:xfrm>
            <a:off x="514350" y="1714500"/>
            <a:ext cx="904875" cy="952500"/>
          </a:xfrm>
          <a:prstGeom prst="roundRect">
            <a:avLst>
              <a:gd name="adj" fmla="val 8421"/>
            </a:avLst>
          </a:prstGeom>
          <a:solidFill>
            <a:srgbClr val="C8ECE6"/>
          </a:solidFill>
          <a:ln w="0">
            <a:noFill/>
          </a:ln>
        </p:spPr>
        <p:txBody>
          <a:bodyPr/>
          <a:lstStyle/>
          <a:p>
            <a:endParaRPr lang="en-VN"/>
          </a:p>
        </p:txBody>
      </p:sp>
      <p:sp>
        <p:nvSpPr>
          <p:cNvPr id="5" name="Rectangle 4">
            <a:extLst>
              <a:ext uri="{FF2B5EF4-FFF2-40B4-BE49-F238E27FC236}">
                <a16:creationId xmlns:a16="http://schemas.microsoft.com/office/drawing/2014/main" id="{313008EE-72E1-42B4-91A6-6F15CAB20453}"/>
              </a:ext>
            </a:extLst>
          </p:cNvPr>
          <p:cNvSpPr>
            <a:spLocks noGrp="1"/>
          </p:cNvSpPr>
          <p:nvPr/>
        </p:nvSpPr>
        <p:spPr>
          <a:xfrm>
            <a:off x="514350" y="1809750"/>
            <a:ext cx="904875" cy="342900"/>
          </a:xfrm>
          <a:prstGeom prst="rect">
            <a:avLst/>
          </a:prstGeom>
          <a:noFill/>
          <a:ln w="0">
            <a:noFill/>
          </a:ln>
        </p:spPr>
        <p:txBody>
          <a:bodyPr anchor="ctr">
            <a:normAutofit/>
          </a:bodyPr>
          <a:lstStyle/>
          <a:p>
            <a:pPr algn="ctr">
              <a:defRPr sz="1500" b="1">
                <a:solidFill>
                  <a:srgbClr val="14202B"/>
                </a:solidFill>
                <a:latin typeface="DejaVu Sans"/>
                <a:ea typeface="DejaVu Sans"/>
                <a:cs typeface="DejaVu Sans"/>
              </a:defRPr>
            </a:pPr>
            <a:r>
              <a:rPr sz="1500" b="1">
                <a:solidFill>
                  <a:srgbClr val="14202B"/>
                </a:solidFill>
                <a:latin typeface="DejaVu Sans"/>
                <a:ea typeface="DejaVu Sans"/>
                <a:cs typeface="DejaVu Sans"/>
              </a:rPr>
              <a:t>A5</a:t>
            </a:r>
          </a:p>
        </p:txBody>
      </p:sp>
      <p:sp>
        <p:nvSpPr>
          <p:cNvPr id="6" name="Rectangle 5">
            <a:extLst>
              <a:ext uri="{FF2B5EF4-FFF2-40B4-BE49-F238E27FC236}">
                <a16:creationId xmlns:a16="http://schemas.microsoft.com/office/drawing/2014/main" id="{50FC8430-5F72-4DD1-AC6D-9B6F8A01C419}"/>
              </a:ext>
            </a:extLst>
          </p:cNvPr>
          <p:cNvSpPr>
            <a:spLocks noGrp="1"/>
          </p:cNvSpPr>
          <p:nvPr/>
        </p:nvSpPr>
        <p:spPr>
          <a:xfrm>
            <a:off x="514350" y="2209800"/>
            <a:ext cx="904875" cy="247650"/>
          </a:xfrm>
          <a:prstGeom prst="rect">
            <a:avLst/>
          </a:prstGeom>
          <a:noFill/>
          <a:ln w="0">
            <a:noFill/>
          </a:ln>
        </p:spPr>
        <p:txBody>
          <a:bodyPr anchor="ctr">
            <a:normAutofit/>
          </a:bodyPr>
          <a:lstStyle/>
          <a:p>
            <a:pPr algn="ctr">
              <a:defRPr sz="900" b="1">
                <a:solidFill>
                  <a:srgbClr val="0E9384"/>
                </a:solidFill>
                <a:latin typeface="DejaVu Sans"/>
                <a:ea typeface="DejaVu Sans"/>
                <a:cs typeface="DejaVu Sans"/>
              </a:defRPr>
            </a:pPr>
            <a:r>
              <a:rPr sz="900" b="1">
                <a:solidFill>
                  <a:srgbClr val="0E9384"/>
                </a:solidFill>
                <a:latin typeface="DejaVu Sans"/>
                <a:ea typeface="DejaVu Sans"/>
                <a:cs typeface="DejaVu Sans"/>
              </a:rPr>
              <a:t>MAGIC</a:t>
            </a:r>
          </a:p>
        </p:txBody>
      </p:sp>
      <p:sp>
        <p:nvSpPr>
          <p:cNvPr id="7" name="Rounded Rectangle 6">
            <a:extLst>
              <a:ext uri="{FF2B5EF4-FFF2-40B4-BE49-F238E27FC236}">
                <a16:creationId xmlns:a16="http://schemas.microsoft.com/office/drawing/2014/main" id="{6C2F34D0-332A-4678-9D11-F5D04E8AE488}"/>
              </a:ext>
            </a:extLst>
          </p:cNvPr>
          <p:cNvSpPr>
            <a:spLocks noGrp="1"/>
          </p:cNvSpPr>
          <p:nvPr/>
        </p:nvSpPr>
        <p:spPr>
          <a:xfrm>
            <a:off x="1466850" y="1714500"/>
            <a:ext cx="809625" cy="952500"/>
          </a:xfrm>
          <a:prstGeom prst="roundRect">
            <a:avLst>
              <a:gd name="adj" fmla="val 9412"/>
            </a:avLst>
          </a:prstGeom>
          <a:solidFill>
            <a:srgbClr val="DDF4F0"/>
          </a:solidFill>
          <a:ln w="0">
            <a:noFill/>
          </a:ln>
        </p:spPr>
        <p:txBody>
          <a:bodyPr/>
          <a:lstStyle/>
          <a:p>
            <a:endParaRPr lang="en-VN"/>
          </a:p>
        </p:txBody>
      </p:sp>
      <p:sp>
        <p:nvSpPr>
          <p:cNvPr id="8" name="Rectangle 7">
            <a:extLst>
              <a:ext uri="{FF2B5EF4-FFF2-40B4-BE49-F238E27FC236}">
                <a16:creationId xmlns:a16="http://schemas.microsoft.com/office/drawing/2014/main" id="{D2E57D38-BBD4-49A3-A097-C5F95065D212}"/>
              </a:ext>
            </a:extLst>
          </p:cNvPr>
          <p:cNvSpPr>
            <a:spLocks noGrp="1"/>
          </p:cNvSpPr>
          <p:nvPr/>
        </p:nvSpPr>
        <p:spPr>
          <a:xfrm>
            <a:off x="1466850" y="1809750"/>
            <a:ext cx="809625" cy="342900"/>
          </a:xfrm>
          <a:prstGeom prst="rect">
            <a:avLst/>
          </a:prstGeom>
          <a:noFill/>
          <a:ln w="0">
            <a:noFill/>
          </a:ln>
        </p:spPr>
        <p:txBody>
          <a:bodyPr anchor="ctr">
            <a:normAutofit/>
          </a:bodyPr>
          <a:lstStyle/>
          <a:p>
            <a:pPr algn="ctr">
              <a:defRPr sz="1500" b="1">
                <a:solidFill>
                  <a:srgbClr val="14202B"/>
                </a:solidFill>
                <a:latin typeface="DejaVu Sans"/>
                <a:ea typeface="DejaVu Sans"/>
                <a:cs typeface="DejaVu Sans"/>
              </a:defRPr>
            </a:pPr>
            <a:r>
              <a:rPr sz="1500" b="1">
                <a:solidFill>
                  <a:srgbClr val="14202B"/>
                </a:solidFill>
                <a:latin typeface="DejaVu Sans"/>
                <a:ea typeface="DejaVu Sans"/>
                <a:cs typeface="DejaVu Sans"/>
              </a:rPr>
              <a:t>01</a:t>
            </a:r>
          </a:p>
        </p:txBody>
      </p:sp>
      <p:sp>
        <p:nvSpPr>
          <p:cNvPr id="9" name="Rectangle 8">
            <a:extLst>
              <a:ext uri="{FF2B5EF4-FFF2-40B4-BE49-F238E27FC236}">
                <a16:creationId xmlns:a16="http://schemas.microsoft.com/office/drawing/2014/main" id="{EA7B10E9-8208-4859-8FFF-549083D5427C}"/>
              </a:ext>
            </a:extLst>
          </p:cNvPr>
          <p:cNvSpPr>
            <a:spLocks noGrp="1"/>
          </p:cNvSpPr>
          <p:nvPr/>
        </p:nvSpPr>
        <p:spPr>
          <a:xfrm>
            <a:off x="1466850" y="2209800"/>
            <a:ext cx="809625" cy="247650"/>
          </a:xfrm>
          <a:prstGeom prst="rect">
            <a:avLst/>
          </a:prstGeom>
          <a:noFill/>
          <a:ln w="0">
            <a:noFill/>
          </a:ln>
        </p:spPr>
        <p:txBody>
          <a:bodyPr anchor="ctr">
            <a:normAutofit/>
          </a:bodyPr>
          <a:lstStyle/>
          <a:p>
            <a:pPr algn="ctr">
              <a:defRPr sz="900" b="1">
                <a:solidFill>
                  <a:srgbClr val="0E9384"/>
                </a:solidFill>
                <a:latin typeface="DejaVu Sans"/>
                <a:ea typeface="DejaVu Sans"/>
                <a:cs typeface="DejaVu Sans"/>
              </a:defRPr>
            </a:pPr>
            <a:r>
              <a:rPr sz="900" b="1">
                <a:solidFill>
                  <a:srgbClr val="0E9384"/>
                </a:solidFill>
                <a:latin typeface="DejaVu Sans"/>
                <a:ea typeface="DejaVu Sans"/>
                <a:cs typeface="DejaVu Sans"/>
              </a:rPr>
              <a:t>VER</a:t>
            </a:r>
          </a:p>
        </p:txBody>
      </p:sp>
      <p:sp>
        <p:nvSpPr>
          <p:cNvPr id="10" name="Rounded Rectangle 9">
            <a:extLst>
              <a:ext uri="{FF2B5EF4-FFF2-40B4-BE49-F238E27FC236}">
                <a16:creationId xmlns:a16="http://schemas.microsoft.com/office/drawing/2014/main" id="{C2EFF936-1E39-4906-AA22-EB051765CCCB}"/>
              </a:ext>
            </a:extLst>
          </p:cNvPr>
          <p:cNvSpPr>
            <a:spLocks noGrp="1"/>
          </p:cNvSpPr>
          <p:nvPr/>
        </p:nvSpPr>
        <p:spPr>
          <a:xfrm>
            <a:off x="2324100" y="1714500"/>
            <a:ext cx="1143000" cy="952500"/>
          </a:xfrm>
          <a:prstGeom prst="roundRect">
            <a:avLst>
              <a:gd name="adj" fmla="val 8000"/>
            </a:avLst>
          </a:prstGeom>
          <a:solidFill>
            <a:srgbClr val="C8ECE6"/>
          </a:solidFill>
          <a:ln w="0">
            <a:noFill/>
          </a:ln>
        </p:spPr>
        <p:txBody>
          <a:bodyPr/>
          <a:lstStyle/>
          <a:p>
            <a:endParaRPr lang="en-VN"/>
          </a:p>
        </p:txBody>
      </p:sp>
      <p:sp>
        <p:nvSpPr>
          <p:cNvPr id="11" name="Rectangle 10">
            <a:extLst>
              <a:ext uri="{FF2B5EF4-FFF2-40B4-BE49-F238E27FC236}">
                <a16:creationId xmlns:a16="http://schemas.microsoft.com/office/drawing/2014/main" id="{60A1324D-DD5B-4632-9373-3ADC9C5494D5}"/>
              </a:ext>
            </a:extLst>
          </p:cNvPr>
          <p:cNvSpPr>
            <a:spLocks noGrp="1"/>
          </p:cNvSpPr>
          <p:nvPr/>
        </p:nvSpPr>
        <p:spPr>
          <a:xfrm>
            <a:off x="2324100" y="1809750"/>
            <a:ext cx="1143000" cy="342900"/>
          </a:xfrm>
          <a:prstGeom prst="rect">
            <a:avLst/>
          </a:prstGeom>
          <a:noFill/>
          <a:ln w="0">
            <a:noFill/>
          </a:ln>
        </p:spPr>
        <p:txBody>
          <a:bodyPr anchor="ctr">
            <a:normAutofit/>
          </a:bodyPr>
          <a:lstStyle/>
          <a:p>
            <a:pPr algn="ctr">
              <a:defRPr sz="1500" b="1">
                <a:solidFill>
                  <a:srgbClr val="14202B"/>
                </a:solidFill>
                <a:latin typeface="DejaVu Sans"/>
                <a:ea typeface="DejaVu Sans"/>
                <a:cs typeface="DejaVu Sans"/>
              </a:defRPr>
            </a:pPr>
            <a:r>
              <a:rPr sz="1500" b="1">
                <a:solidFill>
                  <a:srgbClr val="14202B"/>
                </a:solidFill>
                <a:latin typeface="DejaVu Sans"/>
                <a:ea typeface="DejaVu Sans"/>
                <a:cs typeface="DejaVu Sans"/>
              </a:rPr>
              <a:t>CMD</a:t>
            </a:r>
          </a:p>
        </p:txBody>
      </p:sp>
      <p:sp>
        <p:nvSpPr>
          <p:cNvPr id="12" name="Rectangle 11">
            <a:extLst>
              <a:ext uri="{FF2B5EF4-FFF2-40B4-BE49-F238E27FC236}">
                <a16:creationId xmlns:a16="http://schemas.microsoft.com/office/drawing/2014/main" id="{CCF4D18C-A83A-4D2D-B491-C8156B43F9C9}"/>
              </a:ext>
            </a:extLst>
          </p:cNvPr>
          <p:cNvSpPr>
            <a:spLocks noGrp="1"/>
          </p:cNvSpPr>
          <p:nvPr/>
        </p:nvSpPr>
        <p:spPr>
          <a:xfrm>
            <a:off x="2324100" y="2209800"/>
            <a:ext cx="1143000" cy="247650"/>
          </a:xfrm>
          <a:prstGeom prst="rect">
            <a:avLst/>
          </a:prstGeom>
          <a:noFill/>
          <a:ln w="0">
            <a:noFill/>
          </a:ln>
        </p:spPr>
        <p:txBody>
          <a:bodyPr anchor="ctr">
            <a:normAutofit/>
          </a:bodyPr>
          <a:lstStyle/>
          <a:p>
            <a:pPr algn="ctr">
              <a:defRPr sz="900" b="1">
                <a:solidFill>
                  <a:srgbClr val="0E9384"/>
                </a:solidFill>
                <a:latin typeface="DejaVu Sans"/>
                <a:ea typeface="DejaVu Sans"/>
                <a:cs typeface="DejaVu Sans"/>
              </a:defRPr>
            </a:pPr>
            <a:r>
              <a:rPr sz="900" b="1">
                <a:solidFill>
                  <a:srgbClr val="0E9384"/>
                </a:solidFill>
                <a:latin typeface="DejaVu Sans"/>
                <a:ea typeface="DejaVu Sans"/>
                <a:cs typeface="DejaVu Sans"/>
              </a:rPr>
              <a:t>LỆNH</a:t>
            </a:r>
          </a:p>
        </p:txBody>
      </p:sp>
      <p:sp>
        <p:nvSpPr>
          <p:cNvPr id="13" name="Rounded Rectangle 12">
            <a:extLst>
              <a:ext uri="{FF2B5EF4-FFF2-40B4-BE49-F238E27FC236}">
                <a16:creationId xmlns:a16="http://schemas.microsoft.com/office/drawing/2014/main" id="{349F1144-4EDF-46B0-86D4-B249CB0E6F3B}"/>
              </a:ext>
            </a:extLst>
          </p:cNvPr>
          <p:cNvSpPr>
            <a:spLocks noGrp="1"/>
          </p:cNvSpPr>
          <p:nvPr/>
        </p:nvSpPr>
        <p:spPr>
          <a:xfrm>
            <a:off x="3514725" y="1714500"/>
            <a:ext cx="1143000" cy="952500"/>
          </a:xfrm>
          <a:prstGeom prst="roundRect">
            <a:avLst>
              <a:gd name="adj" fmla="val 8000"/>
            </a:avLst>
          </a:prstGeom>
          <a:solidFill>
            <a:srgbClr val="DDF4F0"/>
          </a:solidFill>
          <a:ln w="0">
            <a:noFill/>
          </a:ln>
        </p:spPr>
        <p:txBody>
          <a:bodyPr/>
          <a:lstStyle/>
          <a:p>
            <a:endParaRPr lang="en-VN"/>
          </a:p>
        </p:txBody>
      </p:sp>
      <p:sp>
        <p:nvSpPr>
          <p:cNvPr id="14" name="Rectangle 13">
            <a:extLst>
              <a:ext uri="{FF2B5EF4-FFF2-40B4-BE49-F238E27FC236}">
                <a16:creationId xmlns:a16="http://schemas.microsoft.com/office/drawing/2014/main" id="{7FABAF08-D73A-4F84-B5CB-7BBC2C363343}"/>
              </a:ext>
            </a:extLst>
          </p:cNvPr>
          <p:cNvSpPr>
            <a:spLocks noGrp="1"/>
          </p:cNvSpPr>
          <p:nvPr/>
        </p:nvSpPr>
        <p:spPr>
          <a:xfrm>
            <a:off x="3514725" y="1809750"/>
            <a:ext cx="1143000" cy="342900"/>
          </a:xfrm>
          <a:prstGeom prst="rect">
            <a:avLst/>
          </a:prstGeom>
          <a:noFill/>
          <a:ln w="0">
            <a:noFill/>
          </a:ln>
        </p:spPr>
        <p:txBody>
          <a:bodyPr anchor="ctr">
            <a:normAutofit/>
          </a:bodyPr>
          <a:lstStyle/>
          <a:p>
            <a:pPr algn="ctr">
              <a:defRPr sz="1500" b="1">
                <a:solidFill>
                  <a:srgbClr val="14202B"/>
                </a:solidFill>
                <a:latin typeface="DejaVu Sans"/>
                <a:ea typeface="DejaVu Sans"/>
                <a:cs typeface="DejaVu Sans"/>
              </a:defRPr>
            </a:pPr>
            <a:r>
              <a:rPr sz="1500" b="1">
                <a:solidFill>
                  <a:srgbClr val="14202B"/>
                </a:solidFill>
                <a:latin typeface="DejaVu Sans"/>
                <a:ea typeface="DejaVu Sans"/>
                <a:cs typeface="DejaVu Sans"/>
              </a:rPr>
              <a:t>LEN</a:t>
            </a:r>
          </a:p>
        </p:txBody>
      </p:sp>
      <p:sp>
        <p:nvSpPr>
          <p:cNvPr id="15" name="Rectangle 14">
            <a:extLst>
              <a:ext uri="{FF2B5EF4-FFF2-40B4-BE49-F238E27FC236}">
                <a16:creationId xmlns:a16="http://schemas.microsoft.com/office/drawing/2014/main" id="{51196FB9-1825-4F73-8CD8-BDF4FE271F5B}"/>
              </a:ext>
            </a:extLst>
          </p:cNvPr>
          <p:cNvSpPr>
            <a:spLocks noGrp="1"/>
          </p:cNvSpPr>
          <p:nvPr/>
        </p:nvSpPr>
        <p:spPr>
          <a:xfrm>
            <a:off x="3514725" y="2209800"/>
            <a:ext cx="1143000" cy="247650"/>
          </a:xfrm>
          <a:prstGeom prst="rect">
            <a:avLst/>
          </a:prstGeom>
          <a:noFill/>
          <a:ln w="0">
            <a:noFill/>
          </a:ln>
        </p:spPr>
        <p:txBody>
          <a:bodyPr anchor="ctr">
            <a:normAutofit/>
          </a:bodyPr>
          <a:lstStyle/>
          <a:p>
            <a:pPr algn="ctr">
              <a:defRPr sz="900" b="1">
                <a:solidFill>
                  <a:srgbClr val="0E9384"/>
                </a:solidFill>
                <a:latin typeface="DejaVu Sans"/>
                <a:ea typeface="DejaVu Sans"/>
                <a:cs typeface="DejaVu Sans"/>
              </a:defRPr>
            </a:pPr>
            <a:r>
              <a:rPr sz="900" b="1">
                <a:solidFill>
                  <a:srgbClr val="0E9384"/>
                </a:solidFill>
                <a:latin typeface="DejaVu Sans"/>
                <a:ea typeface="DejaVu Sans"/>
                <a:cs typeface="DejaVu Sans"/>
              </a:rPr>
              <a:t>ĐỘ DÀI</a:t>
            </a:r>
          </a:p>
        </p:txBody>
      </p:sp>
      <p:sp>
        <p:nvSpPr>
          <p:cNvPr id="16" name="Rounded Rectangle 15">
            <a:extLst>
              <a:ext uri="{FF2B5EF4-FFF2-40B4-BE49-F238E27FC236}">
                <a16:creationId xmlns:a16="http://schemas.microsoft.com/office/drawing/2014/main" id="{F88FA049-FADF-45D4-BA01-3D6BA6456C4E}"/>
              </a:ext>
            </a:extLst>
          </p:cNvPr>
          <p:cNvSpPr>
            <a:spLocks noGrp="1"/>
          </p:cNvSpPr>
          <p:nvPr/>
        </p:nvSpPr>
        <p:spPr>
          <a:xfrm>
            <a:off x="4705350" y="1714500"/>
            <a:ext cx="2952750" cy="952500"/>
          </a:xfrm>
          <a:prstGeom prst="roundRect">
            <a:avLst>
              <a:gd name="adj" fmla="val 8000"/>
            </a:avLst>
          </a:prstGeom>
          <a:solidFill>
            <a:srgbClr val="C8ECE6"/>
          </a:solidFill>
          <a:ln w="0">
            <a:noFill/>
          </a:ln>
        </p:spPr>
        <p:txBody>
          <a:bodyPr/>
          <a:lstStyle/>
          <a:p>
            <a:endParaRPr lang="en-VN"/>
          </a:p>
        </p:txBody>
      </p:sp>
      <p:sp>
        <p:nvSpPr>
          <p:cNvPr id="17" name="Rectangle 16">
            <a:extLst>
              <a:ext uri="{FF2B5EF4-FFF2-40B4-BE49-F238E27FC236}">
                <a16:creationId xmlns:a16="http://schemas.microsoft.com/office/drawing/2014/main" id="{2734056F-9416-467D-9A7D-3EFC3A6DE5B3}"/>
              </a:ext>
            </a:extLst>
          </p:cNvPr>
          <p:cNvSpPr>
            <a:spLocks noGrp="1"/>
          </p:cNvSpPr>
          <p:nvPr/>
        </p:nvSpPr>
        <p:spPr>
          <a:xfrm>
            <a:off x="4705350" y="1809750"/>
            <a:ext cx="2952750" cy="342900"/>
          </a:xfrm>
          <a:prstGeom prst="rect">
            <a:avLst/>
          </a:prstGeom>
          <a:noFill/>
          <a:ln w="0">
            <a:noFill/>
          </a:ln>
        </p:spPr>
        <p:txBody>
          <a:bodyPr anchor="ctr">
            <a:normAutofit/>
          </a:bodyPr>
          <a:lstStyle/>
          <a:p>
            <a:pPr algn="ctr">
              <a:defRPr sz="1500" b="1">
                <a:solidFill>
                  <a:srgbClr val="14202B"/>
                </a:solidFill>
                <a:latin typeface="DejaVu Sans"/>
                <a:ea typeface="DejaVu Sans"/>
                <a:cs typeface="DejaVu Sans"/>
              </a:defRPr>
            </a:pPr>
            <a:r>
              <a:rPr sz="1500" b="1">
                <a:solidFill>
                  <a:srgbClr val="14202B"/>
                </a:solidFill>
                <a:latin typeface="DejaVu Sans"/>
                <a:ea typeface="DejaVu Sans"/>
                <a:cs typeface="DejaVu Sans"/>
              </a:rPr>
              <a:t>PAYLOAD</a:t>
            </a:r>
          </a:p>
        </p:txBody>
      </p:sp>
      <p:sp>
        <p:nvSpPr>
          <p:cNvPr id="18" name="Rectangle 17">
            <a:extLst>
              <a:ext uri="{FF2B5EF4-FFF2-40B4-BE49-F238E27FC236}">
                <a16:creationId xmlns:a16="http://schemas.microsoft.com/office/drawing/2014/main" id="{AD1BD4EE-C20A-40DC-B921-EA11D3AF92A9}"/>
              </a:ext>
            </a:extLst>
          </p:cNvPr>
          <p:cNvSpPr>
            <a:spLocks noGrp="1"/>
          </p:cNvSpPr>
          <p:nvPr/>
        </p:nvSpPr>
        <p:spPr>
          <a:xfrm>
            <a:off x="4705350" y="2209800"/>
            <a:ext cx="2952750" cy="247650"/>
          </a:xfrm>
          <a:prstGeom prst="rect">
            <a:avLst/>
          </a:prstGeom>
          <a:noFill/>
          <a:ln w="0">
            <a:noFill/>
          </a:ln>
        </p:spPr>
        <p:txBody>
          <a:bodyPr anchor="ctr">
            <a:normAutofit/>
          </a:bodyPr>
          <a:lstStyle/>
          <a:p>
            <a:pPr algn="ctr">
              <a:defRPr sz="900" b="1">
                <a:solidFill>
                  <a:srgbClr val="0E9384"/>
                </a:solidFill>
                <a:latin typeface="DejaVu Sans"/>
                <a:ea typeface="DejaVu Sans"/>
                <a:cs typeface="DejaVu Sans"/>
              </a:defRPr>
            </a:pPr>
            <a:r>
              <a:rPr sz="900" b="1">
                <a:solidFill>
                  <a:srgbClr val="0E9384"/>
                </a:solidFill>
                <a:latin typeface="DejaVu Sans"/>
                <a:ea typeface="DejaVu Sans"/>
                <a:cs typeface="DejaVu Sans"/>
              </a:rPr>
              <a:t>0…N BYTE</a:t>
            </a:r>
          </a:p>
        </p:txBody>
      </p:sp>
      <p:sp>
        <p:nvSpPr>
          <p:cNvPr id="19" name="Rounded Rectangle 18">
            <a:extLst>
              <a:ext uri="{FF2B5EF4-FFF2-40B4-BE49-F238E27FC236}">
                <a16:creationId xmlns:a16="http://schemas.microsoft.com/office/drawing/2014/main" id="{65DB92DF-E678-40E7-8A40-F0F1BE56DEA3}"/>
              </a:ext>
            </a:extLst>
          </p:cNvPr>
          <p:cNvSpPr>
            <a:spLocks noGrp="1"/>
          </p:cNvSpPr>
          <p:nvPr/>
        </p:nvSpPr>
        <p:spPr>
          <a:xfrm>
            <a:off x="7705725" y="1714500"/>
            <a:ext cx="1428750" cy="952500"/>
          </a:xfrm>
          <a:prstGeom prst="roundRect">
            <a:avLst>
              <a:gd name="adj" fmla="val 8000"/>
            </a:avLst>
          </a:prstGeom>
          <a:solidFill>
            <a:srgbClr val="DDF4F0"/>
          </a:solidFill>
          <a:ln w="0">
            <a:noFill/>
          </a:ln>
        </p:spPr>
        <p:txBody>
          <a:bodyPr/>
          <a:lstStyle/>
          <a:p>
            <a:endParaRPr lang="en-VN"/>
          </a:p>
        </p:txBody>
      </p:sp>
      <p:sp>
        <p:nvSpPr>
          <p:cNvPr id="20" name="Rectangle 19">
            <a:extLst>
              <a:ext uri="{FF2B5EF4-FFF2-40B4-BE49-F238E27FC236}">
                <a16:creationId xmlns:a16="http://schemas.microsoft.com/office/drawing/2014/main" id="{1D3C0B37-106E-41F8-82D9-AD7C7C725D90}"/>
              </a:ext>
            </a:extLst>
          </p:cNvPr>
          <p:cNvSpPr>
            <a:spLocks noGrp="1"/>
          </p:cNvSpPr>
          <p:nvPr/>
        </p:nvSpPr>
        <p:spPr>
          <a:xfrm>
            <a:off x="7705725" y="1809750"/>
            <a:ext cx="1428750" cy="342900"/>
          </a:xfrm>
          <a:prstGeom prst="rect">
            <a:avLst/>
          </a:prstGeom>
          <a:noFill/>
          <a:ln w="0">
            <a:noFill/>
          </a:ln>
        </p:spPr>
        <p:txBody>
          <a:bodyPr anchor="ctr">
            <a:normAutofit/>
          </a:bodyPr>
          <a:lstStyle/>
          <a:p>
            <a:pPr algn="ctr">
              <a:defRPr sz="1500" b="1">
                <a:solidFill>
                  <a:srgbClr val="14202B"/>
                </a:solidFill>
                <a:latin typeface="DejaVu Sans"/>
                <a:ea typeface="DejaVu Sans"/>
                <a:cs typeface="DejaVu Sans"/>
              </a:defRPr>
            </a:pPr>
            <a:r>
              <a:rPr sz="1500" b="1">
                <a:solidFill>
                  <a:srgbClr val="14202B"/>
                </a:solidFill>
                <a:latin typeface="DejaVu Sans"/>
                <a:ea typeface="DejaVu Sans"/>
                <a:cs typeface="DejaVu Sans"/>
              </a:rPr>
              <a:t>CRC_H</a:t>
            </a:r>
          </a:p>
        </p:txBody>
      </p:sp>
      <p:sp>
        <p:nvSpPr>
          <p:cNvPr id="21" name="Rectangle 20">
            <a:extLst>
              <a:ext uri="{FF2B5EF4-FFF2-40B4-BE49-F238E27FC236}">
                <a16:creationId xmlns:a16="http://schemas.microsoft.com/office/drawing/2014/main" id="{C1B7A19A-C327-4CDF-A0AE-DC4A554C2BBE}"/>
              </a:ext>
            </a:extLst>
          </p:cNvPr>
          <p:cNvSpPr>
            <a:spLocks noGrp="1"/>
          </p:cNvSpPr>
          <p:nvPr/>
        </p:nvSpPr>
        <p:spPr>
          <a:xfrm>
            <a:off x="7705725" y="2209800"/>
            <a:ext cx="1428750" cy="247650"/>
          </a:xfrm>
          <a:prstGeom prst="rect">
            <a:avLst/>
          </a:prstGeom>
          <a:noFill/>
          <a:ln w="0">
            <a:noFill/>
          </a:ln>
        </p:spPr>
        <p:txBody>
          <a:bodyPr anchor="ctr">
            <a:normAutofit/>
          </a:bodyPr>
          <a:lstStyle/>
          <a:p>
            <a:pPr algn="ctr">
              <a:defRPr sz="900" b="1">
                <a:solidFill>
                  <a:srgbClr val="0E9384"/>
                </a:solidFill>
                <a:latin typeface="DejaVu Sans"/>
                <a:ea typeface="DejaVu Sans"/>
                <a:cs typeface="DejaVu Sans"/>
              </a:defRPr>
            </a:pPr>
            <a:r>
              <a:rPr sz="900" b="1">
                <a:solidFill>
                  <a:srgbClr val="0E9384"/>
                </a:solidFill>
                <a:latin typeface="DejaVu Sans"/>
                <a:ea typeface="DejaVu Sans"/>
                <a:cs typeface="DejaVu Sans"/>
              </a:rPr>
              <a:t>CRC</a:t>
            </a:r>
          </a:p>
        </p:txBody>
      </p:sp>
      <p:sp>
        <p:nvSpPr>
          <p:cNvPr id="22" name="Rounded Rectangle 21">
            <a:extLst>
              <a:ext uri="{FF2B5EF4-FFF2-40B4-BE49-F238E27FC236}">
                <a16:creationId xmlns:a16="http://schemas.microsoft.com/office/drawing/2014/main" id="{5BEC1D59-A4FE-4985-9633-3604AE18510A}"/>
              </a:ext>
            </a:extLst>
          </p:cNvPr>
          <p:cNvSpPr>
            <a:spLocks noGrp="1"/>
          </p:cNvSpPr>
          <p:nvPr/>
        </p:nvSpPr>
        <p:spPr>
          <a:xfrm>
            <a:off x="9182100" y="1714500"/>
            <a:ext cx="1428750" cy="952500"/>
          </a:xfrm>
          <a:prstGeom prst="roundRect">
            <a:avLst>
              <a:gd name="adj" fmla="val 8000"/>
            </a:avLst>
          </a:prstGeom>
          <a:solidFill>
            <a:srgbClr val="C8ECE6"/>
          </a:solidFill>
          <a:ln w="0">
            <a:noFill/>
          </a:ln>
        </p:spPr>
        <p:txBody>
          <a:bodyPr/>
          <a:lstStyle/>
          <a:p>
            <a:endParaRPr lang="en-VN"/>
          </a:p>
        </p:txBody>
      </p:sp>
      <p:sp>
        <p:nvSpPr>
          <p:cNvPr id="23" name="Rectangle 22">
            <a:extLst>
              <a:ext uri="{FF2B5EF4-FFF2-40B4-BE49-F238E27FC236}">
                <a16:creationId xmlns:a16="http://schemas.microsoft.com/office/drawing/2014/main" id="{531578E0-C671-4A47-8A39-0C276D0185B7}"/>
              </a:ext>
            </a:extLst>
          </p:cNvPr>
          <p:cNvSpPr>
            <a:spLocks noGrp="1"/>
          </p:cNvSpPr>
          <p:nvPr/>
        </p:nvSpPr>
        <p:spPr>
          <a:xfrm>
            <a:off x="9182100" y="1809750"/>
            <a:ext cx="1428750" cy="342900"/>
          </a:xfrm>
          <a:prstGeom prst="rect">
            <a:avLst/>
          </a:prstGeom>
          <a:noFill/>
          <a:ln w="0">
            <a:noFill/>
          </a:ln>
        </p:spPr>
        <p:txBody>
          <a:bodyPr anchor="ctr">
            <a:normAutofit/>
          </a:bodyPr>
          <a:lstStyle/>
          <a:p>
            <a:pPr algn="ctr">
              <a:defRPr sz="1500" b="1">
                <a:solidFill>
                  <a:srgbClr val="14202B"/>
                </a:solidFill>
                <a:latin typeface="DejaVu Sans"/>
                <a:ea typeface="DejaVu Sans"/>
                <a:cs typeface="DejaVu Sans"/>
              </a:defRPr>
            </a:pPr>
            <a:r>
              <a:rPr sz="1500" b="1">
                <a:solidFill>
                  <a:srgbClr val="14202B"/>
                </a:solidFill>
                <a:latin typeface="DejaVu Sans"/>
                <a:ea typeface="DejaVu Sans"/>
                <a:cs typeface="DejaVu Sans"/>
              </a:rPr>
              <a:t>CRC_L</a:t>
            </a:r>
          </a:p>
        </p:txBody>
      </p:sp>
      <p:sp>
        <p:nvSpPr>
          <p:cNvPr id="24" name="Rectangle 23">
            <a:extLst>
              <a:ext uri="{FF2B5EF4-FFF2-40B4-BE49-F238E27FC236}">
                <a16:creationId xmlns:a16="http://schemas.microsoft.com/office/drawing/2014/main" id="{88A07C33-CFA6-43C0-938C-AE4581F97C99}"/>
              </a:ext>
            </a:extLst>
          </p:cNvPr>
          <p:cNvSpPr>
            <a:spLocks noGrp="1"/>
          </p:cNvSpPr>
          <p:nvPr/>
        </p:nvSpPr>
        <p:spPr>
          <a:xfrm>
            <a:off x="9182100" y="2209800"/>
            <a:ext cx="1428750" cy="247650"/>
          </a:xfrm>
          <a:prstGeom prst="rect">
            <a:avLst/>
          </a:prstGeom>
          <a:noFill/>
          <a:ln w="0">
            <a:noFill/>
          </a:ln>
        </p:spPr>
        <p:txBody>
          <a:bodyPr anchor="ctr">
            <a:normAutofit/>
          </a:bodyPr>
          <a:lstStyle/>
          <a:p>
            <a:pPr algn="ctr">
              <a:defRPr sz="900" b="1">
                <a:solidFill>
                  <a:srgbClr val="0E9384"/>
                </a:solidFill>
                <a:latin typeface="DejaVu Sans"/>
                <a:ea typeface="DejaVu Sans"/>
                <a:cs typeface="DejaVu Sans"/>
              </a:defRPr>
            </a:pPr>
            <a:r>
              <a:rPr sz="900" b="1">
                <a:solidFill>
                  <a:srgbClr val="0E9384"/>
                </a:solidFill>
                <a:latin typeface="DejaVu Sans"/>
                <a:ea typeface="DejaVu Sans"/>
                <a:cs typeface="DejaVu Sans"/>
              </a:rPr>
              <a:t>CRC</a:t>
            </a:r>
          </a:p>
        </p:txBody>
      </p:sp>
      <p:sp>
        <p:nvSpPr>
          <p:cNvPr id="25" name="Rounded Rectangle 24">
            <a:extLst>
              <a:ext uri="{FF2B5EF4-FFF2-40B4-BE49-F238E27FC236}">
                <a16:creationId xmlns:a16="http://schemas.microsoft.com/office/drawing/2014/main" id="{4BB3BB85-ADCB-4B5F-B42F-389C83B4D8AB}"/>
              </a:ext>
            </a:extLst>
          </p:cNvPr>
          <p:cNvSpPr>
            <a:spLocks noGrp="1"/>
          </p:cNvSpPr>
          <p:nvPr/>
        </p:nvSpPr>
        <p:spPr>
          <a:xfrm>
            <a:off x="619125" y="3352800"/>
            <a:ext cx="76200" cy="76200"/>
          </a:xfrm>
          <a:prstGeom prst="roundRect">
            <a:avLst>
              <a:gd name="adj" fmla="val 50000"/>
            </a:avLst>
          </a:prstGeom>
          <a:solidFill>
            <a:srgbClr val="20C7B0"/>
          </a:solidFill>
          <a:ln w="0">
            <a:noFill/>
          </a:ln>
        </p:spPr>
        <p:txBody>
          <a:bodyPr/>
          <a:lstStyle/>
          <a:p>
            <a:endParaRPr lang="en-VN"/>
          </a:p>
        </p:txBody>
      </p:sp>
      <p:sp>
        <p:nvSpPr>
          <p:cNvPr id="26" name="Rectangle 25">
            <a:extLst>
              <a:ext uri="{FF2B5EF4-FFF2-40B4-BE49-F238E27FC236}">
                <a16:creationId xmlns:a16="http://schemas.microsoft.com/office/drawing/2014/main" id="{589169E2-542C-4F13-B7CF-E30B00381691}"/>
              </a:ext>
            </a:extLst>
          </p:cNvPr>
          <p:cNvSpPr>
            <a:spLocks noGrp="1"/>
          </p:cNvSpPr>
          <p:nvPr/>
        </p:nvSpPr>
        <p:spPr>
          <a:xfrm>
            <a:off x="828675" y="3286125"/>
            <a:ext cx="4743450"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Kiểm tra khung</a:t>
            </a:r>
          </a:p>
        </p:txBody>
      </p:sp>
      <p:sp>
        <p:nvSpPr>
          <p:cNvPr id="27" name="Rectangle 26">
            <a:extLst>
              <a:ext uri="{FF2B5EF4-FFF2-40B4-BE49-F238E27FC236}">
                <a16:creationId xmlns:a16="http://schemas.microsoft.com/office/drawing/2014/main" id="{6FBCFE0A-0DF4-40FD-BBDC-3C71159F0CCD}"/>
              </a:ext>
            </a:extLst>
          </p:cNvPr>
          <p:cNvSpPr>
            <a:spLocks noGrp="1"/>
          </p:cNvSpPr>
          <p:nvPr/>
        </p:nvSpPr>
        <p:spPr>
          <a:xfrm>
            <a:off x="828675" y="3562350"/>
            <a:ext cx="4743450" cy="552450"/>
          </a:xfrm>
          <a:prstGeom prst="rect">
            <a:avLst/>
          </a:prstGeom>
          <a:noFill/>
          <a:ln w="0">
            <a:noFill/>
          </a:ln>
        </p:spPr>
        <p:txBody>
          <a:bodyPr anchor="ctr">
            <a:normAutofit/>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Parser chỉ tạo command pulse khi magic, version, độ dài và CRC hợp lệ.</a:t>
            </a:r>
          </a:p>
        </p:txBody>
      </p:sp>
      <p:sp>
        <p:nvSpPr>
          <p:cNvPr id="28" name="Rounded Rectangle 27">
            <a:extLst>
              <a:ext uri="{FF2B5EF4-FFF2-40B4-BE49-F238E27FC236}">
                <a16:creationId xmlns:a16="http://schemas.microsoft.com/office/drawing/2014/main" id="{0B6E5FEB-3738-47EF-83EB-A2F7C9484D17}"/>
              </a:ext>
            </a:extLst>
          </p:cNvPr>
          <p:cNvSpPr>
            <a:spLocks noGrp="1"/>
          </p:cNvSpPr>
          <p:nvPr/>
        </p:nvSpPr>
        <p:spPr>
          <a:xfrm>
            <a:off x="6334125" y="3352800"/>
            <a:ext cx="76200" cy="76200"/>
          </a:xfrm>
          <a:prstGeom prst="roundRect">
            <a:avLst>
              <a:gd name="adj" fmla="val 50000"/>
            </a:avLst>
          </a:prstGeom>
          <a:solidFill>
            <a:srgbClr val="20C7B0"/>
          </a:solidFill>
          <a:ln w="0">
            <a:noFill/>
          </a:ln>
        </p:spPr>
        <p:txBody>
          <a:bodyPr/>
          <a:lstStyle/>
          <a:p>
            <a:endParaRPr lang="en-VN"/>
          </a:p>
        </p:txBody>
      </p:sp>
      <p:sp>
        <p:nvSpPr>
          <p:cNvPr id="29" name="Rectangle 28">
            <a:extLst>
              <a:ext uri="{FF2B5EF4-FFF2-40B4-BE49-F238E27FC236}">
                <a16:creationId xmlns:a16="http://schemas.microsoft.com/office/drawing/2014/main" id="{AF1E7DC8-CC23-4665-AACE-7B43FCC6A276}"/>
              </a:ext>
            </a:extLst>
          </p:cNvPr>
          <p:cNvSpPr>
            <a:spLocks noGrp="1"/>
          </p:cNvSpPr>
          <p:nvPr/>
        </p:nvSpPr>
        <p:spPr>
          <a:xfrm>
            <a:off x="6543675" y="3286125"/>
            <a:ext cx="4743450"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CRC16-CCITT</a:t>
            </a:r>
          </a:p>
        </p:txBody>
      </p:sp>
      <p:sp>
        <p:nvSpPr>
          <p:cNvPr id="30" name="Rectangle 29">
            <a:extLst>
              <a:ext uri="{FF2B5EF4-FFF2-40B4-BE49-F238E27FC236}">
                <a16:creationId xmlns:a16="http://schemas.microsoft.com/office/drawing/2014/main" id="{8BF97F6A-28A9-482D-A6E7-99CCE82047F1}"/>
              </a:ext>
            </a:extLst>
          </p:cNvPr>
          <p:cNvSpPr>
            <a:spLocks noGrp="1"/>
          </p:cNvSpPr>
          <p:nvPr/>
        </p:nvSpPr>
        <p:spPr>
          <a:xfrm>
            <a:off x="6543675" y="3562350"/>
            <a:ext cx="4743450" cy="552450"/>
          </a:xfrm>
          <a:prstGeom prst="rect">
            <a:avLst/>
          </a:prstGeom>
          <a:noFill/>
          <a:ln w="0">
            <a:noFill/>
          </a:ln>
        </p:spPr>
        <p:txBody>
          <a:bodyPr anchor="ctr">
            <a:normAutofit/>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Đa thức 0x1021, giá trị khởi tạo 0xFFFF. Gói sai bị loại trước Auth FSM.</a:t>
            </a:r>
          </a:p>
        </p:txBody>
      </p:sp>
      <p:sp>
        <p:nvSpPr>
          <p:cNvPr id="31" name="Rounded Rectangle 30">
            <a:extLst>
              <a:ext uri="{FF2B5EF4-FFF2-40B4-BE49-F238E27FC236}">
                <a16:creationId xmlns:a16="http://schemas.microsoft.com/office/drawing/2014/main" id="{4C5D4A59-62CA-4B8F-981A-156F4B340478}"/>
              </a:ext>
            </a:extLst>
          </p:cNvPr>
          <p:cNvSpPr>
            <a:spLocks noGrp="1"/>
          </p:cNvSpPr>
          <p:nvPr/>
        </p:nvSpPr>
        <p:spPr>
          <a:xfrm>
            <a:off x="619125" y="4638675"/>
            <a:ext cx="76200" cy="76200"/>
          </a:xfrm>
          <a:prstGeom prst="roundRect">
            <a:avLst>
              <a:gd name="adj" fmla="val 50000"/>
            </a:avLst>
          </a:prstGeom>
          <a:solidFill>
            <a:srgbClr val="20C7B0"/>
          </a:solidFill>
          <a:ln w="0">
            <a:noFill/>
          </a:ln>
        </p:spPr>
        <p:txBody>
          <a:bodyPr/>
          <a:lstStyle/>
          <a:p>
            <a:endParaRPr lang="en-VN"/>
          </a:p>
        </p:txBody>
      </p:sp>
      <p:sp>
        <p:nvSpPr>
          <p:cNvPr id="32" name="Rectangle 31">
            <a:extLst>
              <a:ext uri="{FF2B5EF4-FFF2-40B4-BE49-F238E27FC236}">
                <a16:creationId xmlns:a16="http://schemas.microsoft.com/office/drawing/2014/main" id="{A57E4D3F-2AB6-4E0B-AD22-E97E167B405F}"/>
              </a:ext>
            </a:extLst>
          </p:cNvPr>
          <p:cNvSpPr>
            <a:spLocks noGrp="1"/>
          </p:cNvSpPr>
          <p:nvPr/>
        </p:nvSpPr>
        <p:spPr>
          <a:xfrm>
            <a:off x="828675" y="4572000"/>
            <a:ext cx="4743450"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Xử lý nonce</a:t>
            </a:r>
          </a:p>
        </p:txBody>
      </p:sp>
      <p:sp>
        <p:nvSpPr>
          <p:cNvPr id="33" name="Rectangle 32">
            <a:extLst>
              <a:ext uri="{FF2B5EF4-FFF2-40B4-BE49-F238E27FC236}">
                <a16:creationId xmlns:a16="http://schemas.microsoft.com/office/drawing/2014/main" id="{87044399-6548-4D06-9608-0016EF2D63E3}"/>
              </a:ext>
            </a:extLst>
          </p:cNvPr>
          <p:cNvSpPr>
            <a:spLocks noGrp="1"/>
          </p:cNvSpPr>
          <p:nvPr/>
        </p:nvSpPr>
        <p:spPr>
          <a:xfrm>
            <a:off x="828675" y="4848225"/>
            <a:ext cx="4743450" cy="552450"/>
          </a:xfrm>
          <a:prstGeom prst="rect">
            <a:avLst/>
          </a:prstGeom>
          <a:noFill/>
          <a:ln w="0">
            <a:noFill/>
          </a:ln>
        </p:spPr>
        <p:txBody>
          <a:bodyPr anchor="ctr">
            <a:normAutofit/>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Nonce mới đi vào AES. Nonce lặp phải trả STATUS_REPLAY; yêu cầu quá sớm phải trả STATUS_RATE_LIMIT.</a:t>
            </a:r>
          </a:p>
        </p:txBody>
      </p:sp>
      <p:sp>
        <p:nvSpPr>
          <p:cNvPr id="34" name="Rounded Rectangle 33">
            <a:extLst>
              <a:ext uri="{FF2B5EF4-FFF2-40B4-BE49-F238E27FC236}">
                <a16:creationId xmlns:a16="http://schemas.microsoft.com/office/drawing/2014/main" id="{9515F0F7-8447-4BDE-A0A9-0BB1622D7D34}"/>
              </a:ext>
            </a:extLst>
          </p:cNvPr>
          <p:cNvSpPr>
            <a:spLocks noGrp="1"/>
          </p:cNvSpPr>
          <p:nvPr/>
        </p:nvSpPr>
        <p:spPr>
          <a:xfrm>
            <a:off x="6334125" y="4638675"/>
            <a:ext cx="76200" cy="76200"/>
          </a:xfrm>
          <a:prstGeom prst="roundRect">
            <a:avLst>
              <a:gd name="adj" fmla="val 50000"/>
            </a:avLst>
          </a:prstGeom>
          <a:solidFill>
            <a:srgbClr val="20C7B0"/>
          </a:solidFill>
          <a:ln w="0">
            <a:noFill/>
          </a:ln>
        </p:spPr>
        <p:txBody>
          <a:bodyPr/>
          <a:lstStyle/>
          <a:p>
            <a:endParaRPr lang="en-VN"/>
          </a:p>
        </p:txBody>
      </p:sp>
      <p:sp>
        <p:nvSpPr>
          <p:cNvPr id="35" name="Rectangle 34">
            <a:extLst>
              <a:ext uri="{FF2B5EF4-FFF2-40B4-BE49-F238E27FC236}">
                <a16:creationId xmlns:a16="http://schemas.microsoft.com/office/drawing/2014/main" id="{555C3485-BA6E-4CD5-80DB-0F7AFE546336}"/>
              </a:ext>
            </a:extLst>
          </p:cNvPr>
          <p:cNvSpPr>
            <a:spLocks noGrp="1"/>
          </p:cNvSpPr>
          <p:nvPr/>
        </p:nvSpPr>
        <p:spPr>
          <a:xfrm>
            <a:off x="6543675" y="4572000"/>
            <a:ext cx="4743450"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Response</a:t>
            </a:r>
          </a:p>
        </p:txBody>
      </p:sp>
      <p:sp>
        <p:nvSpPr>
          <p:cNvPr id="36" name="Rectangle 35">
            <a:extLst>
              <a:ext uri="{FF2B5EF4-FFF2-40B4-BE49-F238E27FC236}">
                <a16:creationId xmlns:a16="http://schemas.microsoft.com/office/drawing/2014/main" id="{7CDDD355-BCB0-4B1E-91E7-8C39558017F2}"/>
              </a:ext>
            </a:extLst>
          </p:cNvPr>
          <p:cNvSpPr>
            <a:spLocks noGrp="1"/>
          </p:cNvSpPr>
          <p:nvPr/>
        </p:nvSpPr>
        <p:spPr>
          <a:xfrm>
            <a:off x="6543675" y="4848225"/>
            <a:ext cx="4743450" cy="552450"/>
          </a:xfrm>
          <a:prstGeom prst="rect">
            <a:avLst/>
          </a:prstGeom>
          <a:noFill/>
          <a:ln w="0">
            <a:noFill/>
          </a:ln>
        </p:spPr>
        <p:txBody>
          <a:bodyPr anchor="ctr">
            <a:normAutofit/>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Bản hiện tại trả AES ciphertext; response chưa có CRC riêng.</a:t>
            </a:r>
          </a:p>
        </p:txBody>
      </p:sp>
      <p:sp>
        <p:nvSpPr>
          <p:cNvPr id="37" name="Rectangle 36">
            <a:extLst>
              <a:ext uri="{FF2B5EF4-FFF2-40B4-BE49-F238E27FC236}">
                <a16:creationId xmlns:a16="http://schemas.microsoft.com/office/drawing/2014/main" id="{44E2CBC9-0AFF-4B85-B485-D6AE4F4BF923}"/>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38" name="Rectangle 37">
            <a:extLst>
              <a:ext uri="{FF2B5EF4-FFF2-40B4-BE49-F238E27FC236}">
                <a16:creationId xmlns:a16="http://schemas.microsoft.com/office/drawing/2014/main" id="{874B6E70-546A-472E-9910-5BAE4FA437B2}"/>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07</a:t>
            </a:r>
          </a:p>
        </p:txBody>
      </p:sp>
    </p:spTree>
    <p:extLst>
      <p:ext uri="{BB962C8B-B14F-4D97-AF65-F5344CB8AC3E}">
        <p14:creationId xmlns:p14="http://schemas.microsoft.com/office/powerpoint/2010/main" val="257852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B11FF8C-6411-4A88-AA1E-63EC8D856E0F}"/>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D6189C6E-CCB8-481C-961D-F7D67EB11C90}"/>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PUF và đường dẫn khóa</a:t>
            </a:r>
          </a:p>
        </p:txBody>
      </p:sp>
      <p:sp>
        <p:nvSpPr>
          <p:cNvPr id="3" name="Rectangle 2">
            <a:extLst>
              <a:ext uri="{FF2B5EF4-FFF2-40B4-BE49-F238E27FC236}">
                <a16:creationId xmlns:a16="http://schemas.microsoft.com/office/drawing/2014/main" id="{7F66E34C-E22E-4237-86D5-D0254B0BDB1B}"/>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sp>
        <p:nvSpPr>
          <p:cNvPr id="4" name="Rectangle 3">
            <a:extLst>
              <a:ext uri="{FF2B5EF4-FFF2-40B4-BE49-F238E27FC236}">
                <a16:creationId xmlns:a16="http://schemas.microsoft.com/office/drawing/2014/main" id="{DFC27086-AF54-431E-B9BA-D44159D765FC}"/>
              </a:ext>
            </a:extLst>
          </p:cNvPr>
          <p:cNvSpPr>
            <a:spLocks noGrp="1"/>
          </p:cNvSpPr>
          <p:nvPr/>
        </p:nvSpPr>
        <p:spPr>
          <a:xfrm>
            <a:off x="571500" y="1476375"/>
            <a:ext cx="3238500" cy="323850"/>
          </a:xfrm>
          <a:prstGeom prst="rect">
            <a:avLst/>
          </a:prstGeom>
          <a:noFill/>
          <a:ln w="0">
            <a:noFill/>
          </a:ln>
        </p:spPr>
        <p:txBody>
          <a:bodyPr anchor="ctr">
            <a:normAutofit/>
          </a:bodyPr>
          <a:lstStyle/>
          <a:p>
            <a:pPr algn="l">
              <a:defRPr sz="1500" b="1">
                <a:solidFill>
                  <a:srgbClr val="0E9384"/>
                </a:solidFill>
                <a:latin typeface="DejaVu Sans"/>
                <a:ea typeface="DejaVu Sans"/>
                <a:cs typeface="DejaVu Sans"/>
              </a:defRPr>
            </a:pPr>
            <a:r>
              <a:rPr sz="1500" b="1">
                <a:solidFill>
                  <a:srgbClr val="0E9384"/>
                </a:solidFill>
                <a:latin typeface="DejaVu Sans"/>
                <a:ea typeface="DejaVu Sans"/>
                <a:cs typeface="DejaVu Sans"/>
              </a:rPr>
              <a:t>Baseline FPGA</a:t>
            </a:r>
          </a:p>
        </p:txBody>
      </p:sp>
      <p:sp>
        <p:nvSpPr>
          <p:cNvPr id="5" name="Rounded Rectangle 4">
            <a:extLst>
              <a:ext uri="{FF2B5EF4-FFF2-40B4-BE49-F238E27FC236}">
                <a16:creationId xmlns:a16="http://schemas.microsoft.com/office/drawing/2014/main" id="{08C8A346-512A-4838-8AF8-F97BD1065BBC}"/>
              </a:ext>
            </a:extLst>
          </p:cNvPr>
          <p:cNvSpPr>
            <a:spLocks noGrp="1"/>
          </p:cNvSpPr>
          <p:nvPr/>
        </p:nvSpPr>
        <p:spPr>
          <a:xfrm>
            <a:off x="523875" y="2095500"/>
            <a:ext cx="2381250" cy="1047750"/>
          </a:xfrm>
          <a:prstGeom prst="roundRect">
            <a:avLst>
              <a:gd name="adj" fmla="val 10909"/>
            </a:avLst>
          </a:prstGeom>
          <a:solidFill>
            <a:srgbClr val="E8EEF2"/>
          </a:solidFill>
          <a:ln w="0">
            <a:noFill/>
          </a:ln>
        </p:spPr>
        <p:txBody>
          <a:bodyPr/>
          <a:lstStyle/>
          <a:p>
            <a:endParaRPr lang="en-VN"/>
          </a:p>
        </p:txBody>
      </p:sp>
      <p:sp>
        <p:nvSpPr>
          <p:cNvPr id="6" name="Rectangle 5">
            <a:extLst>
              <a:ext uri="{FF2B5EF4-FFF2-40B4-BE49-F238E27FC236}">
                <a16:creationId xmlns:a16="http://schemas.microsoft.com/office/drawing/2014/main" id="{FF62FAD5-D456-4241-8D21-EB8B0EA6D4EA}"/>
              </a:ext>
            </a:extLst>
          </p:cNvPr>
          <p:cNvSpPr>
            <a:spLocks noGrp="1"/>
          </p:cNvSpPr>
          <p:nvPr/>
        </p:nvSpPr>
        <p:spPr>
          <a:xfrm>
            <a:off x="666750" y="2238375"/>
            <a:ext cx="2095500" cy="742950"/>
          </a:xfrm>
          <a:prstGeom prst="rect">
            <a:avLst/>
          </a:prstGeom>
          <a:noFill/>
          <a:ln w="0">
            <a:noFill/>
          </a:ln>
        </p:spPr>
        <p:txBody>
          <a:bodyPr anchor="ctr">
            <a:normAutofit/>
          </a:bodyPr>
          <a:lstStyle/>
          <a:p>
            <a:pPr algn="ctr">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RO-PUF</a:t>
            </a:r>
          </a:p>
          <a:p>
            <a:pPr algn="ctr">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raw response</a:t>
            </a:r>
          </a:p>
        </p:txBody>
      </p:sp>
      <p:sp>
        <p:nvSpPr>
          <p:cNvPr id="7" name="Rectangle 6">
            <a:extLst>
              <a:ext uri="{FF2B5EF4-FFF2-40B4-BE49-F238E27FC236}">
                <a16:creationId xmlns:a16="http://schemas.microsoft.com/office/drawing/2014/main" id="{39388DAE-2BC9-4656-AF23-F11FDD87D62F}"/>
              </a:ext>
            </a:extLst>
          </p:cNvPr>
          <p:cNvSpPr>
            <a:spLocks noGrp="1"/>
          </p:cNvSpPr>
          <p:nvPr/>
        </p:nvSpPr>
        <p:spPr>
          <a:xfrm>
            <a:off x="3000375" y="2333625"/>
            <a:ext cx="333375" cy="476250"/>
          </a:xfrm>
          <a:prstGeom prst="rect">
            <a:avLst/>
          </a:prstGeom>
          <a:noFill/>
          <a:ln w="0">
            <a:noFill/>
          </a:ln>
        </p:spPr>
        <p:txBody>
          <a:bodyPr anchor="ctr">
            <a:normAutofit fontScale="99020"/>
          </a:bodyPr>
          <a:lstStyle/>
          <a:p>
            <a:pPr algn="ctr">
              <a:defRPr sz="2550" b="1">
                <a:solidFill>
                  <a:srgbClr val="20C7B0"/>
                </a:solidFill>
                <a:latin typeface="DejaVu Sans"/>
                <a:ea typeface="DejaVu Sans"/>
                <a:cs typeface="DejaVu Sans"/>
              </a:defRPr>
            </a:pPr>
            <a:r>
              <a:rPr sz="2550" b="1">
                <a:solidFill>
                  <a:srgbClr val="20C7B0"/>
                </a:solidFill>
                <a:latin typeface="DejaVu Sans"/>
                <a:ea typeface="DejaVu Sans"/>
                <a:cs typeface="DejaVu Sans"/>
              </a:rPr>
              <a:t>›</a:t>
            </a:r>
          </a:p>
        </p:txBody>
      </p:sp>
      <p:sp>
        <p:nvSpPr>
          <p:cNvPr id="8" name="Rounded Rectangle 7">
            <a:extLst>
              <a:ext uri="{FF2B5EF4-FFF2-40B4-BE49-F238E27FC236}">
                <a16:creationId xmlns:a16="http://schemas.microsoft.com/office/drawing/2014/main" id="{CC99E402-2622-4F4D-BCEC-A8C3FEECACE9}"/>
              </a:ext>
            </a:extLst>
          </p:cNvPr>
          <p:cNvSpPr>
            <a:spLocks noGrp="1"/>
          </p:cNvSpPr>
          <p:nvPr/>
        </p:nvSpPr>
        <p:spPr>
          <a:xfrm>
            <a:off x="3381375" y="2095500"/>
            <a:ext cx="2381250" cy="1047750"/>
          </a:xfrm>
          <a:prstGeom prst="roundRect">
            <a:avLst>
              <a:gd name="adj" fmla="val 10909"/>
            </a:avLst>
          </a:prstGeom>
          <a:solidFill>
            <a:srgbClr val="E8EEF2"/>
          </a:solidFill>
          <a:ln w="0">
            <a:noFill/>
          </a:ln>
        </p:spPr>
        <p:txBody>
          <a:bodyPr/>
          <a:lstStyle/>
          <a:p>
            <a:endParaRPr lang="en-VN"/>
          </a:p>
        </p:txBody>
      </p:sp>
      <p:sp>
        <p:nvSpPr>
          <p:cNvPr id="9" name="Rectangle 8">
            <a:extLst>
              <a:ext uri="{FF2B5EF4-FFF2-40B4-BE49-F238E27FC236}">
                <a16:creationId xmlns:a16="http://schemas.microsoft.com/office/drawing/2014/main" id="{EE5F32DB-3EE6-40AD-B238-C01A30F18CB8}"/>
              </a:ext>
            </a:extLst>
          </p:cNvPr>
          <p:cNvSpPr>
            <a:spLocks noGrp="1"/>
          </p:cNvSpPr>
          <p:nvPr/>
        </p:nvSpPr>
        <p:spPr>
          <a:xfrm>
            <a:off x="3524250" y="2238375"/>
            <a:ext cx="2095500" cy="742950"/>
          </a:xfrm>
          <a:prstGeom prst="rect">
            <a:avLst/>
          </a:prstGeom>
          <a:noFill/>
          <a:ln w="0">
            <a:noFill/>
          </a:ln>
        </p:spPr>
        <p:txBody>
          <a:bodyPr anchor="ctr">
            <a:normAutofit/>
          </a:bodyPr>
          <a:lstStyle/>
          <a:p>
            <a:pPr algn="ctr">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Majority voting</a:t>
            </a:r>
          </a:p>
          <a:p>
            <a:pPr algn="ctr">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puf_id</a:t>
            </a:r>
          </a:p>
        </p:txBody>
      </p:sp>
      <p:sp>
        <p:nvSpPr>
          <p:cNvPr id="10" name="Rectangle 9">
            <a:extLst>
              <a:ext uri="{FF2B5EF4-FFF2-40B4-BE49-F238E27FC236}">
                <a16:creationId xmlns:a16="http://schemas.microsoft.com/office/drawing/2014/main" id="{4F627831-2FFA-44CE-9E66-85A62F164FE9}"/>
              </a:ext>
            </a:extLst>
          </p:cNvPr>
          <p:cNvSpPr>
            <a:spLocks noGrp="1"/>
          </p:cNvSpPr>
          <p:nvPr/>
        </p:nvSpPr>
        <p:spPr>
          <a:xfrm>
            <a:off x="5857875" y="2333625"/>
            <a:ext cx="333375" cy="476250"/>
          </a:xfrm>
          <a:prstGeom prst="rect">
            <a:avLst/>
          </a:prstGeom>
          <a:noFill/>
          <a:ln w="0">
            <a:noFill/>
          </a:ln>
        </p:spPr>
        <p:txBody>
          <a:bodyPr anchor="ctr">
            <a:normAutofit fontScale="99020"/>
          </a:bodyPr>
          <a:lstStyle/>
          <a:p>
            <a:pPr algn="ctr">
              <a:defRPr sz="2550" b="1">
                <a:solidFill>
                  <a:srgbClr val="20C7B0"/>
                </a:solidFill>
                <a:latin typeface="DejaVu Sans"/>
                <a:ea typeface="DejaVu Sans"/>
                <a:cs typeface="DejaVu Sans"/>
              </a:defRPr>
            </a:pPr>
            <a:r>
              <a:rPr sz="2550" b="1">
                <a:solidFill>
                  <a:srgbClr val="20C7B0"/>
                </a:solidFill>
                <a:latin typeface="DejaVu Sans"/>
                <a:ea typeface="DejaVu Sans"/>
                <a:cs typeface="DejaVu Sans"/>
              </a:rPr>
              <a:t>›</a:t>
            </a:r>
          </a:p>
        </p:txBody>
      </p:sp>
      <p:sp>
        <p:nvSpPr>
          <p:cNvPr id="11" name="Rounded Rectangle 10">
            <a:extLst>
              <a:ext uri="{FF2B5EF4-FFF2-40B4-BE49-F238E27FC236}">
                <a16:creationId xmlns:a16="http://schemas.microsoft.com/office/drawing/2014/main" id="{DA58364B-E008-4C55-BC34-FA11883488F6}"/>
              </a:ext>
            </a:extLst>
          </p:cNvPr>
          <p:cNvSpPr>
            <a:spLocks noGrp="1"/>
          </p:cNvSpPr>
          <p:nvPr/>
        </p:nvSpPr>
        <p:spPr>
          <a:xfrm>
            <a:off x="6238875" y="2095500"/>
            <a:ext cx="2381250" cy="1047750"/>
          </a:xfrm>
          <a:prstGeom prst="roundRect">
            <a:avLst>
              <a:gd name="adj" fmla="val 10909"/>
            </a:avLst>
          </a:prstGeom>
          <a:solidFill>
            <a:srgbClr val="BDE8DF"/>
          </a:solidFill>
          <a:ln w="0">
            <a:noFill/>
          </a:ln>
        </p:spPr>
        <p:txBody>
          <a:bodyPr/>
          <a:lstStyle/>
          <a:p>
            <a:endParaRPr lang="en-VN"/>
          </a:p>
        </p:txBody>
      </p:sp>
      <p:sp>
        <p:nvSpPr>
          <p:cNvPr id="12" name="Rectangle 11">
            <a:extLst>
              <a:ext uri="{FF2B5EF4-FFF2-40B4-BE49-F238E27FC236}">
                <a16:creationId xmlns:a16="http://schemas.microsoft.com/office/drawing/2014/main" id="{C9B0673C-DFB1-4A8E-96DE-52013622008D}"/>
              </a:ext>
            </a:extLst>
          </p:cNvPr>
          <p:cNvSpPr>
            <a:spLocks noGrp="1"/>
          </p:cNvSpPr>
          <p:nvPr/>
        </p:nvSpPr>
        <p:spPr>
          <a:xfrm>
            <a:off x="6381750" y="2238375"/>
            <a:ext cx="2095500" cy="742950"/>
          </a:xfrm>
          <a:prstGeom prst="rect">
            <a:avLst/>
          </a:prstGeom>
          <a:noFill/>
          <a:ln w="0">
            <a:noFill/>
          </a:ln>
        </p:spPr>
        <p:txBody>
          <a:bodyPr anchor="ctr">
            <a:normAutofit/>
          </a:bodyPr>
          <a:lstStyle/>
          <a:p>
            <a:pPr algn="ctr">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AES(master_key, puf_id)</a:t>
            </a:r>
          </a:p>
          <a:p>
            <a:pPr algn="ctr">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diversified_key</a:t>
            </a:r>
          </a:p>
        </p:txBody>
      </p:sp>
      <p:sp>
        <p:nvSpPr>
          <p:cNvPr id="13" name="Rectangle 12">
            <a:extLst>
              <a:ext uri="{FF2B5EF4-FFF2-40B4-BE49-F238E27FC236}">
                <a16:creationId xmlns:a16="http://schemas.microsoft.com/office/drawing/2014/main" id="{D3C79AED-4489-4DF5-BD65-2EDD48A8A35B}"/>
              </a:ext>
            </a:extLst>
          </p:cNvPr>
          <p:cNvSpPr>
            <a:spLocks noGrp="1"/>
          </p:cNvSpPr>
          <p:nvPr/>
        </p:nvSpPr>
        <p:spPr>
          <a:xfrm>
            <a:off x="8715375" y="2333625"/>
            <a:ext cx="333375" cy="476250"/>
          </a:xfrm>
          <a:prstGeom prst="rect">
            <a:avLst/>
          </a:prstGeom>
          <a:noFill/>
          <a:ln w="0">
            <a:noFill/>
          </a:ln>
        </p:spPr>
        <p:txBody>
          <a:bodyPr anchor="ctr">
            <a:normAutofit fontScale="99020"/>
          </a:bodyPr>
          <a:lstStyle/>
          <a:p>
            <a:pPr algn="ctr">
              <a:defRPr sz="2550" b="1">
                <a:solidFill>
                  <a:srgbClr val="20C7B0"/>
                </a:solidFill>
                <a:latin typeface="DejaVu Sans"/>
                <a:ea typeface="DejaVu Sans"/>
                <a:cs typeface="DejaVu Sans"/>
              </a:defRPr>
            </a:pPr>
            <a:r>
              <a:rPr sz="2550" b="1">
                <a:solidFill>
                  <a:srgbClr val="20C7B0"/>
                </a:solidFill>
                <a:latin typeface="DejaVu Sans"/>
                <a:ea typeface="DejaVu Sans"/>
                <a:cs typeface="DejaVu Sans"/>
              </a:rPr>
              <a:t>›</a:t>
            </a:r>
          </a:p>
        </p:txBody>
      </p:sp>
      <p:sp>
        <p:nvSpPr>
          <p:cNvPr id="14" name="Rounded Rectangle 13">
            <a:extLst>
              <a:ext uri="{FF2B5EF4-FFF2-40B4-BE49-F238E27FC236}">
                <a16:creationId xmlns:a16="http://schemas.microsoft.com/office/drawing/2014/main" id="{B3416BFA-2D1E-47B4-A2F1-A47D4F0B5B67}"/>
              </a:ext>
            </a:extLst>
          </p:cNvPr>
          <p:cNvSpPr>
            <a:spLocks noGrp="1"/>
          </p:cNvSpPr>
          <p:nvPr/>
        </p:nvSpPr>
        <p:spPr>
          <a:xfrm>
            <a:off x="9096375" y="2095500"/>
            <a:ext cx="2381250" cy="1047750"/>
          </a:xfrm>
          <a:prstGeom prst="roundRect">
            <a:avLst>
              <a:gd name="adj" fmla="val 10909"/>
            </a:avLst>
          </a:prstGeom>
          <a:solidFill>
            <a:srgbClr val="E8EEF2"/>
          </a:solidFill>
          <a:ln w="0">
            <a:noFill/>
          </a:ln>
        </p:spPr>
        <p:txBody>
          <a:bodyPr/>
          <a:lstStyle/>
          <a:p>
            <a:endParaRPr lang="en-VN"/>
          </a:p>
        </p:txBody>
      </p:sp>
      <p:sp>
        <p:nvSpPr>
          <p:cNvPr id="15" name="Rectangle 14">
            <a:extLst>
              <a:ext uri="{FF2B5EF4-FFF2-40B4-BE49-F238E27FC236}">
                <a16:creationId xmlns:a16="http://schemas.microsoft.com/office/drawing/2014/main" id="{DA4D837D-18C5-46D0-8D05-749987B64A73}"/>
              </a:ext>
            </a:extLst>
          </p:cNvPr>
          <p:cNvSpPr>
            <a:spLocks noGrp="1"/>
          </p:cNvSpPr>
          <p:nvPr/>
        </p:nvSpPr>
        <p:spPr>
          <a:xfrm>
            <a:off x="9239250" y="2238375"/>
            <a:ext cx="2095500" cy="742950"/>
          </a:xfrm>
          <a:prstGeom prst="rect">
            <a:avLst/>
          </a:prstGeom>
          <a:noFill/>
          <a:ln w="0">
            <a:noFill/>
          </a:ln>
        </p:spPr>
        <p:txBody>
          <a:bodyPr anchor="ctr">
            <a:normAutofit/>
          </a:bodyPr>
          <a:lstStyle/>
          <a:p>
            <a:pPr algn="ctr">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AES response</a:t>
            </a:r>
          </a:p>
        </p:txBody>
      </p:sp>
      <p:sp>
        <p:nvSpPr>
          <p:cNvPr id="16" name="Rounded Rectangle 15">
            <a:extLst>
              <a:ext uri="{FF2B5EF4-FFF2-40B4-BE49-F238E27FC236}">
                <a16:creationId xmlns:a16="http://schemas.microsoft.com/office/drawing/2014/main" id="{15AFEEB6-2C4C-4CD7-A686-3366BB4676D5}"/>
              </a:ext>
            </a:extLst>
          </p:cNvPr>
          <p:cNvSpPr>
            <a:spLocks noGrp="1"/>
          </p:cNvSpPr>
          <p:nvPr/>
        </p:nvSpPr>
        <p:spPr>
          <a:xfrm>
            <a:off x="514350" y="3714750"/>
            <a:ext cx="11125200" cy="1476375"/>
          </a:xfrm>
          <a:prstGeom prst="roundRect">
            <a:avLst>
              <a:gd name="adj" fmla="val 9032"/>
            </a:avLst>
          </a:prstGeom>
          <a:solidFill>
            <a:srgbClr val="FFF6E3"/>
          </a:solidFill>
          <a:ln w="0">
            <a:noFill/>
          </a:ln>
        </p:spPr>
        <p:txBody>
          <a:bodyPr/>
          <a:lstStyle/>
          <a:p>
            <a:endParaRPr lang="en-VN"/>
          </a:p>
        </p:txBody>
      </p:sp>
      <p:sp>
        <p:nvSpPr>
          <p:cNvPr id="17" name="Rectangle 16">
            <a:extLst>
              <a:ext uri="{FF2B5EF4-FFF2-40B4-BE49-F238E27FC236}">
                <a16:creationId xmlns:a16="http://schemas.microsoft.com/office/drawing/2014/main" id="{32882280-8CE2-49E0-8C26-5CC0C71602A1}"/>
              </a:ext>
            </a:extLst>
          </p:cNvPr>
          <p:cNvSpPr>
            <a:spLocks noGrp="1"/>
          </p:cNvSpPr>
          <p:nvPr/>
        </p:nvSpPr>
        <p:spPr>
          <a:xfrm>
            <a:off x="762000" y="3886200"/>
            <a:ext cx="2476500" cy="285750"/>
          </a:xfrm>
          <a:prstGeom prst="rect">
            <a:avLst/>
          </a:prstGeom>
          <a:noFill/>
          <a:ln w="0">
            <a:noFill/>
          </a:ln>
        </p:spPr>
        <p:txBody>
          <a:bodyPr anchor="ctr">
            <a:normAutofit fontScale="89474"/>
          </a:bodyPr>
          <a:lstStyle/>
          <a:p>
            <a:pPr algn="l">
              <a:defRPr sz="1425" b="1">
                <a:solidFill>
                  <a:srgbClr val="D79B2B"/>
                </a:solidFill>
                <a:latin typeface="DejaVu Sans"/>
                <a:ea typeface="DejaVu Sans"/>
                <a:cs typeface="DejaVu Sans"/>
              </a:defRPr>
            </a:pPr>
            <a:r>
              <a:rPr sz="1425" b="1">
                <a:solidFill>
                  <a:srgbClr val="D79B2B"/>
                </a:solidFill>
                <a:latin typeface="DejaVu Sans"/>
                <a:ea typeface="DejaVu Sans"/>
                <a:cs typeface="DejaVu Sans"/>
              </a:rPr>
              <a:t>Giới hạn hiện tại</a:t>
            </a:r>
          </a:p>
        </p:txBody>
      </p:sp>
      <p:sp>
        <p:nvSpPr>
          <p:cNvPr id="18" name="Rectangle 17">
            <a:extLst>
              <a:ext uri="{FF2B5EF4-FFF2-40B4-BE49-F238E27FC236}">
                <a16:creationId xmlns:a16="http://schemas.microsoft.com/office/drawing/2014/main" id="{5D4F02B1-85D1-4395-A877-20E979D645B8}"/>
              </a:ext>
            </a:extLst>
          </p:cNvPr>
          <p:cNvSpPr>
            <a:spLocks noGrp="1"/>
          </p:cNvSpPr>
          <p:nvPr/>
        </p:nvSpPr>
        <p:spPr>
          <a:xfrm>
            <a:off x="762000" y="4267200"/>
            <a:ext cx="10382250" cy="742950"/>
          </a:xfrm>
          <a:prstGeom prst="rect">
            <a:avLst/>
          </a:prstGeom>
          <a:noFill/>
          <a:ln w="0">
            <a:noFill/>
          </a:ln>
        </p:spPr>
        <p:txBody>
          <a:bodyPr anchor="ctr">
            <a:normAutofit/>
          </a:bodyPr>
          <a:lstStyle/>
          <a:p>
            <a:pPr algn="l">
              <a:defRPr sz="1350" b="0">
                <a:solidFill>
                  <a:srgbClr val="14202B"/>
                </a:solidFill>
                <a:latin typeface="DejaVu Sans"/>
                <a:ea typeface="DejaVu Sans"/>
                <a:cs typeface="DejaVu Sans"/>
              </a:defRPr>
            </a:pPr>
            <a:r>
              <a:rPr sz="1350" b="0">
                <a:solidFill>
                  <a:srgbClr val="14202B"/>
                </a:solidFill>
                <a:latin typeface="DejaVu Sans"/>
                <a:ea typeface="DejaVu Sans"/>
                <a:cs typeface="DejaVu Sans"/>
              </a:rPr>
              <a:t>master_key vẫn là hằng số trong chip_rom.v. Raw PUF chưa có secure sketch/ECC và chưa đủ ổn định để dùng trực tiếp làm khóa sản phẩm. Đường phát triển: chọn bit ổn định, enrollment mask hoặc fuzzy extractor, OTP/eFuse và AES-CMAC bao phủ metadata.</a:t>
            </a:r>
          </a:p>
        </p:txBody>
      </p:sp>
      <p:sp>
        <p:nvSpPr>
          <p:cNvPr id="19" name="Rectangle 18">
            <a:extLst>
              <a:ext uri="{FF2B5EF4-FFF2-40B4-BE49-F238E27FC236}">
                <a16:creationId xmlns:a16="http://schemas.microsoft.com/office/drawing/2014/main" id="{E16E44CE-0083-453C-877E-EF88139A4AF9}"/>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20" name="Rectangle 19">
            <a:extLst>
              <a:ext uri="{FF2B5EF4-FFF2-40B4-BE49-F238E27FC236}">
                <a16:creationId xmlns:a16="http://schemas.microsoft.com/office/drawing/2014/main" id="{80FD2A25-BE2A-4DE5-B122-5289FD60049C}"/>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08</a:t>
            </a:r>
          </a:p>
        </p:txBody>
      </p:sp>
    </p:spTree>
    <p:extLst>
      <p:ext uri="{BB962C8B-B14F-4D97-AF65-F5344CB8AC3E}">
        <p14:creationId xmlns:p14="http://schemas.microsoft.com/office/powerpoint/2010/main" val="876524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524"/>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0F97E5C-66E0-47FD-8BFA-D98FBB86FC5E}"/>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MINH CHỨNG</a:t>
            </a:r>
          </a:p>
        </p:txBody>
      </p:sp>
      <p:sp>
        <p:nvSpPr>
          <p:cNvPr id="2" name="Rectangle 1">
            <a:extLst>
              <a:ext uri="{FF2B5EF4-FFF2-40B4-BE49-F238E27FC236}">
                <a16:creationId xmlns:a16="http://schemas.microsoft.com/office/drawing/2014/main" id="{712DC43F-E137-4517-9A3B-2EB6AF4517BD}"/>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F7FAFC"/>
                </a:solidFill>
                <a:latin typeface="DejaVu Sans"/>
                <a:ea typeface="DejaVu Sans"/>
                <a:cs typeface="DejaVu Sans"/>
              </a:defRPr>
            </a:pPr>
            <a:r>
              <a:rPr sz="2550" b="1">
                <a:solidFill>
                  <a:srgbClr val="F7FAFC"/>
                </a:solidFill>
                <a:latin typeface="DejaVu Sans"/>
                <a:ea typeface="DejaVu Sans"/>
                <a:cs typeface="DejaVu Sans"/>
              </a:rPr>
              <a:t>Quan sát FPGA bằng SignalTap</a:t>
            </a:r>
          </a:p>
        </p:txBody>
      </p:sp>
      <p:sp>
        <p:nvSpPr>
          <p:cNvPr id="3" name="Rectangle 2">
            <a:extLst>
              <a:ext uri="{FF2B5EF4-FFF2-40B4-BE49-F238E27FC236}">
                <a16:creationId xmlns:a16="http://schemas.microsoft.com/office/drawing/2014/main" id="{E509EE33-0514-4547-B1B6-4C7430296302}"/>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pic>
        <p:nvPicPr>
          <p:cNvPr id="20" name="Picture 19"/>
          <p:cNvPicPr>
            <a:picLocks noChangeAspect="1"/>
          </p:cNvPicPr>
          <p:nvPr/>
        </p:nvPicPr>
        <p:blipFill>
          <a:blip r:embed="rId3"/>
          <a:stretch/>
        </p:blipFill>
        <p:spPr>
          <a:xfrm>
            <a:off x="457200" y="1482030"/>
            <a:ext cx="7667625" cy="4313039"/>
          </a:xfrm>
          <a:prstGeom prst="rect">
            <a:avLst/>
          </a:prstGeom>
        </p:spPr>
      </p:pic>
      <p:sp>
        <p:nvSpPr>
          <p:cNvPr id="5" name="Rectangle 4">
            <a:extLst>
              <a:ext uri="{FF2B5EF4-FFF2-40B4-BE49-F238E27FC236}">
                <a16:creationId xmlns:a16="http://schemas.microsoft.com/office/drawing/2014/main" id="{5B803852-FC10-44B8-BBA2-3BD1721F3254}"/>
              </a:ext>
            </a:extLst>
          </p:cNvPr>
          <p:cNvSpPr>
            <a:spLocks noGrp="1"/>
          </p:cNvSpPr>
          <p:nvPr/>
        </p:nvSpPr>
        <p:spPr>
          <a:xfrm>
            <a:off x="8477250" y="1524000"/>
            <a:ext cx="3048000" cy="304800"/>
          </a:xfrm>
          <a:prstGeom prst="rect">
            <a:avLst/>
          </a:prstGeom>
          <a:noFill/>
          <a:ln w="0">
            <a:noFill/>
          </a:ln>
        </p:spPr>
        <p:txBody>
          <a:bodyPr anchor="ctr">
            <a:normAutofit fontScale="88889"/>
          </a:bodyPr>
          <a:lstStyle/>
          <a:p>
            <a:pPr algn="l">
              <a:defRPr sz="1575" b="1">
                <a:solidFill>
                  <a:srgbClr val="20C7B0"/>
                </a:solidFill>
                <a:latin typeface="DejaVu Sans"/>
                <a:ea typeface="DejaVu Sans"/>
                <a:cs typeface="DejaVu Sans"/>
              </a:defRPr>
            </a:pPr>
            <a:r>
              <a:rPr sz="1575" b="1">
                <a:solidFill>
                  <a:srgbClr val="20C7B0"/>
                </a:solidFill>
                <a:latin typeface="DejaVu Sans"/>
                <a:ea typeface="DejaVu Sans"/>
                <a:cs typeface="DejaVu Sans"/>
              </a:rPr>
              <a:t>Điều quan sát được</a:t>
            </a:r>
          </a:p>
        </p:txBody>
      </p:sp>
      <p:sp>
        <p:nvSpPr>
          <p:cNvPr id="6" name="Rounded Rectangle 5">
            <a:extLst>
              <a:ext uri="{FF2B5EF4-FFF2-40B4-BE49-F238E27FC236}">
                <a16:creationId xmlns:a16="http://schemas.microsoft.com/office/drawing/2014/main" id="{062A7F1D-65EC-4084-ABA7-BE99C8A027C0}"/>
              </a:ext>
            </a:extLst>
          </p:cNvPr>
          <p:cNvSpPr>
            <a:spLocks noGrp="1"/>
          </p:cNvSpPr>
          <p:nvPr/>
        </p:nvSpPr>
        <p:spPr>
          <a:xfrm>
            <a:off x="8477250" y="2114550"/>
            <a:ext cx="76200" cy="76200"/>
          </a:xfrm>
          <a:prstGeom prst="roundRect">
            <a:avLst>
              <a:gd name="adj" fmla="val 50000"/>
            </a:avLst>
          </a:prstGeom>
          <a:solidFill>
            <a:srgbClr val="20C7B0"/>
          </a:solidFill>
          <a:ln w="0">
            <a:noFill/>
          </a:ln>
        </p:spPr>
        <p:txBody>
          <a:bodyPr/>
          <a:lstStyle/>
          <a:p>
            <a:endParaRPr lang="en-VN"/>
          </a:p>
        </p:txBody>
      </p:sp>
      <p:sp>
        <p:nvSpPr>
          <p:cNvPr id="7" name="Rectangle 6">
            <a:extLst>
              <a:ext uri="{FF2B5EF4-FFF2-40B4-BE49-F238E27FC236}">
                <a16:creationId xmlns:a16="http://schemas.microsoft.com/office/drawing/2014/main" id="{D5EA3609-01E8-4831-B166-80C5470FC139}"/>
              </a:ext>
            </a:extLst>
          </p:cNvPr>
          <p:cNvSpPr>
            <a:spLocks noGrp="1"/>
          </p:cNvSpPr>
          <p:nvPr/>
        </p:nvSpPr>
        <p:spPr>
          <a:xfrm>
            <a:off x="8686800" y="2047875"/>
            <a:ext cx="2933700" cy="266700"/>
          </a:xfrm>
          <a:prstGeom prst="rect">
            <a:avLst/>
          </a:prstGeom>
          <a:noFill/>
          <a:ln w="0">
            <a:noFill/>
          </a:ln>
        </p:spPr>
        <p:txBody>
          <a:bodyPr anchor="ctr">
            <a:normAutofit fontScale="85185"/>
          </a:bodyPr>
          <a:lstStyle/>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JTAG sẵn sàng</a:t>
            </a:r>
          </a:p>
        </p:txBody>
      </p:sp>
      <p:sp>
        <p:nvSpPr>
          <p:cNvPr id="8" name="Rectangle 7">
            <a:extLst>
              <a:ext uri="{FF2B5EF4-FFF2-40B4-BE49-F238E27FC236}">
                <a16:creationId xmlns:a16="http://schemas.microsoft.com/office/drawing/2014/main" id="{E9532C51-2FBF-416B-80CB-B6D016278AD3}"/>
              </a:ext>
            </a:extLst>
          </p:cNvPr>
          <p:cNvSpPr>
            <a:spLocks noGrp="1"/>
          </p:cNvSpPr>
          <p:nvPr/>
        </p:nvSpPr>
        <p:spPr>
          <a:xfrm>
            <a:off x="8686800" y="2324100"/>
            <a:ext cx="2933700" cy="552450"/>
          </a:xfrm>
          <a:prstGeom prst="rect">
            <a:avLst/>
          </a:prstGeom>
          <a:noFill/>
          <a:ln w="0">
            <a:noFill/>
          </a:ln>
        </p:spPr>
        <p:txBody>
          <a:bodyPr anchor="ctr">
            <a:normAutofit/>
          </a:bodyPr>
          <a:lstStyle/>
          <a:p>
            <a:pPr algn="l">
              <a:defRPr sz="1125" b="0">
                <a:solidFill>
                  <a:srgbClr val="9FB0BF"/>
                </a:solidFill>
                <a:latin typeface="DejaVu Sans"/>
                <a:ea typeface="DejaVu Sans"/>
                <a:cs typeface="DejaVu Sans"/>
              </a:defRPr>
            </a:pPr>
            <a:r>
              <a:rPr sz="1125" b="0">
                <a:solidFill>
                  <a:srgbClr val="9FB0BF"/>
                </a:solidFill>
                <a:latin typeface="DejaVu Sans"/>
                <a:ea typeface="DejaVu Sans"/>
                <a:cs typeface="DejaVu Sans"/>
              </a:rPr>
              <a:t>Cửa sổ SignalTap nhận diện chuỗi JTAG và trạng thái acquisition.</a:t>
            </a:r>
          </a:p>
        </p:txBody>
      </p:sp>
      <p:sp>
        <p:nvSpPr>
          <p:cNvPr id="9" name="Rounded Rectangle 8">
            <a:extLst>
              <a:ext uri="{FF2B5EF4-FFF2-40B4-BE49-F238E27FC236}">
                <a16:creationId xmlns:a16="http://schemas.microsoft.com/office/drawing/2014/main" id="{C7E99271-F0E1-445A-B339-D291A91A289A}"/>
              </a:ext>
            </a:extLst>
          </p:cNvPr>
          <p:cNvSpPr>
            <a:spLocks noGrp="1"/>
          </p:cNvSpPr>
          <p:nvPr/>
        </p:nvSpPr>
        <p:spPr>
          <a:xfrm>
            <a:off x="8477250" y="3257550"/>
            <a:ext cx="76200" cy="76200"/>
          </a:xfrm>
          <a:prstGeom prst="roundRect">
            <a:avLst>
              <a:gd name="adj" fmla="val 50000"/>
            </a:avLst>
          </a:prstGeom>
          <a:solidFill>
            <a:srgbClr val="20C7B0"/>
          </a:solidFill>
          <a:ln w="0">
            <a:noFill/>
          </a:ln>
        </p:spPr>
        <p:txBody>
          <a:bodyPr/>
          <a:lstStyle/>
          <a:p>
            <a:endParaRPr lang="en-VN"/>
          </a:p>
        </p:txBody>
      </p:sp>
      <p:sp>
        <p:nvSpPr>
          <p:cNvPr id="10" name="Rectangle 9">
            <a:extLst>
              <a:ext uri="{FF2B5EF4-FFF2-40B4-BE49-F238E27FC236}">
                <a16:creationId xmlns:a16="http://schemas.microsoft.com/office/drawing/2014/main" id="{567A4F6C-95FA-4C25-BD5D-81F7941B5DD0}"/>
              </a:ext>
            </a:extLst>
          </p:cNvPr>
          <p:cNvSpPr>
            <a:spLocks noGrp="1"/>
          </p:cNvSpPr>
          <p:nvPr/>
        </p:nvSpPr>
        <p:spPr>
          <a:xfrm>
            <a:off x="8686800" y="3190875"/>
            <a:ext cx="2933700" cy="266700"/>
          </a:xfrm>
          <a:prstGeom prst="rect">
            <a:avLst/>
          </a:prstGeom>
          <a:noFill/>
          <a:ln w="0">
            <a:noFill/>
          </a:ln>
        </p:spPr>
        <p:txBody>
          <a:bodyPr anchor="ctr">
            <a:normAutofit fontScale="85185"/>
          </a:bodyPr>
          <a:lstStyle/>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Tín hiệu PUF</a:t>
            </a:r>
          </a:p>
        </p:txBody>
      </p:sp>
      <p:sp>
        <p:nvSpPr>
          <p:cNvPr id="11" name="Rectangle 10">
            <a:extLst>
              <a:ext uri="{FF2B5EF4-FFF2-40B4-BE49-F238E27FC236}">
                <a16:creationId xmlns:a16="http://schemas.microsoft.com/office/drawing/2014/main" id="{44CA7405-6EE1-419C-A3CE-AC4E2DC0909E}"/>
              </a:ext>
            </a:extLst>
          </p:cNvPr>
          <p:cNvSpPr>
            <a:spLocks noGrp="1"/>
          </p:cNvSpPr>
          <p:nvPr/>
        </p:nvSpPr>
        <p:spPr>
          <a:xfrm>
            <a:off x="8686800" y="3467100"/>
            <a:ext cx="2933700" cy="552450"/>
          </a:xfrm>
          <a:prstGeom prst="rect">
            <a:avLst/>
          </a:prstGeom>
          <a:noFill/>
          <a:ln w="0">
            <a:noFill/>
          </a:ln>
        </p:spPr>
        <p:txBody>
          <a:bodyPr anchor="ctr">
            <a:normAutofit/>
          </a:bodyPr>
          <a:lstStyle/>
          <a:p>
            <a:pPr algn="l">
              <a:defRPr sz="1125" b="0">
                <a:solidFill>
                  <a:srgbClr val="9FB0BF"/>
                </a:solidFill>
                <a:latin typeface="DejaVu Sans"/>
                <a:ea typeface="DejaVu Sans"/>
                <a:cs typeface="DejaVu Sans"/>
              </a:defRPr>
            </a:pPr>
            <a:r>
              <a:rPr sz="1125" b="0">
                <a:solidFill>
                  <a:srgbClr val="9FB0BF"/>
                </a:solidFill>
                <a:latin typeface="DejaVu Sans"/>
                <a:ea typeface="DejaVu Sans"/>
                <a:cs typeface="DejaVu Sans"/>
              </a:rPr>
              <a:t>puf_valid, ro_enable và puf_id xuất hiện trong bản ghi.</a:t>
            </a:r>
          </a:p>
        </p:txBody>
      </p:sp>
      <p:sp>
        <p:nvSpPr>
          <p:cNvPr id="12" name="Rounded Rectangle 11">
            <a:extLst>
              <a:ext uri="{FF2B5EF4-FFF2-40B4-BE49-F238E27FC236}">
                <a16:creationId xmlns:a16="http://schemas.microsoft.com/office/drawing/2014/main" id="{326AB3F2-02F7-4BAE-AC13-2A9DF63F713C}"/>
              </a:ext>
            </a:extLst>
          </p:cNvPr>
          <p:cNvSpPr>
            <a:spLocks noGrp="1"/>
          </p:cNvSpPr>
          <p:nvPr/>
        </p:nvSpPr>
        <p:spPr>
          <a:xfrm>
            <a:off x="8477250" y="4400550"/>
            <a:ext cx="76200" cy="76200"/>
          </a:xfrm>
          <a:prstGeom prst="roundRect">
            <a:avLst>
              <a:gd name="adj" fmla="val 50000"/>
            </a:avLst>
          </a:prstGeom>
          <a:solidFill>
            <a:srgbClr val="20C7B0"/>
          </a:solidFill>
          <a:ln w="0">
            <a:noFill/>
          </a:ln>
        </p:spPr>
        <p:txBody>
          <a:bodyPr/>
          <a:lstStyle/>
          <a:p>
            <a:endParaRPr lang="en-VN"/>
          </a:p>
        </p:txBody>
      </p:sp>
      <p:sp>
        <p:nvSpPr>
          <p:cNvPr id="13" name="Rectangle 12">
            <a:extLst>
              <a:ext uri="{FF2B5EF4-FFF2-40B4-BE49-F238E27FC236}">
                <a16:creationId xmlns:a16="http://schemas.microsoft.com/office/drawing/2014/main" id="{062B5EE9-3153-411B-ABBE-BEB148C43446}"/>
              </a:ext>
            </a:extLst>
          </p:cNvPr>
          <p:cNvSpPr>
            <a:spLocks noGrp="1"/>
          </p:cNvSpPr>
          <p:nvPr/>
        </p:nvSpPr>
        <p:spPr>
          <a:xfrm>
            <a:off x="8686800" y="4333875"/>
            <a:ext cx="2933700" cy="266700"/>
          </a:xfrm>
          <a:prstGeom prst="rect">
            <a:avLst/>
          </a:prstGeom>
          <a:noFill/>
          <a:ln w="0">
            <a:noFill/>
          </a:ln>
        </p:spPr>
        <p:txBody>
          <a:bodyPr anchor="ctr">
            <a:normAutofit fontScale="85185"/>
          </a:bodyPr>
          <a:lstStyle/>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Bảo vệ dữ liệu</a:t>
            </a:r>
          </a:p>
        </p:txBody>
      </p:sp>
      <p:sp>
        <p:nvSpPr>
          <p:cNvPr id="14" name="Rectangle 13">
            <a:extLst>
              <a:ext uri="{FF2B5EF4-FFF2-40B4-BE49-F238E27FC236}">
                <a16:creationId xmlns:a16="http://schemas.microsoft.com/office/drawing/2014/main" id="{25A0CCAF-FEA4-4F6A-94F0-F98AE01E8761}"/>
              </a:ext>
            </a:extLst>
          </p:cNvPr>
          <p:cNvSpPr>
            <a:spLocks noGrp="1"/>
          </p:cNvSpPr>
          <p:nvPr/>
        </p:nvSpPr>
        <p:spPr>
          <a:xfrm>
            <a:off x="8686800" y="4610100"/>
            <a:ext cx="2933700" cy="552450"/>
          </a:xfrm>
          <a:prstGeom prst="rect">
            <a:avLst/>
          </a:prstGeom>
          <a:noFill/>
          <a:ln w="0">
            <a:noFill/>
          </a:ln>
        </p:spPr>
        <p:txBody>
          <a:bodyPr anchor="ctr">
            <a:normAutofit/>
          </a:bodyPr>
          <a:lstStyle/>
          <a:p>
            <a:pPr algn="l">
              <a:defRPr sz="1125" b="0">
                <a:solidFill>
                  <a:srgbClr val="9FB0BF"/>
                </a:solidFill>
                <a:latin typeface="DejaVu Sans"/>
                <a:ea typeface="DejaVu Sans"/>
                <a:cs typeface="DejaVu Sans"/>
              </a:defRPr>
            </a:pPr>
            <a:r>
              <a:rPr sz="1125" b="0">
                <a:solidFill>
                  <a:srgbClr val="9FB0BF"/>
                </a:solidFill>
                <a:latin typeface="DejaVu Sans"/>
                <a:ea typeface="DejaVu Sans"/>
                <a:cs typeface="DejaVu Sans"/>
              </a:rPr>
              <a:t>Giá trị diversified_key đã được che trước khi công bố.</a:t>
            </a:r>
          </a:p>
        </p:txBody>
      </p:sp>
      <p:sp>
        <p:nvSpPr>
          <p:cNvPr id="15" name="Rectangle 14">
            <a:extLst>
              <a:ext uri="{FF2B5EF4-FFF2-40B4-BE49-F238E27FC236}">
                <a16:creationId xmlns:a16="http://schemas.microsoft.com/office/drawing/2014/main" id="{FDC34D03-BF52-477D-98CE-2BFA58643B80}"/>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TrueChip  •  Prototype xác thực phần cứng</a:t>
            </a:r>
          </a:p>
        </p:txBody>
      </p:sp>
      <p:sp>
        <p:nvSpPr>
          <p:cNvPr id="16" name="Rectangle 15">
            <a:extLst>
              <a:ext uri="{FF2B5EF4-FFF2-40B4-BE49-F238E27FC236}">
                <a16:creationId xmlns:a16="http://schemas.microsoft.com/office/drawing/2014/main" id="{CEC3B413-7CEA-4AAA-B9A1-1F7F88D5BE56}"/>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09</a:t>
            </a:r>
          </a:p>
        </p:txBody>
      </p:sp>
    </p:spTree>
    <p:extLst>
      <p:ext uri="{BB962C8B-B14F-4D97-AF65-F5344CB8AC3E}">
        <p14:creationId xmlns:p14="http://schemas.microsoft.com/office/powerpoint/2010/main" val="170564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58E439D-6D31-4B69-994E-BB7E0341C553}"/>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41B7606B-7A84-4C9E-9B3A-A8D8078EE67F}"/>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Ghi danh chip</a:t>
            </a:r>
          </a:p>
        </p:txBody>
      </p:sp>
      <p:sp>
        <p:nvSpPr>
          <p:cNvPr id="3" name="Rectangle 2">
            <a:extLst>
              <a:ext uri="{FF2B5EF4-FFF2-40B4-BE49-F238E27FC236}">
                <a16:creationId xmlns:a16="http://schemas.microsoft.com/office/drawing/2014/main" id="{17815BD2-12A2-49E0-AF5B-574EACA501BF}"/>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pic>
        <p:nvPicPr>
          <p:cNvPr id="19" name="Picture 18"/>
          <p:cNvPicPr>
            <a:picLocks noChangeAspect="1"/>
          </p:cNvPicPr>
          <p:nvPr/>
        </p:nvPicPr>
        <p:blipFill>
          <a:blip r:embed="rId3"/>
          <a:stretch/>
        </p:blipFill>
        <p:spPr>
          <a:xfrm>
            <a:off x="514350" y="1564481"/>
            <a:ext cx="7239000" cy="4071938"/>
          </a:xfrm>
          <a:prstGeom prst="rect">
            <a:avLst/>
          </a:prstGeom>
        </p:spPr>
      </p:pic>
      <p:sp>
        <p:nvSpPr>
          <p:cNvPr id="5" name="Rounded Rectangle 4">
            <a:extLst>
              <a:ext uri="{FF2B5EF4-FFF2-40B4-BE49-F238E27FC236}">
                <a16:creationId xmlns:a16="http://schemas.microsoft.com/office/drawing/2014/main" id="{8B24B994-E927-438B-9DED-A9C10A3B7A60}"/>
              </a:ext>
            </a:extLst>
          </p:cNvPr>
          <p:cNvSpPr>
            <a:spLocks noGrp="1"/>
          </p:cNvSpPr>
          <p:nvPr/>
        </p:nvSpPr>
        <p:spPr>
          <a:xfrm>
            <a:off x="8239125" y="1828800"/>
            <a:ext cx="76200" cy="76200"/>
          </a:xfrm>
          <a:prstGeom prst="roundRect">
            <a:avLst>
              <a:gd name="adj" fmla="val 50000"/>
            </a:avLst>
          </a:prstGeom>
          <a:solidFill>
            <a:srgbClr val="20C7B0"/>
          </a:solidFill>
          <a:ln w="0">
            <a:noFill/>
          </a:ln>
        </p:spPr>
        <p:txBody>
          <a:bodyPr/>
          <a:lstStyle/>
          <a:p>
            <a:endParaRPr lang="en-VN"/>
          </a:p>
        </p:txBody>
      </p:sp>
      <p:sp>
        <p:nvSpPr>
          <p:cNvPr id="6" name="Rectangle 5">
            <a:extLst>
              <a:ext uri="{FF2B5EF4-FFF2-40B4-BE49-F238E27FC236}">
                <a16:creationId xmlns:a16="http://schemas.microsoft.com/office/drawing/2014/main" id="{5E6C7E6E-987D-4B27-A000-22B95878F84D}"/>
              </a:ext>
            </a:extLst>
          </p:cNvPr>
          <p:cNvSpPr>
            <a:spLocks noGrp="1"/>
          </p:cNvSpPr>
          <p:nvPr/>
        </p:nvSpPr>
        <p:spPr>
          <a:xfrm>
            <a:off x="8448675" y="1762125"/>
            <a:ext cx="3076575"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Dữ liệu ghi danh</a:t>
            </a:r>
          </a:p>
        </p:txBody>
      </p:sp>
      <p:sp>
        <p:nvSpPr>
          <p:cNvPr id="7" name="Rectangle 6">
            <a:extLst>
              <a:ext uri="{FF2B5EF4-FFF2-40B4-BE49-F238E27FC236}">
                <a16:creationId xmlns:a16="http://schemas.microsoft.com/office/drawing/2014/main" id="{7DF3F276-DAF9-4B56-A359-8E3541831E20}"/>
              </a:ext>
            </a:extLst>
          </p:cNvPr>
          <p:cNvSpPr>
            <a:spLocks noGrp="1"/>
          </p:cNvSpPr>
          <p:nvPr/>
        </p:nvSpPr>
        <p:spPr>
          <a:xfrm>
            <a:off x="8448675" y="2038350"/>
            <a:ext cx="3076575" cy="552450"/>
          </a:xfrm>
          <a:prstGeom prst="rect">
            <a:avLst/>
          </a:prstGeom>
          <a:noFill/>
          <a:ln w="0">
            <a:noFill/>
          </a:ln>
        </p:spPr>
        <p:txBody>
          <a:bodyPr anchor="ctr">
            <a:normAutofit/>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UID/PUF ID, sản phẩm, nhà sản xuất và ngày đóng gói.</a:t>
            </a:r>
          </a:p>
        </p:txBody>
      </p:sp>
      <p:sp>
        <p:nvSpPr>
          <p:cNvPr id="8" name="Rounded Rectangle 7">
            <a:extLst>
              <a:ext uri="{FF2B5EF4-FFF2-40B4-BE49-F238E27FC236}">
                <a16:creationId xmlns:a16="http://schemas.microsoft.com/office/drawing/2014/main" id="{3A089C6C-3B2E-4FC7-95B8-9C30A4A97316}"/>
              </a:ext>
            </a:extLst>
          </p:cNvPr>
          <p:cNvSpPr>
            <a:spLocks noGrp="1"/>
          </p:cNvSpPr>
          <p:nvPr/>
        </p:nvSpPr>
        <p:spPr>
          <a:xfrm>
            <a:off x="8239125" y="3067050"/>
            <a:ext cx="76200" cy="76200"/>
          </a:xfrm>
          <a:prstGeom prst="roundRect">
            <a:avLst>
              <a:gd name="adj" fmla="val 50000"/>
            </a:avLst>
          </a:prstGeom>
          <a:solidFill>
            <a:srgbClr val="20C7B0"/>
          </a:solidFill>
          <a:ln w="0">
            <a:noFill/>
          </a:ln>
        </p:spPr>
        <p:txBody>
          <a:bodyPr/>
          <a:lstStyle/>
          <a:p>
            <a:endParaRPr lang="en-VN"/>
          </a:p>
        </p:txBody>
      </p:sp>
      <p:sp>
        <p:nvSpPr>
          <p:cNvPr id="9" name="Rectangle 8">
            <a:extLst>
              <a:ext uri="{FF2B5EF4-FFF2-40B4-BE49-F238E27FC236}">
                <a16:creationId xmlns:a16="http://schemas.microsoft.com/office/drawing/2014/main" id="{5DEB46F7-A845-4D8D-9CF6-598E5BFFC037}"/>
              </a:ext>
            </a:extLst>
          </p:cNvPr>
          <p:cNvSpPr>
            <a:spLocks noGrp="1"/>
          </p:cNvSpPr>
          <p:nvPr/>
        </p:nvSpPr>
        <p:spPr>
          <a:xfrm>
            <a:off x="8448675" y="3000375"/>
            <a:ext cx="3076575"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Vai trò quản trị</a:t>
            </a:r>
          </a:p>
        </p:txBody>
      </p:sp>
      <p:sp>
        <p:nvSpPr>
          <p:cNvPr id="10" name="Rectangle 9">
            <a:extLst>
              <a:ext uri="{FF2B5EF4-FFF2-40B4-BE49-F238E27FC236}">
                <a16:creationId xmlns:a16="http://schemas.microsoft.com/office/drawing/2014/main" id="{82E91992-66BF-4222-9AA9-D98357DFE5BB}"/>
              </a:ext>
            </a:extLst>
          </p:cNvPr>
          <p:cNvSpPr>
            <a:spLocks noGrp="1"/>
          </p:cNvSpPr>
          <p:nvPr/>
        </p:nvSpPr>
        <p:spPr>
          <a:xfrm>
            <a:off x="8448675" y="3276600"/>
            <a:ext cx="3076575" cy="552450"/>
          </a:xfrm>
          <a:prstGeom prst="rect">
            <a:avLst/>
          </a:prstGeom>
          <a:noFill/>
          <a:ln w="0">
            <a:noFill/>
          </a:ln>
        </p:spPr>
        <p:txBody>
          <a:bodyPr anchor="ctr">
            <a:normAutofit/>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Công cụ dùng cho máy quản trị và lưu bản ghi phục vụ máy chủ xác thực.</a:t>
            </a:r>
          </a:p>
        </p:txBody>
      </p:sp>
      <p:sp>
        <p:nvSpPr>
          <p:cNvPr id="11" name="Rounded Rectangle 10">
            <a:extLst>
              <a:ext uri="{FF2B5EF4-FFF2-40B4-BE49-F238E27FC236}">
                <a16:creationId xmlns:a16="http://schemas.microsoft.com/office/drawing/2014/main" id="{5D33765C-7FED-4D21-A01B-5440D5BCAFCB}"/>
              </a:ext>
            </a:extLst>
          </p:cNvPr>
          <p:cNvSpPr>
            <a:spLocks noGrp="1"/>
          </p:cNvSpPr>
          <p:nvPr/>
        </p:nvSpPr>
        <p:spPr>
          <a:xfrm>
            <a:off x="8239125" y="4305300"/>
            <a:ext cx="76200" cy="76200"/>
          </a:xfrm>
          <a:prstGeom prst="roundRect">
            <a:avLst>
              <a:gd name="adj" fmla="val 50000"/>
            </a:avLst>
          </a:prstGeom>
          <a:solidFill>
            <a:srgbClr val="20C7B0"/>
          </a:solidFill>
          <a:ln w="0">
            <a:noFill/>
          </a:ln>
        </p:spPr>
        <p:txBody>
          <a:bodyPr/>
          <a:lstStyle/>
          <a:p>
            <a:endParaRPr lang="en-VN"/>
          </a:p>
        </p:txBody>
      </p:sp>
      <p:sp>
        <p:nvSpPr>
          <p:cNvPr id="12" name="Rectangle 11">
            <a:extLst>
              <a:ext uri="{FF2B5EF4-FFF2-40B4-BE49-F238E27FC236}">
                <a16:creationId xmlns:a16="http://schemas.microsoft.com/office/drawing/2014/main" id="{FAC3288C-0306-4CBD-940B-6E2B2B51A208}"/>
              </a:ext>
            </a:extLst>
          </p:cNvPr>
          <p:cNvSpPr>
            <a:spLocks noGrp="1"/>
          </p:cNvSpPr>
          <p:nvPr/>
        </p:nvSpPr>
        <p:spPr>
          <a:xfrm>
            <a:off x="8448675" y="4238625"/>
            <a:ext cx="3076575"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Quy tắc công bố</a:t>
            </a:r>
          </a:p>
        </p:txBody>
      </p:sp>
      <p:sp>
        <p:nvSpPr>
          <p:cNvPr id="13" name="Rectangle 12">
            <a:extLst>
              <a:ext uri="{FF2B5EF4-FFF2-40B4-BE49-F238E27FC236}">
                <a16:creationId xmlns:a16="http://schemas.microsoft.com/office/drawing/2014/main" id="{4883323F-A77F-49E9-ABD7-9F40CCCF0012}"/>
              </a:ext>
            </a:extLst>
          </p:cNvPr>
          <p:cNvSpPr>
            <a:spLocks noGrp="1"/>
          </p:cNvSpPr>
          <p:nvPr/>
        </p:nvSpPr>
        <p:spPr>
          <a:xfrm>
            <a:off x="8448675" y="4514850"/>
            <a:ext cx="3076575" cy="552450"/>
          </a:xfrm>
          <a:prstGeom prst="rect">
            <a:avLst/>
          </a:prstGeom>
          <a:noFill/>
          <a:ln w="0">
            <a:noFill/>
          </a:ln>
        </p:spPr>
        <p:txBody>
          <a:bodyPr anchor="ctr">
            <a:normAutofit/>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Secret Key và database URL không xuất hiện trong slide hoặc video công khai.</a:t>
            </a:r>
          </a:p>
        </p:txBody>
      </p:sp>
      <p:sp>
        <p:nvSpPr>
          <p:cNvPr id="14" name="Rectangle 13">
            <a:extLst>
              <a:ext uri="{FF2B5EF4-FFF2-40B4-BE49-F238E27FC236}">
                <a16:creationId xmlns:a16="http://schemas.microsoft.com/office/drawing/2014/main" id="{AE3601D7-79EA-4001-B194-3BB2FADE3A00}"/>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15" name="Rectangle 14">
            <a:extLst>
              <a:ext uri="{FF2B5EF4-FFF2-40B4-BE49-F238E27FC236}">
                <a16:creationId xmlns:a16="http://schemas.microsoft.com/office/drawing/2014/main" id="{5BF9BCFE-BFF6-4323-ABD9-A8CF0DC31EE4}"/>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10</a:t>
            </a:r>
          </a:p>
        </p:txBody>
      </p:sp>
    </p:spTree>
    <p:extLst>
      <p:ext uri="{BB962C8B-B14F-4D97-AF65-F5344CB8AC3E}">
        <p14:creationId xmlns:p14="http://schemas.microsoft.com/office/powerpoint/2010/main" val="1088642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524"/>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9637743-A6A0-4161-9D28-678543294D8C}"/>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DEMO ĐẦU CUỐI</a:t>
            </a:r>
          </a:p>
        </p:txBody>
      </p:sp>
      <p:sp>
        <p:nvSpPr>
          <p:cNvPr id="2" name="Rectangle 1">
            <a:extLst>
              <a:ext uri="{FF2B5EF4-FFF2-40B4-BE49-F238E27FC236}">
                <a16:creationId xmlns:a16="http://schemas.microsoft.com/office/drawing/2014/main" id="{5499903D-AD6D-4C79-AD4B-ACF6F259297B}"/>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F7FAFC"/>
                </a:solidFill>
                <a:latin typeface="DejaVu Sans"/>
                <a:ea typeface="DejaVu Sans"/>
                <a:cs typeface="DejaVu Sans"/>
              </a:defRPr>
            </a:pPr>
            <a:r>
              <a:rPr sz="2550" b="1">
                <a:solidFill>
                  <a:srgbClr val="F7FAFC"/>
                </a:solidFill>
                <a:latin typeface="DejaVu Sans"/>
                <a:ea typeface="DejaVu Sans"/>
                <a:cs typeface="DejaVu Sans"/>
              </a:rPr>
              <a:t>Xác thực trực tiếp qua Web Serial</a:t>
            </a:r>
          </a:p>
        </p:txBody>
      </p:sp>
      <p:sp>
        <p:nvSpPr>
          <p:cNvPr id="3" name="Rectangle 2">
            <a:extLst>
              <a:ext uri="{FF2B5EF4-FFF2-40B4-BE49-F238E27FC236}">
                <a16:creationId xmlns:a16="http://schemas.microsoft.com/office/drawing/2014/main" id="{936816FC-4C76-496A-9EB1-95745F75258D}"/>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pic>
        <p:nvPicPr>
          <p:cNvPr id="13" name="Picture 12"/>
          <p:cNvPicPr>
            <a:picLocks noChangeAspect="1"/>
          </p:cNvPicPr>
          <p:nvPr/>
        </p:nvPicPr>
        <p:blipFill>
          <a:blip r:embed="rId3"/>
          <a:stretch/>
        </p:blipFill>
        <p:spPr>
          <a:xfrm>
            <a:off x="457200" y="1489472"/>
            <a:ext cx="7810500" cy="4393406"/>
          </a:xfrm>
          <a:prstGeom prst="rect">
            <a:avLst/>
          </a:prstGeom>
        </p:spPr>
      </p:pic>
      <p:sp>
        <p:nvSpPr>
          <p:cNvPr id="5" name="Rectangle 4">
            <a:extLst>
              <a:ext uri="{FF2B5EF4-FFF2-40B4-BE49-F238E27FC236}">
                <a16:creationId xmlns:a16="http://schemas.microsoft.com/office/drawing/2014/main" id="{5B8F7380-73A4-433E-9A01-2A9F1F48ABDC}"/>
              </a:ext>
            </a:extLst>
          </p:cNvPr>
          <p:cNvSpPr>
            <a:spLocks noGrp="1"/>
          </p:cNvSpPr>
          <p:nvPr/>
        </p:nvSpPr>
        <p:spPr>
          <a:xfrm>
            <a:off x="8620125" y="1571625"/>
            <a:ext cx="2714625" cy="304800"/>
          </a:xfrm>
          <a:prstGeom prst="rect">
            <a:avLst/>
          </a:prstGeom>
          <a:noFill/>
          <a:ln w="0">
            <a:noFill/>
          </a:ln>
        </p:spPr>
        <p:txBody>
          <a:bodyPr anchor="ctr">
            <a:normAutofit fontScale="88889"/>
          </a:bodyPr>
          <a:lstStyle/>
          <a:p>
            <a:pPr algn="l">
              <a:defRPr sz="1575" b="1">
                <a:solidFill>
                  <a:srgbClr val="20C7B0"/>
                </a:solidFill>
                <a:latin typeface="DejaVu Sans"/>
                <a:ea typeface="DejaVu Sans"/>
                <a:cs typeface="DejaVu Sans"/>
              </a:defRPr>
            </a:pPr>
            <a:r>
              <a:rPr sz="1575" b="1">
                <a:solidFill>
                  <a:srgbClr val="20C7B0"/>
                </a:solidFill>
                <a:latin typeface="DejaVu Sans"/>
                <a:ea typeface="DejaVu Sans"/>
                <a:cs typeface="DejaVu Sans"/>
              </a:rPr>
              <a:t>Chu trình demo</a:t>
            </a:r>
          </a:p>
        </p:txBody>
      </p:sp>
      <p:sp>
        <p:nvSpPr>
          <p:cNvPr id="6" name="Rectangle 5">
            <a:extLst>
              <a:ext uri="{FF2B5EF4-FFF2-40B4-BE49-F238E27FC236}">
                <a16:creationId xmlns:a16="http://schemas.microsoft.com/office/drawing/2014/main" id="{B7D1171F-B33B-4C36-B47C-A160208A2ABD}"/>
              </a:ext>
            </a:extLst>
          </p:cNvPr>
          <p:cNvSpPr>
            <a:spLocks noGrp="1"/>
          </p:cNvSpPr>
          <p:nvPr/>
        </p:nvSpPr>
        <p:spPr>
          <a:xfrm>
            <a:off x="8620125" y="2095500"/>
            <a:ext cx="2905125" cy="2857500"/>
          </a:xfrm>
          <a:prstGeom prst="rect">
            <a:avLst/>
          </a:prstGeom>
          <a:noFill/>
          <a:ln w="0">
            <a:noFill/>
          </a:ln>
        </p:spPr>
        <p:txBody>
          <a:bodyPr anchor="ctr">
            <a:normAutofit/>
          </a:bodyPr>
          <a:lstStyle/>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1. Mở cổng COM</a:t>
            </a:r>
          </a:p>
          <a:p>
            <a:endParaRPr sz="1350" b="1">
              <a:solidFill>
                <a:srgbClr val="F7FAFC"/>
              </a:solidFill>
              <a:latin typeface="DejaVu Sans"/>
              <a:ea typeface="DejaVu Sans"/>
              <a:cs typeface="DejaVu Sans"/>
            </a:endParaRPr>
          </a:p>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2. GET_ID lấy UID</a:t>
            </a:r>
          </a:p>
          <a:p>
            <a:endParaRPr sz="1350" b="1">
              <a:solidFill>
                <a:srgbClr val="F7FAFC"/>
              </a:solidFill>
              <a:latin typeface="DejaVu Sans"/>
              <a:ea typeface="DejaVu Sans"/>
              <a:cs typeface="DejaVu Sans"/>
            </a:endParaRPr>
          </a:p>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3. Sinh nonce và gửi CHALLENGE</a:t>
            </a:r>
          </a:p>
          <a:p>
            <a:endParaRPr sz="1350" b="1">
              <a:solidFill>
                <a:srgbClr val="F7FAFC"/>
              </a:solidFill>
              <a:latin typeface="DejaVu Sans"/>
              <a:ea typeface="DejaVu Sans"/>
              <a:cs typeface="DejaVu Sans"/>
            </a:endParaRPr>
          </a:p>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4. Nhận AES response từ FPGA</a:t>
            </a:r>
          </a:p>
          <a:p>
            <a:endParaRPr sz="1350" b="1">
              <a:solidFill>
                <a:srgbClr val="F7FAFC"/>
              </a:solidFill>
              <a:latin typeface="DejaVu Sans"/>
              <a:ea typeface="DejaVu Sans"/>
              <a:cs typeface="DejaVu Sans"/>
            </a:endParaRPr>
          </a:p>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5. Máy chủ đối chiếu và trả AUTHENTIC</a:t>
            </a:r>
          </a:p>
        </p:txBody>
      </p:sp>
      <p:sp>
        <p:nvSpPr>
          <p:cNvPr id="7" name="Rectangle 6">
            <a:extLst>
              <a:ext uri="{FF2B5EF4-FFF2-40B4-BE49-F238E27FC236}">
                <a16:creationId xmlns:a16="http://schemas.microsoft.com/office/drawing/2014/main" id="{854876D0-ABCD-4C2F-A4F7-091648725088}"/>
              </a:ext>
            </a:extLst>
          </p:cNvPr>
          <p:cNvSpPr>
            <a:spLocks noGrp="1"/>
          </p:cNvSpPr>
          <p:nvPr/>
        </p:nvSpPr>
        <p:spPr>
          <a:xfrm>
            <a:off x="8620125" y="5191125"/>
            <a:ext cx="2905125" cy="571500"/>
          </a:xfrm>
          <a:prstGeom prst="rect">
            <a:avLst/>
          </a:prstGeom>
          <a:noFill/>
          <a:ln w="0">
            <a:noFill/>
          </a:ln>
        </p:spPr>
        <p:txBody>
          <a:bodyPr anchor="ctr">
            <a:normAutofit fontScale="99063"/>
          </a:bodyPr>
          <a:lstStyle/>
          <a:p>
            <a:pPr algn="l">
              <a:defRPr sz="1125" b="0">
                <a:solidFill>
                  <a:srgbClr val="9FB0BF"/>
                </a:solidFill>
                <a:latin typeface="DejaVu Sans"/>
                <a:ea typeface="DejaVu Sans"/>
                <a:cs typeface="DejaVu Sans"/>
              </a:defRPr>
            </a:pPr>
            <a:r>
              <a:rPr sz="1125" b="0">
                <a:solidFill>
                  <a:srgbClr val="9FB0BF"/>
                </a:solidFill>
                <a:latin typeface="DejaVu Sans"/>
                <a:ea typeface="DejaVu Sans"/>
                <a:cs typeface="DejaVu Sans"/>
              </a:rPr>
              <a:t>Log ban đầu có một lỗi mở COM; lần kết nối sau thành công ở 115200 8N1.</a:t>
            </a:r>
          </a:p>
        </p:txBody>
      </p:sp>
      <p:sp>
        <p:nvSpPr>
          <p:cNvPr id="8" name="Rectangle 7">
            <a:extLst>
              <a:ext uri="{FF2B5EF4-FFF2-40B4-BE49-F238E27FC236}">
                <a16:creationId xmlns:a16="http://schemas.microsoft.com/office/drawing/2014/main" id="{1B6188DD-6B64-4DB3-BE15-8C0B859977D7}"/>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TrueChip  •  Prototype xác thực phần cứng</a:t>
            </a:r>
          </a:p>
        </p:txBody>
      </p:sp>
      <p:sp>
        <p:nvSpPr>
          <p:cNvPr id="9" name="Rectangle 8">
            <a:extLst>
              <a:ext uri="{FF2B5EF4-FFF2-40B4-BE49-F238E27FC236}">
                <a16:creationId xmlns:a16="http://schemas.microsoft.com/office/drawing/2014/main" id="{33DC8141-52F9-4E65-8E40-5081DFD394AF}"/>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11</a:t>
            </a:r>
          </a:p>
        </p:txBody>
      </p:sp>
    </p:spTree>
    <p:extLst>
      <p:ext uri="{BB962C8B-B14F-4D97-AF65-F5344CB8AC3E}">
        <p14:creationId xmlns:p14="http://schemas.microsoft.com/office/powerpoint/2010/main" val="1399482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4998AA-4720-47CD-BE36-28107C110EE0}"/>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87F26D85-3940-4A8D-88FB-98390FC86D82}"/>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Chiến lược kiểm chứng</a:t>
            </a:r>
          </a:p>
        </p:txBody>
      </p:sp>
      <p:sp>
        <p:nvSpPr>
          <p:cNvPr id="3" name="Rectangle 2">
            <a:extLst>
              <a:ext uri="{FF2B5EF4-FFF2-40B4-BE49-F238E27FC236}">
                <a16:creationId xmlns:a16="http://schemas.microsoft.com/office/drawing/2014/main" id="{DF9F9360-CC56-44F1-84E1-203556082FC8}"/>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graphicFrame>
        <p:nvGraphicFramePr>
          <p:cNvPr id="11" name="Table 10"/>
          <p:cNvGraphicFramePr/>
          <p:nvPr/>
        </p:nvGraphicFramePr>
        <p:xfrm>
          <a:off x="571500" y="1476375"/>
          <a:ext cx="11049000" cy="3810000"/>
        </p:xfrm>
        <a:graphic>
          <a:graphicData uri="http://schemas.openxmlformats.org/drawingml/2006/table">
            <a:tbl>
              <a:tblPr/>
              <a:tblGrid>
                <a:gridCol w="17145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5524500">
                  <a:extLst>
                    <a:ext uri="{9D8B030D-6E8A-4147-A177-3AD203B41FA5}">
                      <a16:colId xmlns:a16="http://schemas.microsoft.com/office/drawing/2014/main" val="20002"/>
                    </a:ext>
                  </a:extLst>
                </a:gridCol>
              </a:tblGrid>
              <a:tr h="635000">
                <a:tc>
                  <a:txBody>
                    <a:bodyPr/>
                    <a:lstStyle/>
                    <a:p>
                      <a:r>
                        <a:rPr sz="1275" b="1">
                          <a:solidFill>
                            <a:srgbClr val="F7FAFC"/>
                          </a:solidFill>
                          <a:latin typeface="DejaVu Sans"/>
                          <a:ea typeface="DejaVu Sans"/>
                          <a:cs typeface="DejaVu Sans"/>
                        </a:rPr>
                        <a:t>Tầng</a:t>
                      </a:r>
                    </a:p>
                  </a:txBody>
                  <a:tcPr>
                    <a:solidFill>
                      <a:srgbClr val="071524"/>
                    </a:solidFill>
                  </a:tcPr>
                </a:tc>
                <a:tc>
                  <a:txBody>
                    <a:bodyPr/>
                    <a:lstStyle/>
                    <a:p>
                      <a:r>
                        <a:rPr sz="1275" b="1">
                          <a:solidFill>
                            <a:srgbClr val="F7FAFC"/>
                          </a:solidFill>
                          <a:latin typeface="DejaVu Sans"/>
                          <a:ea typeface="DejaVu Sans"/>
                          <a:cs typeface="DejaVu Sans"/>
                        </a:rPr>
                        <a:t>Mục tiêu</a:t>
                      </a:r>
                    </a:p>
                  </a:txBody>
                  <a:tcPr>
                    <a:solidFill>
                      <a:srgbClr val="071524"/>
                    </a:solidFill>
                  </a:tcPr>
                </a:tc>
                <a:tc>
                  <a:txBody>
                    <a:bodyPr/>
                    <a:lstStyle/>
                    <a:p>
                      <a:r>
                        <a:rPr sz="1275" b="1">
                          <a:solidFill>
                            <a:srgbClr val="F7FAFC"/>
                          </a:solidFill>
                          <a:latin typeface="DejaVu Sans"/>
                          <a:ea typeface="DejaVu Sans"/>
                          <a:cs typeface="DejaVu Sans"/>
                        </a:rPr>
                        <a:t>Minh chứng</a:t>
                      </a:r>
                    </a:p>
                  </a:txBody>
                  <a:tcPr>
                    <a:solidFill>
                      <a:srgbClr val="071524"/>
                    </a:solidFill>
                  </a:tcPr>
                </a:tc>
                <a:extLst>
                  <a:ext uri="{0D108BD9-81ED-4DB2-BD59-A6C34878D82A}">
                    <a16:rowId xmlns:a16="http://schemas.microsoft.com/office/drawing/2014/main" val="10000"/>
                  </a:ext>
                </a:extLst>
              </a:tr>
              <a:tr h="635000">
                <a:tc>
                  <a:txBody>
                    <a:bodyPr/>
                    <a:lstStyle/>
                    <a:p>
                      <a:r>
                        <a:rPr sz="1125" b="1">
                          <a:solidFill>
                            <a:srgbClr val="0E9384"/>
                          </a:solidFill>
                          <a:latin typeface="DejaVu Sans"/>
                          <a:ea typeface="DejaVu Sans"/>
                          <a:cs typeface="DejaVu Sans"/>
                        </a:rPr>
                        <a:t>Unit</a:t>
                      </a:r>
                    </a:p>
                  </a:txBody>
                  <a:tcPr>
                    <a:solidFill>
                      <a:srgbClr val="E7F7F4"/>
                    </a:solidFill>
                  </a:tcPr>
                </a:tc>
                <a:tc>
                  <a:txBody>
                    <a:bodyPr/>
                    <a:lstStyle/>
                    <a:p>
                      <a:r>
                        <a:rPr sz="1125">
                          <a:solidFill>
                            <a:srgbClr val="14202B"/>
                          </a:solidFill>
                          <a:latin typeface="DejaVu Sans"/>
                          <a:ea typeface="DejaVu Sans"/>
                          <a:cs typeface="DejaVu Sans"/>
                        </a:rPr>
                        <a:t>AES, UART, parser, CRC</a:t>
                      </a:r>
                    </a:p>
                  </a:txBody>
                  <a:tcPr/>
                </a:tc>
                <a:tc>
                  <a:txBody>
                    <a:bodyPr/>
                    <a:lstStyle/>
                    <a:p>
                      <a:r>
                        <a:rPr sz="1125">
                          <a:solidFill>
                            <a:srgbClr val="14202B"/>
                          </a:solidFill>
                          <a:latin typeface="DejaVu Sans"/>
                          <a:ea typeface="DejaVu Sans"/>
                          <a:cs typeface="DejaVu Sans"/>
                        </a:rPr>
                        <a:t>Known-answer test, byte loopback, gói đúng/sai</a:t>
                      </a:r>
                    </a:p>
                  </a:txBody>
                  <a:tcPr/>
                </a:tc>
                <a:extLst>
                  <a:ext uri="{0D108BD9-81ED-4DB2-BD59-A6C34878D82A}">
                    <a16:rowId xmlns:a16="http://schemas.microsoft.com/office/drawing/2014/main" val="10001"/>
                  </a:ext>
                </a:extLst>
              </a:tr>
              <a:tr h="635000">
                <a:tc>
                  <a:txBody>
                    <a:bodyPr/>
                    <a:lstStyle/>
                    <a:p>
                      <a:r>
                        <a:rPr sz="1125" b="1">
                          <a:solidFill>
                            <a:srgbClr val="0E9384"/>
                          </a:solidFill>
                          <a:latin typeface="DejaVu Sans"/>
                          <a:ea typeface="DejaVu Sans"/>
                          <a:cs typeface="DejaVu Sans"/>
                        </a:rPr>
                        <a:t>Integration</a:t>
                      </a:r>
                    </a:p>
                  </a:txBody>
                  <a:tcPr>
                    <a:solidFill>
                      <a:srgbClr val="E7F7F4"/>
                    </a:solidFill>
                  </a:tcPr>
                </a:tc>
                <a:tc>
                  <a:txBody>
                    <a:bodyPr/>
                    <a:lstStyle/>
                    <a:p>
                      <a:r>
                        <a:rPr sz="1125">
                          <a:solidFill>
                            <a:srgbClr val="14202B"/>
                          </a:solidFill>
                          <a:latin typeface="DejaVu Sans"/>
                          <a:ea typeface="DejaVu Sans"/>
                          <a:cs typeface="DejaVu Sans"/>
                        </a:rPr>
                        <a:t>FIFO, KDF, Auth FSM</a:t>
                      </a:r>
                    </a:p>
                  </a:txBody>
                  <a:tcPr/>
                </a:tc>
                <a:tc>
                  <a:txBody>
                    <a:bodyPr/>
                    <a:lstStyle/>
                    <a:p>
                      <a:r>
                        <a:rPr sz="1125">
                          <a:solidFill>
                            <a:srgbClr val="14202B"/>
                          </a:solidFill>
                          <a:latin typeface="DejaVu Sans"/>
                          <a:ea typeface="DejaVu Sans"/>
                          <a:cs typeface="DejaVu Sans"/>
                        </a:rPr>
                        <a:t>key_ready, command pulse, AES start/done, response</a:t>
                      </a:r>
                    </a:p>
                  </a:txBody>
                  <a:tcPr/>
                </a:tc>
                <a:extLst>
                  <a:ext uri="{0D108BD9-81ED-4DB2-BD59-A6C34878D82A}">
                    <a16:rowId xmlns:a16="http://schemas.microsoft.com/office/drawing/2014/main" val="10002"/>
                  </a:ext>
                </a:extLst>
              </a:tr>
              <a:tr h="635000">
                <a:tc>
                  <a:txBody>
                    <a:bodyPr/>
                    <a:lstStyle/>
                    <a:p>
                      <a:r>
                        <a:rPr sz="1125" b="1">
                          <a:solidFill>
                            <a:srgbClr val="0E9384"/>
                          </a:solidFill>
                          <a:latin typeface="DejaVu Sans"/>
                          <a:ea typeface="DejaVu Sans"/>
                          <a:cs typeface="DejaVu Sans"/>
                        </a:rPr>
                        <a:t>Protocol</a:t>
                      </a:r>
                    </a:p>
                  </a:txBody>
                  <a:tcPr>
                    <a:solidFill>
                      <a:srgbClr val="E7F7F4"/>
                    </a:solidFill>
                  </a:tcPr>
                </a:tc>
                <a:tc>
                  <a:txBody>
                    <a:bodyPr/>
                    <a:lstStyle/>
                    <a:p>
                      <a:r>
                        <a:rPr sz="1125">
                          <a:solidFill>
                            <a:srgbClr val="14202B"/>
                          </a:solidFill>
                          <a:latin typeface="DejaVu Sans"/>
                          <a:ea typeface="DejaVu Sans"/>
                          <a:cs typeface="DejaVu Sans"/>
                        </a:rPr>
                        <a:t>Replay và rate limit</a:t>
                      </a:r>
                    </a:p>
                  </a:txBody>
                  <a:tcPr/>
                </a:tc>
                <a:tc>
                  <a:txBody>
                    <a:bodyPr/>
                    <a:lstStyle/>
                    <a:p>
                      <a:r>
                        <a:rPr sz="1125">
                          <a:solidFill>
                            <a:srgbClr val="14202B"/>
                          </a:solidFill>
                          <a:latin typeface="DejaVu Sans"/>
                          <a:ea typeface="DejaVu Sans"/>
                          <a:cs typeface="DejaVu Sans"/>
                        </a:rPr>
                        <a:t>Nonce mới, nonce lặp, challenge liên tiếp</a:t>
                      </a:r>
                    </a:p>
                  </a:txBody>
                  <a:tcPr/>
                </a:tc>
                <a:extLst>
                  <a:ext uri="{0D108BD9-81ED-4DB2-BD59-A6C34878D82A}">
                    <a16:rowId xmlns:a16="http://schemas.microsoft.com/office/drawing/2014/main" val="10003"/>
                  </a:ext>
                </a:extLst>
              </a:tr>
              <a:tr h="635000">
                <a:tc>
                  <a:txBody>
                    <a:bodyPr/>
                    <a:lstStyle/>
                    <a:p>
                      <a:r>
                        <a:rPr sz="1125" b="1">
                          <a:solidFill>
                            <a:srgbClr val="0E9384"/>
                          </a:solidFill>
                          <a:latin typeface="DejaVu Sans"/>
                          <a:ea typeface="DejaVu Sans"/>
                          <a:cs typeface="DejaVu Sans"/>
                        </a:rPr>
                        <a:t>Board</a:t>
                      </a:r>
                    </a:p>
                  </a:txBody>
                  <a:tcPr>
                    <a:solidFill>
                      <a:srgbClr val="E7F7F4"/>
                    </a:solidFill>
                  </a:tcPr>
                </a:tc>
                <a:tc>
                  <a:txBody>
                    <a:bodyPr/>
                    <a:lstStyle/>
                    <a:p>
                      <a:r>
                        <a:rPr sz="1125">
                          <a:solidFill>
                            <a:srgbClr val="14202B"/>
                          </a:solidFill>
                          <a:latin typeface="DejaVu Sans"/>
                          <a:ea typeface="DejaVu Sans"/>
                          <a:cs typeface="DejaVu Sans"/>
                        </a:rPr>
                        <a:t>UART thực và web</a:t>
                      </a:r>
                    </a:p>
                  </a:txBody>
                  <a:tcPr/>
                </a:tc>
                <a:tc>
                  <a:txBody>
                    <a:bodyPr/>
                    <a:lstStyle/>
                    <a:p>
                      <a:r>
                        <a:rPr sz="1125">
                          <a:solidFill>
                            <a:srgbClr val="14202B"/>
                          </a:solidFill>
                          <a:latin typeface="DejaVu Sans"/>
                          <a:ea typeface="DejaVu Sans"/>
                          <a:cs typeface="DejaVu Sans"/>
                        </a:rPr>
                        <a:t>Terminal log, SignalTap, giao diện AUTHENTIC</a:t>
                      </a:r>
                    </a:p>
                  </a:txBody>
                  <a:tcPr/>
                </a:tc>
                <a:extLst>
                  <a:ext uri="{0D108BD9-81ED-4DB2-BD59-A6C34878D82A}">
                    <a16:rowId xmlns:a16="http://schemas.microsoft.com/office/drawing/2014/main" val="10004"/>
                  </a:ext>
                </a:extLst>
              </a:tr>
              <a:tr h="635000">
                <a:tc>
                  <a:txBody>
                    <a:bodyPr/>
                    <a:lstStyle/>
                    <a:p>
                      <a:r>
                        <a:rPr sz="1125" b="1">
                          <a:solidFill>
                            <a:srgbClr val="0E9384"/>
                          </a:solidFill>
                          <a:latin typeface="DejaVu Sans"/>
                          <a:ea typeface="DejaVu Sans"/>
                          <a:cs typeface="DejaVu Sans"/>
                        </a:rPr>
                        <a:t>ASIC</a:t>
                      </a:r>
                    </a:p>
                  </a:txBody>
                  <a:tcPr>
                    <a:solidFill>
                      <a:srgbClr val="E7F7F4"/>
                    </a:solidFill>
                  </a:tcPr>
                </a:tc>
                <a:tc>
                  <a:txBody>
                    <a:bodyPr/>
                    <a:lstStyle/>
                    <a:p>
                      <a:r>
                        <a:rPr sz="1125">
                          <a:solidFill>
                            <a:srgbClr val="14202B"/>
                          </a:solidFill>
                          <a:latin typeface="DejaVu Sans"/>
                          <a:ea typeface="DejaVu Sans"/>
                          <a:cs typeface="DejaVu Sans"/>
                        </a:rPr>
                        <a:t>Vật lý và timing</a:t>
                      </a:r>
                    </a:p>
                  </a:txBody>
                  <a:tcPr/>
                </a:tc>
                <a:tc>
                  <a:txBody>
                    <a:bodyPr/>
                    <a:lstStyle/>
                    <a:p>
                      <a:r>
                        <a:rPr sz="1125">
                          <a:solidFill>
                            <a:srgbClr val="14202B"/>
                          </a:solidFill>
                          <a:latin typeface="DejaVu Sans"/>
                          <a:ea typeface="DejaVu Sans"/>
                          <a:cs typeface="DejaVu Sans"/>
                        </a:rPr>
                        <a:t>DRC, LVS, XOR, STA, antenna, ERC</a:t>
                      </a:r>
                    </a:p>
                  </a:txBody>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21795AD2-D1DF-412C-8CE2-10031F372FE5}"/>
              </a:ext>
            </a:extLst>
          </p:cNvPr>
          <p:cNvSpPr>
            <a:spLocks noGrp="1"/>
          </p:cNvSpPr>
          <p:nvPr/>
        </p:nvSpPr>
        <p:spPr>
          <a:xfrm>
            <a:off x="666750" y="5619750"/>
            <a:ext cx="10668000" cy="333375"/>
          </a:xfrm>
          <a:prstGeom prst="rect">
            <a:avLst/>
          </a:prstGeom>
          <a:noFill/>
          <a:ln w="0">
            <a:noFill/>
          </a:ln>
        </p:spPr>
        <p:txBody>
          <a:bodyPr anchor="ctr">
            <a:normAutofit/>
          </a:bodyPr>
          <a:lstStyle/>
          <a:p>
            <a:pPr algn="ctr">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Nguồn sự thật ưu tiên: log chạy thực, waveform và report của đúng run được công bố.</a:t>
            </a:r>
          </a:p>
        </p:txBody>
      </p:sp>
      <p:sp>
        <p:nvSpPr>
          <p:cNvPr id="6" name="Rectangle 5">
            <a:extLst>
              <a:ext uri="{FF2B5EF4-FFF2-40B4-BE49-F238E27FC236}">
                <a16:creationId xmlns:a16="http://schemas.microsoft.com/office/drawing/2014/main" id="{A29FC293-98C3-4C47-9A52-A3FC17A21E7D}"/>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7" name="Rectangle 6">
            <a:extLst>
              <a:ext uri="{FF2B5EF4-FFF2-40B4-BE49-F238E27FC236}">
                <a16:creationId xmlns:a16="http://schemas.microsoft.com/office/drawing/2014/main" id="{1E97D71D-0473-46B5-8628-F0C9D1BB378F}"/>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12</a:t>
            </a:r>
          </a:p>
        </p:txBody>
      </p:sp>
    </p:spTree>
    <p:extLst>
      <p:ext uri="{BB962C8B-B14F-4D97-AF65-F5344CB8AC3E}">
        <p14:creationId xmlns:p14="http://schemas.microsoft.com/office/powerpoint/2010/main" val="713479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FB97C6F-298F-4995-B3A7-9BC1474FB9A4}"/>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A8B88ABD-19EB-4978-94F5-A0E1451674A7}"/>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Kết quả kiểm thử chức năng</a:t>
            </a:r>
          </a:p>
        </p:txBody>
      </p:sp>
      <p:sp>
        <p:nvSpPr>
          <p:cNvPr id="3" name="Rectangle 2">
            <a:extLst>
              <a:ext uri="{FF2B5EF4-FFF2-40B4-BE49-F238E27FC236}">
                <a16:creationId xmlns:a16="http://schemas.microsoft.com/office/drawing/2014/main" id="{A3A6ACF2-85D1-407E-B7A1-38E3D1AD3CE4}"/>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graphicFrame>
        <p:nvGraphicFramePr>
          <p:cNvPr id="12" name="Table 11"/>
          <p:cNvGraphicFramePr/>
          <p:nvPr/>
        </p:nvGraphicFramePr>
        <p:xfrm>
          <a:off x="428625" y="1381125"/>
          <a:ext cx="11334750" cy="3810000"/>
        </p:xfrm>
        <a:graphic>
          <a:graphicData uri="http://schemas.openxmlformats.org/drawingml/2006/table">
            <a:tbl>
              <a:tblPr/>
              <a:tblGrid>
                <a:gridCol w="180975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5095875">
                  <a:extLst>
                    <a:ext uri="{9D8B030D-6E8A-4147-A177-3AD203B41FA5}">
                      <a16:colId xmlns:a16="http://schemas.microsoft.com/office/drawing/2014/main" val="20003"/>
                    </a:ext>
                  </a:extLst>
                </a:gridCol>
              </a:tblGrid>
              <a:tr h="635000">
                <a:tc>
                  <a:txBody>
                    <a:bodyPr/>
                    <a:lstStyle/>
                    <a:p>
                      <a:r>
                        <a:rPr sz="1200" b="1">
                          <a:solidFill>
                            <a:srgbClr val="F7FAFC"/>
                          </a:solidFill>
                          <a:latin typeface="DejaVu Sans"/>
                          <a:ea typeface="DejaVu Sans"/>
                          <a:cs typeface="DejaVu Sans"/>
                        </a:rPr>
                        <a:t>Môi trường</a:t>
                      </a:r>
                    </a:p>
                  </a:txBody>
                  <a:tcPr>
                    <a:solidFill>
                      <a:srgbClr val="071524"/>
                    </a:solidFill>
                  </a:tcPr>
                </a:tc>
                <a:tc>
                  <a:txBody>
                    <a:bodyPr/>
                    <a:lstStyle/>
                    <a:p>
                      <a:r>
                        <a:rPr sz="1200" b="1">
                          <a:solidFill>
                            <a:srgbClr val="F7FAFC"/>
                          </a:solidFill>
                          <a:latin typeface="DejaVu Sans"/>
                          <a:ea typeface="DejaVu Sans"/>
                          <a:cs typeface="DejaVu Sans"/>
                        </a:rPr>
                        <a:t>Nhóm kiểm thử</a:t>
                      </a:r>
                    </a:p>
                  </a:txBody>
                  <a:tcPr>
                    <a:solidFill>
                      <a:srgbClr val="071524"/>
                    </a:solidFill>
                  </a:tcPr>
                </a:tc>
                <a:tc>
                  <a:txBody>
                    <a:bodyPr/>
                    <a:lstStyle/>
                    <a:p>
                      <a:r>
                        <a:rPr sz="1200" b="1">
                          <a:solidFill>
                            <a:srgbClr val="F7FAFC"/>
                          </a:solidFill>
                          <a:latin typeface="DejaVu Sans"/>
                          <a:ea typeface="DejaVu Sans"/>
                          <a:cs typeface="DejaVu Sans"/>
                        </a:rPr>
                        <a:t>Kết quả</a:t>
                      </a:r>
                    </a:p>
                  </a:txBody>
                  <a:tcPr>
                    <a:solidFill>
                      <a:srgbClr val="071524"/>
                    </a:solidFill>
                  </a:tcPr>
                </a:tc>
                <a:tc>
                  <a:txBody>
                    <a:bodyPr/>
                    <a:lstStyle/>
                    <a:p>
                      <a:r>
                        <a:rPr sz="1200" b="1">
                          <a:solidFill>
                            <a:srgbClr val="F7FAFC"/>
                          </a:solidFill>
                          <a:latin typeface="DejaVu Sans"/>
                          <a:ea typeface="DejaVu Sans"/>
                          <a:cs typeface="DejaVu Sans"/>
                        </a:rPr>
                        <a:t>Diễn giải</a:t>
                      </a:r>
                    </a:p>
                  </a:txBody>
                  <a:tcPr>
                    <a:solidFill>
                      <a:srgbClr val="071524"/>
                    </a:solidFill>
                  </a:tcPr>
                </a:tc>
                <a:extLst>
                  <a:ext uri="{0D108BD9-81ED-4DB2-BD59-A6C34878D82A}">
                    <a16:rowId xmlns:a16="http://schemas.microsoft.com/office/drawing/2014/main" val="10000"/>
                  </a:ext>
                </a:extLst>
              </a:tr>
              <a:tr h="635000">
                <a:tc>
                  <a:txBody>
                    <a:bodyPr/>
                    <a:lstStyle/>
                    <a:p>
                      <a:r>
                        <a:rPr sz="1050">
                          <a:solidFill>
                            <a:srgbClr val="14202B"/>
                          </a:solidFill>
                          <a:latin typeface="DejaVu Sans"/>
                          <a:ea typeface="DejaVu Sans"/>
                          <a:cs typeface="DejaVu Sans"/>
                        </a:rPr>
                        <a:t>Icarus Verilog</a:t>
                      </a:r>
                    </a:p>
                  </a:txBody>
                  <a:tcPr/>
                </a:tc>
                <a:tc>
                  <a:txBody>
                    <a:bodyPr/>
                    <a:lstStyle/>
                    <a:p>
                      <a:r>
                        <a:rPr sz="1050">
                          <a:solidFill>
                            <a:srgbClr val="14202B"/>
                          </a:solidFill>
                          <a:latin typeface="DejaVu Sans"/>
                          <a:ea typeface="DejaVu Sans"/>
                          <a:cs typeface="DejaVu Sans"/>
                        </a:rPr>
                        <a:t>Regression RTL</a:t>
                      </a:r>
                    </a:p>
                  </a:txBody>
                  <a:tcPr/>
                </a:tc>
                <a:tc>
                  <a:txBody>
                    <a:bodyPr/>
                    <a:lstStyle/>
                    <a:p>
                      <a:r>
                        <a:rPr sz="1125" b="1">
                          <a:solidFill>
                            <a:srgbClr val="1E9E77"/>
                          </a:solidFill>
                          <a:latin typeface="DejaVu Sans"/>
                          <a:ea typeface="DejaVu Sans"/>
                          <a:cs typeface="DejaVu Sans"/>
                        </a:rPr>
                        <a:t>7 PASS / 0 FAIL</a:t>
                      </a:r>
                    </a:p>
                  </a:txBody>
                  <a:tcPr>
                    <a:solidFill>
                      <a:srgbClr val="DDF5EA"/>
                    </a:solidFill>
                  </a:tcPr>
                </a:tc>
                <a:tc>
                  <a:txBody>
                    <a:bodyPr/>
                    <a:lstStyle/>
                    <a:p>
                      <a:r>
                        <a:rPr sz="1050">
                          <a:solidFill>
                            <a:srgbClr val="14202B"/>
                          </a:solidFill>
                          <a:latin typeface="DejaVu Sans"/>
                          <a:ea typeface="DejaVu Sans"/>
                          <a:cs typeface="DejaVu Sans"/>
                        </a:rPr>
                        <a:t>AES, UART, CRC, replay, rate limit và top-level</a:t>
                      </a:r>
                    </a:p>
                  </a:txBody>
                  <a:tcPr/>
                </a:tc>
                <a:extLst>
                  <a:ext uri="{0D108BD9-81ED-4DB2-BD59-A6C34878D82A}">
                    <a16:rowId xmlns:a16="http://schemas.microsoft.com/office/drawing/2014/main" val="10001"/>
                  </a:ext>
                </a:extLst>
              </a:tr>
              <a:tr h="635000">
                <a:tc>
                  <a:txBody>
                    <a:bodyPr/>
                    <a:lstStyle/>
                    <a:p>
                      <a:r>
                        <a:rPr sz="1050">
                          <a:solidFill>
                            <a:srgbClr val="14202B"/>
                          </a:solidFill>
                          <a:latin typeface="DejaVu Sans"/>
                          <a:ea typeface="DejaVu Sans"/>
                          <a:cs typeface="DejaVu Sans"/>
                        </a:rPr>
                        <a:t>Board / video</a:t>
                      </a:r>
                    </a:p>
                  </a:txBody>
                  <a:tcPr/>
                </a:tc>
                <a:tc>
                  <a:txBody>
                    <a:bodyPr/>
                    <a:lstStyle/>
                    <a:p>
                      <a:r>
                        <a:rPr sz="1050">
                          <a:solidFill>
                            <a:srgbClr val="14202B"/>
                          </a:solidFill>
                          <a:latin typeface="DejaVu Sans"/>
                          <a:ea typeface="DejaVu Sans"/>
                          <a:cs typeface="DejaVu Sans"/>
                        </a:rPr>
                        <a:t>UART positive</a:t>
                      </a:r>
                    </a:p>
                  </a:txBody>
                  <a:tcPr/>
                </a:tc>
                <a:tc>
                  <a:txBody>
                    <a:bodyPr/>
                    <a:lstStyle/>
                    <a:p>
                      <a:r>
                        <a:rPr sz="1125" b="1">
                          <a:solidFill>
                            <a:srgbClr val="1E9E77"/>
                          </a:solidFill>
                          <a:latin typeface="DejaVu Sans"/>
                          <a:ea typeface="DejaVu Sans"/>
                          <a:cs typeface="DejaVu Sans"/>
                        </a:rPr>
                        <a:t>4 PASS / 0 FAIL</a:t>
                      </a:r>
                    </a:p>
                  </a:txBody>
                  <a:tcPr>
                    <a:solidFill>
                      <a:srgbClr val="DDF5EA"/>
                    </a:solidFill>
                  </a:tcPr>
                </a:tc>
                <a:tc>
                  <a:txBody>
                    <a:bodyPr/>
                    <a:lstStyle/>
                    <a:p>
                      <a:r>
                        <a:rPr sz="1050">
                          <a:solidFill>
                            <a:srgbClr val="14202B"/>
                          </a:solidFill>
                          <a:latin typeface="DejaVu Sans"/>
                          <a:ea typeface="DejaVu Sans"/>
                          <a:cs typeface="DejaVu Sans"/>
                        </a:rPr>
                        <a:t>GET_ID và chuỗi lệnh hợp lệ</a:t>
                      </a:r>
                    </a:p>
                  </a:txBody>
                  <a:tcPr/>
                </a:tc>
                <a:extLst>
                  <a:ext uri="{0D108BD9-81ED-4DB2-BD59-A6C34878D82A}">
                    <a16:rowId xmlns:a16="http://schemas.microsoft.com/office/drawing/2014/main" val="10002"/>
                  </a:ext>
                </a:extLst>
              </a:tr>
              <a:tr h="635000">
                <a:tc>
                  <a:txBody>
                    <a:bodyPr/>
                    <a:lstStyle/>
                    <a:p>
                      <a:r>
                        <a:rPr sz="1050">
                          <a:solidFill>
                            <a:srgbClr val="14202B"/>
                          </a:solidFill>
                          <a:latin typeface="DejaVu Sans"/>
                          <a:ea typeface="DejaVu Sans"/>
                          <a:cs typeface="DejaVu Sans"/>
                        </a:rPr>
                        <a:t>Board / video</a:t>
                      </a:r>
                    </a:p>
                  </a:txBody>
                  <a:tcPr/>
                </a:tc>
                <a:tc>
                  <a:txBody>
                    <a:bodyPr/>
                    <a:lstStyle/>
                    <a:p>
                      <a:r>
                        <a:rPr sz="1050">
                          <a:solidFill>
                            <a:srgbClr val="14202B"/>
                          </a:solidFill>
                          <a:latin typeface="DejaVu Sans"/>
                          <a:ea typeface="DejaVu Sans"/>
                          <a:cs typeface="DejaVu Sans"/>
                        </a:rPr>
                        <a:t>UART negative</a:t>
                      </a:r>
                    </a:p>
                  </a:txBody>
                  <a:tcPr/>
                </a:tc>
                <a:tc>
                  <a:txBody>
                    <a:bodyPr/>
                    <a:lstStyle/>
                    <a:p>
                      <a:r>
                        <a:rPr sz="1125" b="1">
                          <a:solidFill>
                            <a:srgbClr val="1E9E77"/>
                          </a:solidFill>
                          <a:latin typeface="DejaVu Sans"/>
                          <a:ea typeface="DejaVu Sans"/>
                          <a:cs typeface="DejaVu Sans"/>
                        </a:rPr>
                        <a:t>20 PASS / 0 FAIL</a:t>
                      </a:r>
                    </a:p>
                  </a:txBody>
                  <a:tcPr>
                    <a:solidFill>
                      <a:srgbClr val="DDF5EA"/>
                    </a:solidFill>
                  </a:tcPr>
                </a:tc>
                <a:tc>
                  <a:txBody>
                    <a:bodyPr/>
                    <a:lstStyle/>
                    <a:p>
                      <a:r>
                        <a:rPr sz="1050">
                          <a:solidFill>
                            <a:srgbClr val="14202B"/>
                          </a:solidFill>
                          <a:latin typeface="DejaVu Sans"/>
                          <a:ea typeface="DejaVu Sans"/>
                          <a:cs typeface="DejaVu Sans"/>
                        </a:rPr>
                        <a:t>Gói lỗi, độ dài sai và phục hồi</a:t>
                      </a:r>
                    </a:p>
                  </a:txBody>
                  <a:tcPr/>
                </a:tc>
                <a:extLst>
                  <a:ext uri="{0D108BD9-81ED-4DB2-BD59-A6C34878D82A}">
                    <a16:rowId xmlns:a16="http://schemas.microsoft.com/office/drawing/2014/main" val="10003"/>
                  </a:ext>
                </a:extLst>
              </a:tr>
              <a:tr h="635000">
                <a:tc>
                  <a:txBody>
                    <a:bodyPr/>
                    <a:lstStyle/>
                    <a:p>
                      <a:r>
                        <a:rPr sz="1050">
                          <a:solidFill>
                            <a:srgbClr val="14202B"/>
                          </a:solidFill>
                          <a:latin typeface="DejaVu Sans"/>
                          <a:ea typeface="DejaVu Sans"/>
                          <a:cs typeface="DejaVu Sans"/>
                        </a:rPr>
                        <a:t>Board / video</a:t>
                      </a:r>
                    </a:p>
                  </a:txBody>
                  <a:tcPr/>
                </a:tc>
                <a:tc>
                  <a:txBody>
                    <a:bodyPr/>
                    <a:lstStyle/>
                    <a:p>
                      <a:r>
                        <a:rPr sz="1050">
                          <a:solidFill>
                            <a:srgbClr val="14202B"/>
                          </a:solidFill>
                          <a:latin typeface="DejaVu Sans"/>
                          <a:ea typeface="DejaVu Sans"/>
                          <a:cs typeface="DejaVu Sans"/>
                        </a:rPr>
                        <a:t>Challenge</a:t>
                      </a:r>
                    </a:p>
                  </a:txBody>
                  <a:tcPr/>
                </a:tc>
                <a:tc>
                  <a:txBody>
                    <a:bodyPr/>
                    <a:lstStyle/>
                    <a:p>
                      <a:r>
                        <a:rPr sz="1125" b="1">
                          <a:solidFill>
                            <a:srgbClr val="D84848"/>
                          </a:solidFill>
                          <a:latin typeface="DejaVu Sans"/>
                          <a:ea typeface="DejaVu Sans"/>
                          <a:cs typeface="DejaVu Sans"/>
                        </a:rPr>
                        <a:t>1 FAIL</a:t>
                      </a:r>
                    </a:p>
                  </a:txBody>
                  <a:tcPr>
                    <a:solidFill>
                      <a:srgbClr val="F9DCDC"/>
                    </a:solidFill>
                  </a:tcPr>
                </a:tc>
                <a:tc>
                  <a:txBody>
                    <a:bodyPr/>
                    <a:lstStyle/>
                    <a:p>
                      <a:r>
                        <a:rPr sz="1050">
                          <a:solidFill>
                            <a:srgbClr val="14202B"/>
                          </a:solidFill>
                          <a:latin typeface="DejaVu Sans"/>
                          <a:ea typeface="DejaVu Sans"/>
                          <a:cs typeface="DejaVu Sans"/>
                        </a:rPr>
                        <a:t>Expected RATE_LIMIT 0x04, got OK 0x00</a:t>
                      </a:r>
                    </a:p>
                  </a:txBody>
                  <a:tcPr/>
                </a:tc>
                <a:extLst>
                  <a:ext uri="{0D108BD9-81ED-4DB2-BD59-A6C34878D82A}">
                    <a16:rowId xmlns:a16="http://schemas.microsoft.com/office/drawing/2014/main" val="10004"/>
                  </a:ext>
                </a:extLst>
              </a:tr>
              <a:tr h="635000">
                <a:tc>
                  <a:txBody>
                    <a:bodyPr/>
                    <a:lstStyle/>
                    <a:p>
                      <a:r>
                        <a:rPr sz="1050">
                          <a:solidFill>
                            <a:srgbClr val="14202B"/>
                          </a:solidFill>
                          <a:latin typeface="DejaVu Sans"/>
                          <a:ea typeface="DejaVu Sans"/>
                          <a:cs typeface="DejaVu Sans"/>
                        </a:rPr>
                        <a:t>Web / video</a:t>
                      </a:r>
                    </a:p>
                  </a:txBody>
                  <a:tcPr/>
                </a:tc>
                <a:tc>
                  <a:txBody>
                    <a:bodyPr/>
                    <a:lstStyle/>
                    <a:p>
                      <a:r>
                        <a:rPr sz="1050">
                          <a:solidFill>
                            <a:srgbClr val="14202B"/>
                          </a:solidFill>
                          <a:latin typeface="DejaVu Sans"/>
                          <a:ea typeface="DejaVu Sans"/>
                          <a:cs typeface="DejaVu Sans"/>
                        </a:rPr>
                        <a:t>Xác thực</a:t>
                      </a:r>
                    </a:p>
                  </a:txBody>
                  <a:tcPr/>
                </a:tc>
                <a:tc>
                  <a:txBody>
                    <a:bodyPr/>
                    <a:lstStyle/>
                    <a:p>
                      <a:r>
                        <a:rPr sz="1125" b="1">
                          <a:solidFill>
                            <a:srgbClr val="0E9384"/>
                          </a:solidFill>
                          <a:latin typeface="DejaVu Sans"/>
                          <a:ea typeface="DejaVu Sans"/>
                          <a:cs typeface="DejaVu Sans"/>
                        </a:rPr>
                        <a:t>AUTHENTIC</a:t>
                      </a:r>
                    </a:p>
                  </a:txBody>
                  <a:tcPr>
                    <a:solidFill>
                      <a:srgbClr val="E7F7F4"/>
                    </a:solidFill>
                  </a:tcPr>
                </a:tc>
                <a:tc>
                  <a:txBody>
                    <a:bodyPr/>
                    <a:lstStyle/>
                    <a:p>
                      <a:r>
                        <a:rPr sz="1050">
                          <a:solidFill>
                            <a:srgbClr val="14202B"/>
                          </a:solidFill>
                          <a:latin typeface="DejaVu Sans"/>
                          <a:ea typeface="DejaVu Sans"/>
                          <a:cs typeface="DejaVu Sans"/>
                        </a:rPr>
                        <a:t>Kết quả của lần quét được ghi hình</a:t>
                      </a:r>
                    </a:p>
                  </a:txBody>
                  <a:tcPr/>
                </a:tc>
                <a:extLst>
                  <a:ext uri="{0D108BD9-81ED-4DB2-BD59-A6C34878D82A}">
                    <a16:rowId xmlns:a16="http://schemas.microsoft.com/office/drawing/2014/main" val="10005"/>
                  </a:ext>
                </a:extLst>
              </a:tr>
            </a:tbl>
          </a:graphicData>
        </a:graphic>
      </p:graphicFrame>
      <p:sp>
        <p:nvSpPr>
          <p:cNvPr id="5" name="Rounded Rectangle 4">
            <a:extLst>
              <a:ext uri="{FF2B5EF4-FFF2-40B4-BE49-F238E27FC236}">
                <a16:creationId xmlns:a16="http://schemas.microsoft.com/office/drawing/2014/main" id="{D141922B-C53E-4830-9397-437797F1DA01}"/>
              </a:ext>
            </a:extLst>
          </p:cNvPr>
          <p:cNvSpPr>
            <a:spLocks noGrp="1"/>
          </p:cNvSpPr>
          <p:nvPr/>
        </p:nvSpPr>
        <p:spPr>
          <a:xfrm>
            <a:off x="428625" y="5495925"/>
            <a:ext cx="11334750" cy="571500"/>
          </a:xfrm>
          <a:prstGeom prst="roundRect">
            <a:avLst>
              <a:gd name="adj" fmla="val 16667"/>
            </a:avLst>
          </a:prstGeom>
          <a:solidFill>
            <a:srgbClr val="FFF6E3"/>
          </a:solidFill>
          <a:ln w="0">
            <a:noFill/>
          </a:ln>
        </p:spPr>
        <p:txBody>
          <a:bodyPr/>
          <a:lstStyle/>
          <a:p>
            <a:endParaRPr lang="en-VN"/>
          </a:p>
        </p:txBody>
      </p:sp>
      <p:sp>
        <p:nvSpPr>
          <p:cNvPr id="6" name="Rectangle 5">
            <a:extLst>
              <a:ext uri="{FF2B5EF4-FFF2-40B4-BE49-F238E27FC236}">
                <a16:creationId xmlns:a16="http://schemas.microsoft.com/office/drawing/2014/main" id="{84DB9D5B-7C4B-4ABC-B767-DEC552E5C9F7}"/>
              </a:ext>
            </a:extLst>
          </p:cNvPr>
          <p:cNvSpPr>
            <a:spLocks noGrp="1"/>
          </p:cNvSpPr>
          <p:nvPr/>
        </p:nvSpPr>
        <p:spPr>
          <a:xfrm>
            <a:off x="647700" y="5591175"/>
            <a:ext cx="10906125" cy="381000"/>
          </a:xfrm>
          <a:prstGeom prst="rect">
            <a:avLst/>
          </a:prstGeom>
          <a:noFill/>
          <a:ln w="0">
            <a:noFill/>
          </a:ln>
        </p:spPr>
        <p:txBody>
          <a:bodyPr anchor="ctr">
            <a:normAutofit fontScale="79167"/>
          </a:bodyPr>
          <a:lstStyle/>
          <a:p>
            <a:pPr algn="l">
              <a:defRPr sz="1200" b="1">
                <a:solidFill>
                  <a:srgbClr val="14202B"/>
                </a:solidFill>
                <a:latin typeface="DejaVu Sans"/>
                <a:ea typeface="DejaVu Sans"/>
                <a:cs typeface="DejaVu Sans"/>
              </a:defRPr>
            </a:pPr>
            <a:r>
              <a:rPr sz="1200" b="1">
                <a:solidFill>
                  <a:srgbClr val="14202B"/>
                </a:solidFill>
                <a:latin typeface="DejaVu Sans"/>
                <a:ea typeface="DejaVu Sans"/>
                <a:cs typeface="DejaVu Sans"/>
              </a:rPr>
              <a:t>Hai kết quả rate limit không mâu thuẫn: mô phỏng PASS, nhưng lần chạy board trong video FAIL. Cần điều tra khác biệt cấu hình, timing hoặc phiên bản bitstream.</a:t>
            </a:r>
          </a:p>
        </p:txBody>
      </p:sp>
      <p:sp>
        <p:nvSpPr>
          <p:cNvPr id="7" name="Rectangle 6">
            <a:extLst>
              <a:ext uri="{FF2B5EF4-FFF2-40B4-BE49-F238E27FC236}">
                <a16:creationId xmlns:a16="http://schemas.microsoft.com/office/drawing/2014/main" id="{EEE80066-0CAB-4782-A5A6-2B8DAF871D73}"/>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8" name="Rectangle 7">
            <a:extLst>
              <a:ext uri="{FF2B5EF4-FFF2-40B4-BE49-F238E27FC236}">
                <a16:creationId xmlns:a16="http://schemas.microsoft.com/office/drawing/2014/main" id="{4DF86E79-CCC2-49B7-A420-7E512278766D}"/>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13</a:t>
            </a:r>
          </a:p>
        </p:txBody>
      </p:sp>
    </p:spTree>
    <p:extLst>
      <p:ext uri="{BB962C8B-B14F-4D97-AF65-F5344CB8AC3E}">
        <p14:creationId xmlns:p14="http://schemas.microsoft.com/office/powerpoint/2010/main" val="755495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524"/>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6E2EDB-8551-4BFA-9015-5E3EB08D1047}"/>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KẾT QUẢ BOARD</a:t>
            </a:r>
          </a:p>
        </p:txBody>
      </p:sp>
      <p:sp>
        <p:nvSpPr>
          <p:cNvPr id="2" name="Rectangle 1">
            <a:extLst>
              <a:ext uri="{FF2B5EF4-FFF2-40B4-BE49-F238E27FC236}">
                <a16:creationId xmlns:a16="http://schemas.microsoft.com/office/drawing/2014/main" id="{FF15BBB9-06B4-493C-AA17-0595176AB2F0}"/>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F7FAFC"/>
                </a:solidFill>
                <a:latin typeface="DejaVu Sans"/>
                <a:ea typeface="DejaVu Sans"/>
                <a:cs typeface="DejaVu Sans"/>
              </a:defRPr>
            </a:pPr>
            <a:r>
              <a:rPr sz="2550" b="1">
                <a:solidFill>
                  <a:srgbClr val="F7FAFC"/>
                </a:solidFill>
                <a:latin typeface="DejaVu Sans"/>
                <a:ea typeface="DejaVu Sans"/>
                <a:cs typeface="DejaVu Sans"/>
              </a:rPr>
              <a:t>Minh chứng UART positive và negative</a:t>
            </a:r>
          </a:p>
        </p:txBody>
      </p:sp>
      <p:sp>
        <p:nvSpPr>
          <p:cNvPr id="3" name="Rectangle 2">
            <a:extLst>
              <a:ext uri="{FF2B5EF4-FFF2-40B4-BE49-F238E27FC236}">
                <a16:creationId xmlns:a16="http://schemas.microsoft.com/office/drawing/2014/main" id="{F281F865-67F3-4E2C-83C4-0067B106BAEC}"/>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pic>
        <p:nvPicPr>
          <p:cNvPr id="14" name="Picture 13"/>
          <p:cNvPicPr>
            <a:picLocks noChangeAspect="1"/>
          </p:cNvPicPr>
          <p:nvPr/>
        </p:nvPicPr>
        <p:blipFill>
          <a:blip r:embed="rId3"/>
          <a:stretch/>
        </p:blipFill>
        <p:spPr>
          <a:xfrm>
            <a:off x="428625" y="1698129"/>
            <a:ext cx="5476875" cy="3080742"/>
          </a:xfrm>
          <a:prstGeom prst="rect">
            <a:avLst/>
          </a:prstGeom>
        </p:spPr>
      </p:pic>
      <p:pic>
        <p:nvPicPr>
          <p:cNvPr id="15" name="Picture 14"/>
          <p:cNvPicPr>
            <a:picLocks noChangeAspect="1"/>
          </p:cNvPicPr>
          <p:nvPr/>
        </p:nvPicPr>
        <p:blipFill>
          <a:blip r:embed="rId4"/>
          <a:stretch/>
        </p:blipFill>
        <p:spPr>
          <a:xfrm>
            <a:off x="6286500" y="1698129"/>
            <a:ext cx="5476875" cy="3080742"/>
          </a:xfrm>
          <a:prstGeom prst="rect">
            <a:avLst/>
          </a:prstGeom>
        </p:spPr>
      </p:pic>
      <p:sp>
        <p:nvSpPr>
          <p:cNvPr id="6" name="Rectangle 5">
            <a:extLst>
              <a:ext uri="{FF2B5EF4-FFF2-40B4-BE49-F238E27FC236}">
                <a16:creationId xmlns:a16="http://schemas.microsoft.com/office/drawing/2014/main" id="{E2FF486B-D7DD-4732-A3C2-16A5D5D44E28}"/>
              </a:ext>
            </a:extLst>
          </p:cNvPr>
          <p:cNvSpPr>
            <a:spLocks noGrp="1"/>
          </p:cNvSpPr>
          <p:nvPr/>
        </p:nvSpPr>
        <p:spPr>
          <a:xfrm>
            <a:off x="428625" y="5286375"/>
            <a:ext cx="5476875" cy="381000"/>
          </a:xfrm>
          <a:prstGeom prst="rect">
            <a:avLst/>
          </a:prstGeom>
          <a:noFill/>
          <a:ln w="0">
            <a:noFill/>
          </a:ln>
        </p:spPr>
        <p:txBody>
          <a:bodyPr anchor="ctr">
            <a:normAutofit/>
          </a:bodyPr>
          <a:lstStyle/>
          <a:p>
            <a:pPr algn="ctr">
              <a:defRPr sz="1650" b="1">
                <a:solidFill>
                  <a:srgbClr val="1E9E77"/>
                </a:solidFill>
                <a:latin typeface="DejaVu Sans"/>
                <a:ea typeface="DejaVu Sans"/>
                <a:cs typeface="DejaVu Sans"/>
              </a:defRPr>
            </a:pPr>
            <a:r>
              <a:rPr sz="1650" b="1">
                <a:solidFill>
                  <a:srgbClr val="1E9E77"/>
                </a:solidFill>
                <a:latin typeface="DejaVu Sans"/>
                <a:ea typeface="DejaVu Sans"/>
                <a:cs typeface="DejaVu Sans"/>
              </a:rPr>
              <a:t>Positive: 4/4</a:t>
            </a:r>
          </a:p>
        </p:txBody>
      </p:sp>
      <p:sp>
        <p:nvSpPr>
          <p:cNvPr id="7" name="Rectangle 6">
            <a:extLst>
              <a:ext uri="{FF2B5EF4-FFF2-40B4-BE49-F238E27FC236}">
                <a16:creationId xmlns:a16="http://schemas.microsoft.com/office/drawing/2014/main" id="{5C9439D4-7C44-4F64-B9C7-42E0EE00D815}"/>
              </a:ext>
            </a:extLst>
          </p:cNvPr>
          <p:cNvSpPr>
            <a:spLocks noGrp="1"/>
          </p:cNvSpPr>
          <p:nvPr/>
        </p:nvSpPr>
        <p:spPr>
          <a:xfrm>
            <a:off x="6286500" y="5286375"/>
            <a:ext cx="5476875" cy="381000"/>
          </a:xfrm>
          <a:prstGeom prst="rect">
            <a:avLst/>
          </a:prstGeom>
          <a:noFill/>
          <a:ln w="0">
            <a:noFill/>
          </a:ln>
        </p:spPr>
        <p:txBody>
          <a:bodyPr anchor="ctr">
            <a:normAutofit/>
          </a:bodyPr>
          <a:lstStyle/>
          <a:p>
            <a:pPr algn="ctr">
              <a:defRPr sz="1650" b="1">
                <a:solidFill>
                  <a:srgbClr val="1E9E77"/>
                </a:solidFill>
                <a:latin typeface="DejaVu Sans"/>
                <a:ea typeface="DejaVu Sans"/>
                <a:cs typeface="DejaVu Sans"/>
              </a:defRPr>
            </a:pPr>
            <a:r>
              <a:rPr sz="1650" b="1">
                <a:solidFill>
                  <a:srgbClr val="1E9E77"/>
                </a:solidFill>
                <a:latin typeface="DejaVu Sans"/>
                <a:ea typeface="DejaVu Sans"/>
                <a:cs typeface="DejaVu Sans"/>
              </a:rPr>
              <a:t>Negative: 20/20</a:t>
            </a:r>
          </a:p>
        </p:txBody>
      </p:sp>
      <p:sp>
        <p:nvSpPr>
          <p:cNvPr id="8" name="Rectangle 7">
            <a:extLst>
              <a:ext uri="{FF2B5EF4-FFF2-40B4-BE49-F238E27FC236}">
                <a16:creationId xmlns:a16="http://schemas.microsoft.com/office/drawing/2014/main" id="{67682CE0-3A08-47B2-8FD5-E9E9A8460B42}"/>
              </a:ext>
            </a:extLst>
          </p:cNvPr>
          <p:cNvSpPr>
            <a:spLocks noGrp="1"/>
          </p:cNvSpPr>
          <p:nvPr/>
        </p:nvSpPr>
        <p:spPr>
          <a:xfrm>
            <a:off x="1143000" y="5953125"/>
            <a:ext cx="9906000" cy="285750"/>
          </a:xfrm>
          <a:prstGeom prst="rect">
            <a:avLst/>
          </a:prstGeom>
          <a:noFill/>
          <a:ln w="0">
            <a:noFill/>
          </a:ln>
        </p:spPr>
        <p:txBody>
          <a:bodyPr anchor="ctr">
            <a:normAutofit/>
          </a:bodyPr>
          <a:lstStyle/>
          <a:p>
            <a:pPr algn="ctr">
              <a:defRPr sz="1200" b="0">
                <a:solidFill>
                  <a:srgbClr val="9FB0BF"/>
                </a:solidFill>
                <a:latin typeface="DejaVu Sans"/>
                <a:ea typeface="DejaVu Sans"/>
                <a:cs typeface="DejaVu Sans"/>
              </a:defRPr>
            </a:pPr>
            <a:r>
              <a:rPr sz="1200" b="0">
                <a:solidFill>
                  <a:srgbClr val="9FB0BF"/>
                </a:solidFill>
                <a:latin typeface="DejaVu Sans"/>
                <a:ea typeface="DejaVu Sans"/>
                <a:cs typeface="DejaVu Sans"/>
              </a:rPr>
              <a:t>Các con số chỉ áp dụng cho đúng script và lần chạy hiển thị trong video.</a:t>
            </a:r>
          </a:p>
        </p:txBody>
      </p:sp>
      <p:sp>
        <p:nvSpPr>
          <p:cNvPr id="9" name="Rectangle 8">
            <a:extLst>
              <a:ext uri="{FF2B5EF4-FFF2-40B4-BE49-F238E27FC236}">
                <a16:creationId xmlns:a16="http://schemas.microsoft.com/office/drawing/2014/main" id="{F1BD82E9-A4F0-475B-AE7C-2EDBE6B131AA}"/>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TrueChip  •  Prototype xác thực phần cứng</a:t>
            </a:r>
          </a:p>
        </p:txBody>
      </p:sp>
      <p:sp>
        <p:nvSpPr>
          <p:cNvPr id="10" name="Rectangle 9">
            <a:extLst>
              <a:ext uri="{FF2B5EF4-FFF2-40B4-BE49-F238E27FC236}">
                <a16:creationId xmlns:a16="http://schemas.microsoft.com/office/drawing/2014/main" id="{F44D1109-61D8-4842-94D5-7B96C44679A4}"/>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14</a:t>
            </a:r>
          </a:p>
        </p:txBody>
      </p:sp>
    </p:spTree>
    <p:extLst>
      <p:ext uri="{BB962C8B-B14F-4D97-AF65-F5344CB8AC3E}">
        <p14:creationId xmlns:p14="http://schemas.microsoft.com/office/powerpoint/2010/main" val="974635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6D668E6-43B9-4B6A-8907-FF82592E8441}"/>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06D3E252-0F0B-4B67-BA1C-8E3DBFA1C718}"/>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Rate limit còn FAIL trên board</a:t>
            </a:r>
          </a:p>
        </p:txBody>
      </p:sp>
      <p:sp>
        <p:nvSpPr>
          <p:cNvPr id="3" name="Rectangle 2">
            <a:extLst>
              <a:ext uri="{FF2B5EF4-FFF2-40B4-BE49-F238E27FC236}">
                <a16:creationId xmlns:a16="http://schemas.microsoft.com/office/drawing/2014/main" id="{DAF44D6B-66D1-47C3-A85F-C453A2AA65E1}"/>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pic>
        <p:nvPicPr>
          <p:cNvPr id="19" name="Picture 18"/>
          <p:cNvPicPr>
            <a:picLocks noChangeAspect="1"/>
          </p:cNvPicPr>
          <p:nvPr/>
        </p:nvPicPr>
        <p:blipFill>
          <a:blip r:embed="rId3"/>
          <a:stretch/>
        </p:blipFill>
        <p:spPr>
          <a:xfrm>
            <a:off x="476250" y="1516559"/>
            <a:ext cx="7477125" cy="4205883"/>
          </a:xfrm>
          <a:prstGeom prst="rect">
            <a:avLst/>
          </a:prstGeom>
        </p:spPr>
      </p:pic>
      <p:sp>
        <p:nvSpPr>
          <p:cNvPr id="5" name="Rounded Rectangle 4">
            <a:extLst>
              <a:ext uri="{FF2B5EF4-FFF2-40B4-BE49-F238E27FC236}">
                <a16:creationId xmlns:a16="http://schemas.microsoft.com/office/drawing/2014/main" id="{3B12479B-DE24-4046-9699-43CA361D2607}"/>
              </a:ext>
            </a:extLst>
          </p:cNvPr>
          <p:cNvSpPr>
            <a:spLocks noGrp="1"/>
          </p:cNvSpPr>
          <p:nvPr/>
        </p:nvSpPr>
        <p:spPr>
          <a:xfrm>
            <a:off x="8334375" y="1571625"/>
            <a:ext cx="3143250" cy="1809750"/>
          </a:xfrm>
          <a:prstGeom prst="roundRect">
            <a:avLst>
              <a:gd name="adj" fmla="val 7368"/>
            </a:avLst>
          </a:prstGeom>
          <a:solidFill>
            <a:srgbClr val="F9DCDC"/>
          </a:solidFill>
          <a:ln w="0">
            <a:noFill/>
          </a:ln>
        </p:spPr>
        <p:txBody>
          <a:bodyPr/>
          <a:lstStyle/>
          <a:p>
            <a:endParaRPr lang="en-VN"/>
          </a:p>
        </p:txBody>
      </p:sp>
      <p:sp>
        <p:nvSpPr>
          <p:cNvPr id="6" name="Rectangle 5">
            <a:extLst>
              <a:ext uri="{FF2B5EF4-FFF2-40B4-BE49-F238E27FC236}">
                <a16:creationId xmlns:a16="http://schemas.microsoft.com/office/drawing/2014/main" id="{A2C45E95-6F67-4235-A616-B4F6170979F1}"/>
              </a:ext>
            </a:extLst>
          </p:cNvPr>
          <p:cNvSpPr>
            <a:spLocks noGrp="1"/>
          </p:cNvSpPr>
          <p:nvPr/>
        </p:nvSpPr>
        <p:spPr>
          <a:xfrm>
            <a:off x="8572500" y="1762125"/>
            <a:ext cx="2667000" cy="266700"/>
          </a:xfrm>
          <a:prstGeom prst="rect">
            <a:avLst/>
          </a:prstGeom>
          <a:noFill/>
          <a:ln w="0">
            <a:noFill/>
          </a:ln>
        </p:spPr>
        <p:txBody>
          <a:bodyPr anchor="ctr">
            <a:normAutofit fontScale="85185"/>
          </a:bodyPr>
          <a:lstStyle/>
          <a:p>
            <a:pPr algn="l">
              <a:defRPr sz="1350" b="1">
                <a:solidFill>
                  <a:srgbClr val="D84848"/>
                </a:solidFill>
                <a:latin typeface="DejaVu Sans"/>
                <a:ea typeface="DejaVu Sans"/>
                <a:cs typeface="DejaVu Sans"/>
              </a:defRPr>
            </a:pPr>
            <a:r>
              <a:rPr sz="1350" b="1">
                <a:solidFill>
                  <a:srgbClr val="D84848"/>
                </a:solidFill>
                <a:latin typeface="DejaVu Sans"/>
                <a:ea typeface="DejaVu Sans"/>
                <a:cs typeface="DejaVu Sans"/>
              </a:rPr>
              <a:t>Kết quả quan sát</a:t>
            </a:r>
          </a:p>
        </p:txBody>
      </p:sp>
      <p:sp>
        <p:nvSpPr>
          <p:cNvPr id="7" name="Rectangle 6">
            <a:extLst>
              <a:ext uri="{FF2B5EF4-FFF2-40B4-BE49-F238E27FC236}">
                <a16:creationId xmlns:a16="http://schemas.microsoft.com/office/drawing/2014/main" id="{6C5F678E-9F72-467F-940C-70682DD316BC}"/>
              </a:ext>
            </a:extLst>
          </p:cNvPr>
          <p:cNvSpPr>
            <a:spLocks noGrp="1"/>
          </p:cNvSpPr>
          <p:nvPr/>
        </p:nvSpPr>
        <p:spPr>
          <a:xfrm>
            <a:off x="8572500" y="2190750"/>
            <a:ext cx="2571750" cy="1000125"/>
          </a:xfrm>
          <a:prstGeom prst="rect">
            <a:avLst/>
          </a:prstGeom>
          <a:noFill/>
          <a:ln w="0">
            <a:noFill/>
          </a:ln>
        </p:spPr>
        <p:txBody>
          <a:bodyPr anchor="ctr">
            <a:normAutofit fontScale="99079"/>
          </a:bodyPr>
          <a:lstStyle/>
          <a:p>
            <a:pPr algn="l">
              <a:defRPr sz="1275" b="1">
                <a:solidFill>
                  <a:srgbClr val="14202B"/>
                </a:solidFill>
                <a:latin typeface="DejaVu Sans"/>
                <a:ea typeface="DejaVu Sans"/>
                <a:cs typeface="DejaVu Sans"/>
              </a:defRPr>
            </a:pPr>
            <a:r>
              <a:rPr sz="1275" b="1">
                <a:solidFill>
                  <a:srgbClr val="14202B"/>
                </a:solidFill>
                <a:latin typeface="DejaVu Sans"/>
                <a:ea typeface="DejaVu Sans"/>
                <a:cs typeface="DejaVu Sans"/>
              </a:rPr>
              <a:t>GET_ID: PASS</a:t>
            </a:r>
          </a:p>
          <a:p>
            <a:pPr algn="l">
              <a:defRPr sz="1275" b="1">
                <a:solidFill>
                  <a:srgbClr val="14202B"/>
                </a:solidFill>
                <a:latin typeface="DejaVu Sans"/>
                <a:ea typeface="DejaVu Sans"/>
                <a:cs typeface="DejaVu Sans"/>
              </a:defRPr>
            </a:pPr>
            <a:r>
              <a:rPr sz="1275" b="1">
                <a:solidFill>
                  <a:srgbClr val="14202B"/>
                </a:solidFill>
                <a:latin typeface="DejaVu Sans"/>
                <a:ea typeface="DejaVu Sans"/>
                <a:cs typeface="DejaVu Sans"/>
              </a:rPr>
              <a:t>Fresh CHALLENGE: PASS</a:t>
            </a:r>
          </a:p>
          <a:p>
            <a:pPr algn="l">
              <a:defRPr sz="1275" b="1">
                <a:solidFill>
                  <a:srgbClr val="14202B"/>
                </a:solidFill>
                <a:latin typeface="DejaVu Sans"/>
                <a:ea typeface="DejaVu Sans"/>
                <a:cs typeface="DejaVu Sans"/>
              </a:defRPr>
            </a:pPr>
            <a:r>
              <a:rPr sz="1275" b="1">
                <a:solidFill>
                  <a:srgbClr val="14202B"/>
                </a:solidFill>
                <a:latin typeface="DejaVu Sans"/>
                <a:ea typeface="DejaVu Sans"/>
                <a:cs typeface="DejaVu Sans"/>
              </a:rPr>
              <a:t>Immediate challenge: FAIL</a:t>
            </a:r>
          </a:p>
          <a:p>
            <a:pPr algn="l">
              <a:defRPr sz="1275" b="1">
                <a:solidFill>
                  <a:srgbClr val="14202B"/>
                </a:solidFill>
                <a:latin typeface="DejaVu Sans"/>
                <a:ea typeface="DejaVu Sans"/>
                <a:cs typeface="DejaVu Sans"/>
              </a:defRPr>
            </a:pPr>
            <a:r>
              <a:rPr sz="1275" b="1">
                <a:solidFill>
                  <a:srgbClr val="14202B"/>
                </a:solidFill>
                <a:latin typeface="DejaVu Sans"/>
                <a:ea typeface="DejaVu Sans"/>
                <a:cs typeface="DejaVu Sans"/>
              </a:rPr>
              <a:t>Expected 0x04, got 0x00</a:t>
            </a:r>
          </a:p>
        </p:txBody>
      </p:sp>
      <p:sp>
        <p:nvSpPr>
          <p:cNvPr id="8" name="Rounded Rectangle 7">
            <a:extLst>
              <a:ext uri="{FF2B5EF4-FFF2-40B4-BE49-F238E27FC236}">
                <a16:creationId xmlns:a16="http://schemas.microsoft.com/office/drawing/2014/main" id="{FEB0BD6E-740E-4DDA-B4DA-DC8E9F4DEA0C}"/>
              </a:ext>
            </a:extLst>
          </p:cNvPr>
          <p:cNvSpPr>
            <a:spLocks noGrp="1"/>
          </p:cNvSpPr>
          <p:nvPr/>
        </p:nvSpPr>
        <p:spPr>
          <a:xfrm>
            <a:off x="8382000" y="3876675"/>
            <a:ext cx="76200" cy="76200"/>
          </a:xfrm>
          <a:prstGeom prst="roundRect">
            <a:avLst>
              <a:gd name="adj" fmla="val 50000"/>
            </a:avLst>
          </a:prstGeom>
          <a:solidFill>
            <a:srgbClr val="D79B2B"/>
          </a:solidFill>
          <a:ln w="0">
            <a:noFill/>
          </a:ln>
        </p:spPr>
        <p:txBody>
          <a:bodyPr/>
          <a:lstStyle/>
          <a:p>
            <a:endParaRPr lang="en-VN"/>
          </a:p>
        </p:txBody>
      </p:sp>
      <p:sp>
        <p:nvSpPr>
          <p:cNvPr id="9" name="Rectangle 8">
            <a:extLst>
              <a:ext uri="{FF2B5EF4-FFF2-40B4-BE49-F238E27FC236}">
                <a16:creationId xmlns:a16="http://schemas.microsoft.com/office/drawing/2014/main" id="{DCD0DAC8-524B-4167-B94F-78FA000303F4}"/>
              </a:ext>
            </a:extLst>
          </p:cNvPr>
          <p:cNvSpPr>
            <a:spLocks noGrp="1"/>
          </p:cNvSpPr>
          <p:nvPr/>
        </p:nvSpPr>
        <p:spPr>
          <a:xfrm>
            <a:off x="8591550" y="3810000"/>
            <a:ext cx="2886075"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Giả thuyết cần kiểm tra</a:t>
            </a:r>
          </a:p>
        </p:txBody>
      </p:sp>
      <p:sp>
        <p:nvSpPr>
          <p:cNvPr id="10" name="Rectangle 9">
            <a:extLst>
              <a:ext uri="{FF2B5EF4-FFF2-40B4-BE49-F238E27FC236}">
                <a16:creationId xmlns:a16="http://schemas.microsoft.com/office/drawing/2014/main" id="{5FA5D516-6CDA-415D-9191-982EC6254FB1}"/>
              </a:ext>
            </a:extLst>
          </p:cNvPr>
          <p:cNvSpPr>
            <a:spLocks noGrp="1"/>
          </p:cNvSpPr>
          <p:nvPr/>
        </p:nvSpPr>
        <p:spPr>
          <a:xfrm>
            <a:off x="8591550" y="4086225"/>
            <a:ext cx="2886075" cy="552450"/>
          </a:xfrm>
          <a:prstGeom prst="rect">
            <a:avLst/>
          </a:prstGeom>
          <a:noFill/>
          <a:ln w="0">
            <a:noFill/>
          </a:ln>
        </p:spPr>
        <p:txBody>
          <a:bodyPr anchor="ctr">
            <a:normAutofit fontScale="89630"/>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Bitstream khác phiên bản RTL, cooldown chưa được nạp, timing phía script hoặc trạng thái reset.</a:t>
            </a:r>
          </a:p>
        </p:txBody>
      </p:sp>
      <p:sp>
        <p:nvSpPr>
          <p:cNvPr id="11" name="Rounded Rectangle 10">
            <a:extLst>
              <a:ext uri="{FF2B5EF4-FFF2-40B4-BE49-F238E27FC236}">
                <a16:creationId xmlns:a16="http://schemas.microsoft.com/office/drawing/2014/main" id="{6A8F3E46-6C2F-42DF-9D7C-3D58248F8B6E}"/>
              </a:ext>
            </a:extLst>
          </p:cNvPr>
          <p:cNvSpPr>
            <a:spLocks noGrp="1"/>
          </p:cNvSpPr>
          <p:nvPr/>
        </p:nvSpPr>
        <p:spPr>
          <a:xfrm>
            <a:off x="8382000" y="4972050"/>
            <a:ext cx="76200" cy="76200"/>
          </a:xfrm>
          <a:prstGeom prst="roundRect">
            <a:avLst>
              <a:gd name="adj" fmla="val 50000"/>
            </a:avLst>
          </a:prstGeom>
          <a:solidFill>
            <a:srgbClr val="20C7B0"/>
          </a:solidFill>
          <a:ln w="0">
            <a:noFill/>
          </a:ln>
        </p:spPr>
        <p:txBody>
          <a:bodyPr/>
          <a:lstStyle/>
          <a:p>
            <a:endParaRPr lang="en-VN"/>
          </a:p>
        </p:txBody>
      </p:sp>
      <p:sp>
        <p:nvSpPr>
          <p:cNvPr id="12" name="Rectangle 11">
            <a:extLst>
              <a:ext uri="{FF2B5EF4-FFF2-40B4-BE49-F238E27FC236}">
                <a16:creationId xmlns:a16="http://schemas.microsoft.com/office/drawing/2014/main" id="{9DA44513-EB56-4047-812A-D8DDA21D0760}"/>
              </a:ext>
            </a:extLst>
          </p:cNvPr>
          <p:cNvSpPr>
            <a:spLocks noGrp="1"/>
          </p:cNvSpPr>
          <p:nvPr/>
        </p:nvSpPr>
        <p:spPr>
          <a:xfrm>
            <a:off x="8591550" y="4905375"/>
            <a:ext cx="2886075"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Cách đóng lỗi</a:t>
            </a:r>
          </a:p>
        </p:txBody>
      </p:sp>
      <p:sp>
        <p:nvSpPr>
          <p:cNvPr id="13" name="Rectangle 12">
            <a:extLst>
              <a:ext uri="{FF2B5EF4-FFF2-40B4-BE49-F238E27FC236}">
                <a16:creationId xmlns:a16="http://schemas.microsoft.com/office/drawing/2014/main" id="{69F35DF6-CD47-41A9-8727-0BFB00B59781}"/>
              </a:ext>
            </a:extLst>
          </p:cNvPr>
          <p:cNvSpPr>
            <a:spLocks noGrp="1"/>
          </p:cNvSpPr>
          <p:nvPr/>
        </p:nvSpPr>
        <p:spPr>
          <a:xfrm>
            <a:off x="8591550" y="5181600"/>
            <a:ext cx="2886075" cy="552450"/>
          </a:xfrm>
          <a:prstGeom prst="rect">
            <a:avLst/>
          </a:prstGeom>
          <a:noFill/>
          <a:ln w="0">
            <a:noFill/>
          </a:ln>
        </p:spPr>
        <p:txBody>
          <a:bodyPr anchor="ctr">
            <a:normAutofit fontScale="89630"/>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Ghi version bitstream, lặp test có timestamp, bắt SignalTap ở trạng thái rate-limit và đối chiếu với regression.</a:t>
            </a:r>
          </a:p>
        </p:txBody>
      </p:sp>
      <p:sp>
        <p:nvSpPr>
          <p:cNvPr id="14" name="Rectangle 13">
            <a:extLst>
              <a:ext uri="{FF2B5EF4-FFF2-40B4-BE49-F238E27FC236}">
                <a16:creationId xmlns:a16="http://schemas.microsoft.com/office/drawing/2014/main" id="{814A967D-9E47-4253-B7A1-1DCF72428A02}"/>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15" name="Rectangle 14">
            <a:extLst>
              <a:ext uri="{FF2B5EF4-FFF2-40B4-BE49-F238E27FC236}">
                <a16:creationId xmlns:a16="http://schemas.microsoft.com/office/drawing/2014/main" id="{47564C17-844A-4C87-892A-53B0F5C91423}"/>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15</a:t>
            </a:r>
          </a:p>
        </p:txBody>
      </p:sp>
    </p:spTree>
    <p:extLst>
      <p:ext uri="{BB962C8B-B14F-4D97-AF65-F5344CB8AC3E}">
        <p14:creationId xmlns:p14="http://schemas.microsoft.com/office/powerpoint/2010/main" val="423714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52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418F87B-C426-4E8C-9408-F690B85A7889}"/>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BẢO MẬT</a:t>
            </a:r>
          </a:p>
        </p:txBody>
      </p:sp>
      <p:sp>
        <p:nvSpPr>
          <p:cNvPr id="2" name="Rectangle 1">
            <a:extLst>
              <a:ext uri="{FF2B5EF4-FFF2-40B4-BE49-F238E27FC236}">
                <a16:creationId xmlns:a16="http://schemas.microsoft.com/office/drawing/2014/main" id="{C299C78C-8136-4D6A-959D-04DFACF12451}"/>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F7FAFC"/>
                </a:solidFill>
                <a:latin typeface="DejaVu Sans"/>
                <a:ea typeface="DejaVu Sans"/>
                <a:cs typeface="DejaVu Sans"/>
              </a:defRPr>
            </a:pPr>
            <a:r>
              <a:rPr sz="2550" b="1">
                <a:solidFill>
                  <a:srgbClr val="F7FAFC"/>
                </a:solidFill>
                <a:latin typeface="DejaVu Sans"/>
                <a:ea typeface="DejaVu Sans"/>
                <a:cs typeface="DejaVu Sans"/>
              </a:rPr>
              <a:t>Đánh giá bảo mật hiện tại</a:t>
            </a:r>
          </a:p>
        </p:txBody>
      </p:sp>
      <p:sp>
        <p:nvSpPr>
          <p:cNvPr id="3" name="Rectangle 2">
            <a:extLst>
              <a:ext uri="{FF2B5EF4-FFF2-40B4-BE49-F238E27FC236}">
                <a16:creationId xmlns:a16="http://schemas.microsoft.com/office/drawing/2014/main" id="{56FAA47C-D8E5-4E5C-8D08-695A69BE5DF7}"/>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graphicFrame>
        <p:nvGraphicFramePr>
          <p:cNvPr id="11" name="Table 10"/>
          <p:cNvGraphicFramePr/>
          <p:nvPr/>
        </p:nvGraphicFramePr>
        <p:xfrm>
          <a:off x="495300" y="1381125"/>
          <a:ext cx="11201400" cy="4048128"/>
        </p:xfrm>
        <a:graphic>
          <a:graphicData uri="http://schemas.openxmlformats.org/drawingml/2006/table">
            <a:tbl>
              <a:tblPr/>
              <a:tblGrid>
                <a:gridCol w="247650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6772275">
                  <a:extLst>
                    <a:ext uri="{9D8B030D-6E8A-4147-A177-3AD203B41FA5}">
                      <a16:colId xmlns:a16="http://schemas.microsoft.com/office/drawing/2014/main" val="20002"/>
                    </a:ext>
                  </a:extLst>
                </a:gridCol>
              </a:tblGrid>
              <a:tr h="578304">
                <a:tc>
                  <a:txBody>
                    <a:bodyPr/>
                    <a:lstStyle/>
                    <a:p>
                      <a:r>
                        <a:rPr sz="1200" b="1">
                          <a:solidFill>
                            <a:srgbClr val="F7FAFC"/>
                          </a:solidFill>
                          <a:latin typeface="DejaVu Sans"/>
                          <a:ea typeface="DejaVu Sans"/>
                          <a:cs typeface="DejaVu Sans"/>
                        </a:rPr>
                        <a:t>Cơ chế</a:t>
                      </a:r>
                    </a:p>
                  </a:txBody>
                  <a:tcPr>
                    <a:solidFill>
                      <a:srgbClr val="0E9384"/>
                    </a:solidFill>
                  </a:tcPr>
                </a:tc>
                <a:tc>
                  <a:txBody>
                    <a:bodyPr/>
                    <a:lstStyle/>
                    <a:p>
                      <a:r>
                        <a:rPr sz="1200" b="1">
                          <a:solidFill>
                            <a:srgbClr val="F7FAFC"/>
                          </a:solidFill>
                          <a:latin typeface="DejaVu Sans"/>
                          <a:ea typeface="DejaVu Sans"/>
                          <a:cs typeface="DejaVu Sans"/>
                        </a:rPr>
                        <a:t>Trạng thái</a:t>
                      </a:r>
                    </a:p>
                  </a:txBody>
                  <a:tcPr>
                    <a:solidFill>
                      <a:srgbClr val="0E9384"/>
                    </a:solidFill>
                  </a:tcPr>
                </a:tc>
                <a:tc>
                  <a:txBody>
                    <a:bodyPr/>
                    <a:lstStyle/>
                    <a:p>
                      <a:r>
                        <a:rPr sz="1200" b="1">
                          <a:solidFill>
                            <a:srgbClr val="F7FAFC"/>
                          </a:solidFill>
                          <a:latin typeface="DejaVu Sans"/>
                          <a:ea typeface="DejaVu Sans"/>
                          <a:cs typeface="DejaVu Sans"/>
                        </a:rPr>
                        <a:t>Ý nghĩa</a:t>
                      </a:r>
                    </a:p>
                  </a:txBody>
                  <a:tcPr>
                    <a:solidFill>
                      <a:srgbClr val="0E9384"/>
                    </a:solidFill>
                  </a:tcPr>
                </a:tc>
                <a:extLst>
                  <a:ext uri="{0D108BD9-81ED-4DB2-BD59-A6C34878D82A}">
                    <a16:rowId xmlns:a16="http://schemas.microsoft.com/office/drawing/2014/main" val="10000"/>
                  </a:ext>
                </a:extLst>
              </a:tr>
              <a:tr h="578304">
                <a:tc>
                  <a:txBody>
                    <a:bodyPr/>
                    <a:lstStyle/>
                    <a:p>
                      <a:r>
                        <a:rPr sz="1050">
                          <a:solidFill>
                            <a:srgbClr val="F7FAFC"/>
                          </a:solidFill>
                          <a:latin typeface="DejaVu Sans"/>
                          <a:ea typeface="DejaVu Sans"/>
                          <a:cs typeface="DejaVu Sans"/>
                        </a:rPr>
                        <a:t>CRC request</a:t>
                      </a:r>
                    </a:p>
                  </a:txBody>
                  <a:tcPr>
                    <a:solidFill>
                      <a:srgbClr val="0B2133"/>
                    </a:solidFill>
                  </a:tcPr>
                </a:tc>
                <a:tc>
                  <a:txBody>
                    <a:bodyPr/>
                    <a:lstStyle/>
                    <a:p>
                      <a:r>
                        <a:rPr sz="1050" b="1">
                          <a:solidFill>
                            <a:srgbClr val="20C7B0"/>
                          </a:solidFill>
                          <a:latin typeface="DejaVu Sans"/>
                          <a:ea typeface="DejaVu Sans"/>
                          <a:cs typeface="DejaVu Sans"/>
                        </a:rPr>
                        <a:t>Có</a:t>
                      </a:r>
                    </a:p>
                  </a:txBody>
                  <a:tcPr>
                    <a:solidFill>
                      <a:srgbClr val="0B2133"/>
                    </a:solidFill>
                  </a:tcPr>
                </a:tc>
                <a:tc>
                  <a:txBody>
                    <a:bodyPr/>
                    <a:lstStyle/>
                    <a:p>
                      <a:r>
                        <a:rPr sz="1050">
                          <a:solidFill>
                            <a:srgbClr val="F7FAFC"/>
                          </a:solidFill>
                          <a:latin typeface="DejaVu Sans"/>
                          <a:ea typeface="DejaVu Sans"/>
                          <a:cs typeface="DejaVu Sans"/>
                        </a:rPr>
                        <a:t>Loại gói lỗi trước Auth FSM; không thay thế MAC</a:t>
                      </a:r>
                    </a:p>
                  </a:txBody>
                  <a:tcPr>
                    <a:solidFill>
                      <a:srgbClr val="0B2133"/>
                    </a:solidFill>
                  </a:tcPr>
                </a:tc>
                <a:extLst>
                  <a:ext uri="{0D108BD9-81ED-4DB2-BD59-A6C34878D82A}">
                    <a16:rowId xmlns:a16="http://schemas.microsoft.com/office/drawing/2014/main" val="10001"/>
                  </a:ext>
                </a:extLst>
              </a:tr>
              <a:tr h="578304">
                <a:tc>
                  <a:txBody>
                    <a:bodyPr/>
                    <a:lstStyle/>
                    <a:p>
                      <a:r>
                        <a:rPr sz="1050">
                          <a:solidFill>
                            <a:srgbClr val="F7FAFC"/>
                          </a:solidFill>
                          <a:latin typeface="DejaVu Sans"/>
                          <a:ea typeface="DejaVu Sans"/>
                          <a:cs typeface="DejaVu Sans"/>
                        </a:rPr>
                        <a:t>Replay history</a:t>
                      </a:r>
                    </a:p>
                  </a:txBody>
                  <a:tcPr>
                    <a:solidFill>
                      <a:srgbClr val="0B2133"/>
                    </a:solidFill>
                  </a:tcPr>
                </a:tc>
                <a:tc>
                  <a:txBody>
                    <a:bodyPr/>
                    <a:lstStyle/>
                    <a:p>
                      <a:r>
                        <a:rPr sz="1050" b="1">
                          <a:solidFill>
                            <a:srgbClr val="20C7B0"/>
                          </a:solidFill>
                          <a:latin typeface="DejaVu Sans"/>
                          <a:ea typeface="DejaVu Sans"/>
                          <a:cs typeface="DejaVu Sans"/>
                        </a:rPr>
                        <a:t>Có</a:t>
                      </a:r>
                    </a:p>
                  </a:txBody>
                  <a:tcPr>
                    <a:solidFill>
                      <a:srgbClr val="0B2133"/>
                    </a:solidFill>
                  </a:tcPr>
                </a:tc>
                <a:tc>
                  <a:txBody>
                    <a:bodyPr/>
                    <a:lstStyle/>
                    <a:p>
                      <a:r>
                        <a:rPr sz="1050">
                          <a:solidFill>
                            <a:srgbClr val="F7FAFC"/>
                          </a:solidFill>
                          <a:latin typeface="DejaVu Sans"/>
                          <a:ea typeface="DejaVu Sans"/>
                          <a:cs typeface="DejaVu Sans"/>
                        </a:rPr>
                        <a:t>Chặn nonce đã dùng trong cửa sổ lưu</a:t>
                      </a:r>
                    </a:p>
                  </a:txBody>
                  <a:tcPr>
                    <a:solidFill>
                      <a:srgbClr val="0B2133"/>
                    </a:solidFill>
                  </a:tcPr>
                </a:tc>
                <a:extLst>
                  <a:ext uri="{0D108BD9-81ED-4DB2-BD59-A6C34878D82A}">
                    <a16:rowId xmlns:a16="http://schemas.microsoft.com/office/drawing/2014/main" val="10002"/>
                  </a:ext>
                </a:extLst>
              </a:tr>
              <a:tr h="578304">
                <a:tc>
                  <a:txBody>
                    <a:bodyPr/>
                    <a:lstStyle/>
                    <a:p>
                      <a:r>
                        <a:rPr sz="1050">
                          <a:solidFill>
                            <a:srgbClr val="F7FAFC"/>
                          </a:solidFill>
                          <a:latin typeface="DejaVu Sans"/>
                          <a:ea typeface="DejaVu Sans"/>
                          <a:cs typeface="DejaVu Sans"/>
                        </a:rPr>
                        <a:t>Cooldown</a:t>
                      </a:r>
                    </a:p>
                  </a:txBody>
                  <a:tcPr>
                    <a:solidFill>
                      <a:srgbClr val="0B2133"/>
                    </a:solidFill>
                  </a:tcPr>
                </a:tc>
                <a:tc>
                  <a:txBody>
                    <a:bodyPr/>
                    <a:lstStyle/>
                    <a:p>
                      <a:r>
                        <a:rPr sz="1050" b="1">
                          <a:solidFill>
                            <a:srgbClr val="20C7B0"/>
                          </a:solidFill>
                          <a:latin typeface="DejaVu Sans"/>
                          <a:ea typeface="DejaVu Sans"/>
                          <a:cs typeface="DejaVu Sans"/>
                        </a:rPr>
                        <a:t>Có trong RTL</a:t>
                      </a:r>
                    </a:p>
                  </a:txBody>
                  <a:tcPr>
                    <a:solidFill>
                      <a:srgbClr val="0B2133"/>
                    </a:solidFill>
                  </a:tcPr>
                </a:tc>
                <a:tc>
                  <a:txBody>
                    <a:bodyPr/>
                    <a:lstStyle/>
                    <a:p>
                      <a:r>
                        <a:rPr sz="1050">
                          <a:solidFill>
                            <a:srgbClr val="F7FAFC"/>
                          </a:solidFill>
                          <a:latin typeface="DejaVu Sans"/>
                          <a:ea typeface="DejaVu Sans"/>
                          <a:cs typeface="DejaVu Sans"/>
                        </a:rPr>
                        <a:t>Board video còn FAIL ở phép thử rate limit</a:t>
                      </a:r>
                    </a:p>
                  </a:txBody>
                  <a:tcPr>
                    <a:solidFill>
                      <a:srgbClr val="0B2133"/>
                    </a:solidFill>
                  </a:tcPr>
                </a:tc>
                <a:extLst>
                  <a:ext uri="{0D108BD9-81ED-4DB2-BD59-A6C34878D82A}">
                    <a16:rowId xmlns:a16="http://schemas.microsoft.com/office/drawing/2014/main" val="10003"/>
                  </a:ext>
                </a:extLst>
              </a:tr>
              <a:tr h="578304">
                <a:tc>
                  <a:txBody>
                    <a:bodyPr/>
                    <a:lstStyle/>
                    <a:p>
                      <a:r>
                        <a:rPr sz="1050">
                          <a:solidFill>
                            <a:srgbClr val="F7FAFC"/>
                          </a:solidFill>
                          <a:latin typeface="DejaVu Sans"/>
                          <a:ea typeface="DejaVu Sans"/>
                          <a:cs typeface="DejaVu Sans"/>
                        </a:rPr>
                        <a:t>Khóa</a:t>
                      </a:r>
                    </a:p>
                  </a:txBody>
                  <a:tcPr>
                    <a:solidFill>
                      <a:srgbClr val="0B2133"/>
                    </a:solidFill>
                  </a:tcPr>
                </a:tc>
                <a:tc>
                  <a:txBody>
                    <a:bodyPr/>
                    <a:lstStyle/>
                    <a:p>
                      <a:r>
                        <a:rPr sz="1050" b="1">
                          <a:solidFill>
                            <a:srgbClr val="20C7B0"/>
                          </a:solidFill>
                          <a:latin typeface="DejaVu Sans"/>
                          <a:ea typeface="DejaVu Sans"/>
                          <a:cs typeface="DejaVu Sans"/>
                        </a:rPr>
                        <a:t>Prototype</a:t>
                      </a:r>
                    </a:p>
                  </a:txBody>
                  <a:tcPr>
                    <a:solidFill>
                      <a:srgbClr val="0B2133"/>
                    </a:solidFill>
                  </a:tcPr>
                </a:tc>
                <a:tc>
                  <a:txBody>
                    <a:bodyPr/>
                    <a:lstStyle/>
                    <a:p>
                      <a:r>
                        <a:rPr sz="1050">
                          <a:solidFill>
                            <a:srgbClr val="F7FAFC"/>
                          </a:solidFill>
                          <a:latin typeface="DejaVu Sans"/>
                          <a:ea typeface="DejaVu Sans"/>
                          <a:cs typeface="DejaVu Sans"/>
                        </a:rPr>
                        <a:t>master_key cố định; diversified key phải giữ kín</a:t>
                      </a:r>
                    </a:p>
                  </a:txBody>
                  <a:tcPr>
                    <a:solidFill>
                      <a:srgbClr val="0B2133"/>
                    </a:solidFill>
                  </a:tcPr>
                </a:tc>
                <a:extLst>
                  <a:ext uri="{0D108BD9-81ED-4DB2-BD59-A6C34878D82A}">
                    <a16:rowId xmlns:a16="http://schemas.microsoft.com/office/drawing/2014/main" val="10004"/>
                  </a:ext>
                </a:extLst>
              </a:tr>
              <a:tr h="578304">
                <a:tc>
                  <a:txBody>
                    <a:bodyPr/>
                    <a:lstStyle/>
                    <a:p>
                      <a:r>
                        <a:rPr sz="1050">
                          <a:solidFill>
                            <a:srgbClr val="F7FAFC"/>
                          </a:solidFill>
                          <a:latin typeface="DejaVu Sans"/>
                          <a:ea typeface="DejaVu Sans"/>
                          <a:cs typeface="DejaVu Sans"/>
                        </a:rPr>
                        <a:t>PUF reliability</a:t>
                      </a:r>
                    </a:p>
                  </a:txBody>
                  <a:tcPr>
                    <a:solidFill>
                      <a:srgbClr val="0B2133"/>
                    </a:solidFill>
                  </a:tcPr>
                </a:tc>
                <a:tc>
                  <a:txBody>
                    <a:bodyPr/>
                    <a:lstStyle/>
                    <a:p>
                      <a:r>
                        <a:rPr sz="1050" b="1">
                          <a:solidFill>
                            <a:srgbClr val="20C7B0"/>
                          </a:solidFill>
                          <a:latin typeface="DejaVu Sans"/>
                          <a:ea typeface="DejaVu Sans"/>
                          <a:cs typeface="DejaVu Sans"/>
                        </a:rPr>
                        <a:t>Chưa đủ</a:t>
                      </a:r>
                    </a:p>
                  </a:txBody>
                  <a:tcPr>
                    <a:solidFill>
                      <a:srgbClr val="0B2133"/>
                    </a:solidFill>
                  </a:tcPr>
                </a:tc>
                <a:tc>
                  <a:txBody>
                    <a:bodyPr/>
                    <a:lstStyle/>
                    <a:p>
                      <a:r>
                        <a:rPr sz="1050">
                          <a:solidFill>
                            <a:srgbClr val="F7FAFC"/>
                          </a:solidFill>
                          <a:latin typeface="DejaVu Sans"/>
                          <a:ea typeface="DejaVu Sans"/>
                          <a:cs typeface="DejaVu Sans"/>
                        </a:rPr>
                        <a:t>Intra-device HD trung bình 12,23%; cần ECC hoặc mask</a:t>
                      </a:r>
                    </a:p>
                  </a:txBody>
                  <a:tcPr>
                    <a:solidFill>
                      <a:srgbClr val="0B2133"/>
                    </a:solidFill>
                  </a:tcPr>
                </a:tc>
                <a:extLst>
                  <a:ext uri="{0D108BD9-81ED-4DB2-BD59-A6C34878D82A}">
                    <a16:rowId xmlns:a16="http://schemas.microsoft.com/office/drawing/2014/main" val="10005"/>
                  </a:ext>
                </a:extLst>
              </a:tr>
              <a:tr h="578304">
                <a:tc>
                  <a:txBody>
                    <a:bodyPr/>
                    <a:lstStyle/>
                    <a:p>
                      <a:r>
                        <a:rPr sz="1050">
                          <a:solidFill>
                            <a:srgbClr val="F7FAFC"/>
                          </a:solidFill>
                          <a:latin typeface="DejaVu Sans"/>
                          <a:ea typeface="DejaVu Sans"/>
                          <a:cs typeface="DejaVu Sans"/>
                        </a:rPr>
                        <a:t>Message authentication</a:t>
                      </a:r>
                    </a:p>
                  </a:txBody>
                  <a:tcPr>
                    <a:solidFill>
                      <a:srgbClr val="0B2133"/>
                    </a:solidFill>
                  </a:tcPr>
                </a:tc>
                <a:tc>
                  <a:txBody>
                    <a:bodyPr/>
                    <a:lstStyle/>
                    <a:p>
                      <a:r>
                        <a:rPr sz="1050" b="1">
                          <a:solidFill>
                            <a:srgbClr val="20C7B0"/>
                          </a:solidFill>
                          <a:latin typeface="DejaVu Sans"/>
                          <a:ea typeface="DejaVu Sans"/>
                          <a:cs typeface="DejaVu Sans"/>
                        </a:rPr>
                        <a:t>Hạn chế</a:t>
                      </a:r>
                    </a:p>
                  </a:txBody>
                  <a:tcPr>
                    <a:solidFill>
                      <a:srgbClr val="0B2133"/>
                    </a:solidFill>
                  </a:tcPr>
                </a:tc>
                <a:tc>
                  <a:txBody>
                    <a:bodyPr/>
                    <a:lstStyle/>
                    <a:p>
                      <a:r>
                        <a:rPr sz="1050">
                          <a:solidFill>
                            <a:srgbClr val="F7FAFC"/>
                          </a:solidFill>
                          <a:latin typeface="DejaVu Sans"/>
                          <a:ea typeface="DejaVu Sans"/>
                          <a:cs typeface="DejaVu Sans"/>
                        </a:rPr>
                        <a:t>AES một block; hướng phát triển là AES-CMAC</a:t>
                      </a:r>
                    </a:p>
                  </a:txBody>
                  <a:tcPr>
                    <a:solidFill>
                      <a:srgbClr val="0B2133"/>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50A8E029-E861-4057-BBC0-ED25D4DD311A}"/>
              </a:ext>
            </a:extLst>
          </p:cNvPr>
          <p:cNvSpPr>
            <a:spLocks noGrp="1"/>
          </p:cNvSpPr>
          <p:nvPr/>
        </p:nvSpPr>
        <p:spPr>
          <a:xfrm>
            <a:off x="666750" y="5762625"/>
            <a:ext cx="10858500" cy="323850"/>
          </a:xfrm>
          <a:prstGeom prst="rect">
            <a:avLst/>
          </a:prstGeom>
          <a:noFill/>
          <a:ln w="0">
            <a:noFill/>
          </a:ln>
        </p:spPr>
        <p:txBody>
          <a:bodyPr anchor="ctr">
            <a:normAutofit/>
          </a:bodyPr>
          <a:lstStyle/>
          <a:p>
            <a:pPr algn="ctr">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Giới hạn được công bố rõ giúp phân biệt năng lực prototype với yêu cầu production.</a:t>
            </a:r>
          </a:p>
        </p:txBody>
      </p:sp>
      <p:sp>
        <p:nvSpPr>
          <p:cNvPr id="6" name="Rectangle 5">
            <a:extLst>
              <a:ext uri="{FF2B5EF4-FFF2-40B4-BE49-F238E27FC236}">
                <a16:creationId xmlns:a16="http://schemas.microsoft.com/office/drawing/2014/main" id="{B77034BB-A9B8-4895-A689-FFFE1D112EFF}"/>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TrueChip  •  Prototype xác thực phần cứng</a:t>
            </a:r>
          </a:p>
        </p:txBody>
      </p:sp>
      <p:sp>
        <p:nvSpPr>
          <p:cNvPr id="7" name="Rectangle 6">
            <a:extLst>
              <a:ext uri="{FF2B5EF4-FFF2-40B4-BE49-F238E27FC236}">
                <a16:creationId xmlns:a16="http://schemas.microsoft.com/office/drawing/2014/main" id="{2EEBB136-D3E8-44BF-A93A-8F2225719DF3}"/>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16</a:t>
            </a:r>
          </a:p>
        </p:txBody>
      </p:sp>
    </p:spTree>
    <p:extLst>
      <p:ext uri="{BB962C8B-B14F-4D97-AF65-F5344CB8AC3E}">
        <p14:creationId xmlns:p14="http://schemas.microsoft.com/office/powerpoint/2010/main" val="1395971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833B7ED-E2BD-469D-8769-C251E75BB69B}"/>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D7030DF7-417B-484F-BD38-CEA722DB7704}"/>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Hardening lõi bảo mật số trên SKY130A</a:t>
            </a:r>
          </a:p>
        </p:txBody>
      </p:sp>
      <p:sp>
        <p:nvSpPr>
          <p:cNvPr id="3" name="Rectangle 2">
            <a:extLst>
              <a:ext uri="{FF2B5EF4-FFF2-40B4-BE49-F238E27FC236}">
                <a16:creationId xmlns:a16="http://schemas.microsoft.com/office/drawing/2014/main" id="{EB061A1C-7D22-42D1-8606-18B2D1F4FD92}"/>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pic>
        <p:nvPicPr>
          <p:cNvPr id="19" name="Picture 18"/>
          <p:cNvPicPr>
            <a:picLocks noChangeAspect="1"/>
          </p:cNvPicPr>
          <p:nvPr/>
        </p:nvPicPr>
        <p:blipFill>
          <a:blip r:embed="rId3"/>
          <a:stretch/>
        </p:blipFill>
        <p:spPr>
          <a:xfrm>
            <a:off x="476250" y="1605855"/>
            <a:ext cx="6905625" cy="3884414"/>
          </a:xfrm>
          <a:prstGeom prst="rect">
            <a:avLst/>
          </a:prstGeom>
        </p:spPr>
      </p:pic>
      <p:sp>
        <p:nvSpPr>
          <p:cNvPr id="5" name="Rounded Rectangle 4">
            <a:extLst>
              <a:ext uri="{FF2B5EF4-FFF2-40B4-BE49-F238E27FC236}">
                <a16:creationId xmlns:a16="http://schemas.microsoft.com/office/drawing/2014/main" id="{449954B3-50C0-43DF-B638-B8E544BD0333}"/>
              </a:ext>
            </a:extLst>
          </p:cNvPr>
          <p:cNvSpPr>
            <a:spLocks noGrp="1"/>
          </p:cNvSpPr>
          <p:nvPr/>
        </p:nvSpPr>
        <p:spPr>
          <a:xfrm>
            <a:off x="7953375" y="1733550"/>
            <a:ext cx="76200" cy="76200"/>
          </a:xfrm>
          <a:prstGeom prst="roundRect">
            <a:avLst>
              <a:gd name="adj" fmla="val 50000"/>
            </a:avLst>
          </a:prstGeom>
          <a:solidFill>
            <a:srgbClr val="20C7B0"/>
          </a:solidFill>
          <a:ln w="0">
            <a:noFill/>
          </a:ln>
        </p:spPr>
        <p:txBody>
          <a:bodyPr/>
          <a:lstStyle/>
          <a:p>
            <a:endParaRPr lang="en-VN"/>
          </a:p>
        </p:txBody>
      </p:sp>
      <p:sp>
        <p:nvSpPr>
          <p:cNvPr id="6" name="Rectangle 5">
            <a:extLst>
              <a:ext uri="{FF2B5EF4-FFF2-40B4-BE49-F238E27FC236}">
                <a16:creationId xmlns:a16="http://schemas.microsoft.com/office/drawing/2014/main" id="{792E3100-DEFD-4F87-9FA2-5E179B46CE5C}"/>
              </a:ext>
            </a:extLst>
          </p:cNvPr>
          <p:cNvSpPr>
            <a:spLocks noGrp="1"/>
          </p:cNvSpPr>
          <p:nvPr/>
        </p:nvSpPr>
        <p:spPr>
          <a:xfrm>
            <a:off x="8162925" y="1666875"/>
            <a:ext cx="3314700"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Phạm vi layout</a:t>
            </a:r>
          </a:p>
        </p:txBody>
      </p:sp>
      <p:sp>
        <p:nvSpPr>
          <p:cNvPr id="7" name="Rectangle 6">
            <a:extLst>
              <a:ext uri="{FF2B5EF4-FFF2-40B4-BE49-F238E27FC236}">
                <a16:creationId xmlns:a16="http://schemas.microsoft.com/office/drawing/2014/main" id="{5028707E-6DB2-4468-AFEE-7DFEEBFF2CDB}"/>
              </a:ext>
            </a:extLst>
          </p:cNvPr>
          <p:cNvSpPr>
            <a:spLocks noGrp="1"/>
          </p:cNvSpPr>
          <p:nvPr/>
        </p:nvSpPr>
        <p:spPr>
          <a:xfrm>
            <a:off x="8162925" y="1943100"/>
            <a:ext cx="3314700" cy="552450"/>
          </a:xfrm>
          <a:prstGeom prst="rect">
            <a:avLst/>
          </a:prstGeom>
          <a:noFill/>
          <a:ln w="0">
            <a:noFill/>
          </a:ln>
        </p:spPr>
        <p:txBody>
          <a:bodyPr anchor="ctr">
            <a:normAutofit/>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secure_asic_top chứa lõi số AES/UART. RO-PUF ASIC chưa nằm trong layout này.</a:t>
            </a:r>
          </a:p>
        </p:txBody>
      </p:sp>
      <p:sp>
        <p:nvSpPr>
          <p:cNvPr id="8" name="Rounded Rectangle 7">
            <a:extLst>
              <a:ext uri="{FF2B5EF4-FFF2-40B4-BE49-F238E27FC236}">
                <a16:creationId xmlns:a16="http://schemas.microsoft.com/office/drawing/2014/main" id="{AD50137B-6F03-4C49-9605-7BBA9D8D69E8}"/>
              </a:ext>
            </a:extLst>
          </p:cNvPr>
          <p:cNvSpPr>
            <a:spLocks noGrp="1"/>
          </p:cNvSpPr>
          <p:nvPr/>
        </p:nvSpPr>
        <p:spPr>
          <a:xfrm>
            <a:off x="7953375" y="3067050"/>
            <a:ext cx="76200" cy="76200"/>
          </a:xfrm>
          <a:prstGeom prst="roundRect">
            <a:avLst>
              <a:gd name="adj" fmla="val 50000"/>
            </a:avLst>
          </a:prstGeom>
          <a:solidFill>
            <a:srgbClr val="20C7B0"/>
          </a:solidFill>
          <a:ln w="0">
            <a:noFill/>
          </a:ln>
        </p:spPr>
        <p:txBody>
          <a:bodyPr/>
          <a:lstStyle/>
          <a:p>
            <a:endParaRPr lang="en-VN"/>
          </a:p>
        </p:txBody>
      </p:sp>
      <p:sp>
        <p:nvSpPr>
          <p:cNvPr id="9" name="Rectangle 8">
            <a:extLst>
              <a:ext uri="{FF2B5EF4-FFF2-40B4-BE49-F238E27FC236}">
                <a16:creationId xmlns:a16="http://schemas.microsoft.com/office/drawing/2014/main" id="{BCFC426E-1BB6-45A3-8190-7846C496B29F}"/>
              </a:ext>
            </a:extLst>
          </p:cNvPr>
          <p:cNvSpPr>
            <a:spLocks noGrp="1"/>
          </p:cNvSpPr>
          <p:nvPr/>
        </p:nvSpPr>
        <p:spPr>
          <a:xfrm>
            <a:off x="8162925" y="3000375"/>
            <a:ext cx="3314700"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Luồng công cụ</a:t>
            </a:r>
          </a:p>
        </p:txBody>
      </p:sp>
      <p:sp>
        <p:nvSpPr>
          <p:cNvPr id="10" name="Rectangle 9">
            <a:extLst>
              <a:ext uri="{FF2B5EF4-FFF2-40B4-BE49-F238E27FC236}">
                <a16:creationId xmlns:a16="http://schemas.microsoft.com/office/drawing/2014/main" id="{FD53C765-4008-4A4A-B1A9-93FC7AED21F6}"/>
              </a:ext>
            </a:extLst>
          </p:cNvPr>
          <p:cNvSpPr>
            <a:spLocks noGrp="1"/>
          </p:cNvSpPr>
          <p:nvPr/>
        </p:nvSpPr>
        <p:spPr>
          <a:xfrm>
            <a:off x="8162925" y="3276600"/>
            <a:ext cx="3314700" cy="552450"/>
          </a:xfrm>
          <a:prstGeom prst="rect">
            <a:avLst/>
          </a:prstGeom>
          <a:noFill/>
          <a:ln w="0">
            <a:noFill/>
          </a:ln>
        </p:spPr>
        <p:txBody>
          <a:bodyPr anchor="ctr">
            <a:normAutofit fontScale="89630"/>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OpenLane và PDK SKY130A tạo netlist, placement, clock tree, routing và báo cáo signoff.</a:t>
            </a:r>
          </a:p>
        </p:txBody>
      </p:sp>
      <p:sp>
        <p:nvSpPr>
          <p:cNvPr id="11" name="Rounded Rectangle 10">
            <a:extLst>
              <a:ext uri="{FF2B5EF4-FFF2-40B4-BE49-F238E27FC236}">
                <a16:creationId xmlns:a16="http://schemas.microsoft.com/office/drawing/2014/main" id="{2DB4AD69-0892-42FF-B1F8-1D32CAB6C22F}"/>
              </a:ext>
            </a:extLst>
          </p:cNvPr>
          <p:cNvSpPr>
            <a:spLocks noGrp="1"/>
          </p:cNvSpPr>
          <p:nvPr/>
        </p:nvSpPr>
        <p:spPr>
          <a:xfrm>
            <a:off x="7953375" y="4400550"/>
            <a:ext cx="76200" cy="76200"/>
          </a:xfrm>
          <a:prstGeom prst="roundRect">
            <a:avLst>
              <a:gd name="adj" fmla="val 50000"/>
            </a:avLst>
          </a:prstGeom>
          <a:solidFill>
            <a:srgbClr val="20C7B0"/>
          </a:solidFill>
          <a:ln w="0">
            <a:noFill/>
          </a:ln>
        </p:spPr>
        <p:txBody>
          <a:bodyPr/>
          <a:lstStyle/>
          <a:p>
            <a:endParaRPr lang="en-VN"/>
          </a:p>
        </p:txBody>
      </p:sp>
      <p:sp>
        <p:nvSpPr>
          <p:cNvPr id="12" name="Rectangle 11">
            <a:extLst>
              <a:ext uri="{FF2B5EF4-FFF2-40B4-BE49-F238E27FC236}">
                <a16:creationId xmlns:a16="http://schemas.microsoft.com/office/drawing/2014/main" id="{95660FEE-142D-40DF-9E95-84C4056C01FD}"/>
              </a:ext>
            </a:extLst>
          </p:cNvPr>
          <p:cNvSpPr>
            <a:spLocks noGrp="1"/>
          </p:cNvSpPr>
          <p:nvPr/>
        </p:nvSpPr>
        <p:spPr>
          <a:xfrm>
            <a:off x="8162925" y="4333875"/>
            <a:ext cx="3314700" cy="266700"/>
          </a:xfrm>
          <a:prstGeom prst="rect">
            <a:avLst/>
          </a:prstGeom>
          <a:noFill/>
          <a:ln w="0">
            <a:noFill/>
          </a:ln>
        </p:spPr>
        <p:txBody>
          <a:bodyPr anchor="ctr">
            <a:normAutofit fontScale="85185"/>
          </a:bodyPr>
          <a:lstStyle/>
          <a:p>
            <a:pPr algn="l">
              <a:defRPr sz="1350" b="1">
                <a:solidFill>
                  <a:srgbClr val="14202B"/>
                </a:solidFill>
                <a:latin typeface="DejaVu Sans"/>
                <a:ea typeface="DejaVu Sans"/>
                <a:cs typeface="DejaVu Sans"/>
              </a:defRPr>
            </a:pPr>
            <a:r>
              <a:rPr sz="1350" b="1">
                <a:solidFill>
                  <a:srgbClr val="14202B"/>
                </a:solidFill>
                <a:latin typeface="DejaVu Sans"/>
                <a:ea typeface="DejaVu Sans"/>
                <a:cs typeface="DejaVu Sans"/>
              </a:rPr>
              <a:t>Giới hạn vật lý</a:t>
            </a:r>
          </a:p>
        </p:txBody>
      </p:sp>
      <p:sp>
        <p:nvSpPr>
          <p:cNvPr id="13" name="Rectangle 12">
            <a:extLst>
              <a:ext uri="{FF2B5EF4-FFF2-40B4-BE49-F238E27FC236}">
                <a16:creationId xmlns:a16="http://schemas.microsoft.com/office/drawing/2014/main" id="{DD2E5E7E-5D27-42C5-B272-BA3454507F1F}"/>
              </a:ext>
            </a:extLst>
          </p:cNvPr>
          <p:cNvSpPr>
            <a:spLocks noGrp="1"/>
          </p:cNvSpPr>
          <p:nvPr/>
        </p:nvSpPr>
        <p:spPr>
          <a:xfrm>
            <a:off x="8162925" y="4610100"/>
            <a:ext cx="3314700" cy="552450"/>
          </a:xfrm>
          <a:prstGeom prst="rect">
            <a:avLst/>
          </a:prstGeom>
          <a:noFill/>
          <a:ln w="0">
            <a:noFill/>
          </a:ln>
        </p:spPr>
        <p:txBody>
          <a:bodyPr anchor="ctr">
            <a:normAutofit fontScale="89630"/>
          </a:bodyPr>
          <a:lstStyle/>
          <a:p>
            <a:pPr algn="l">
              <a:defRPr sz="1125" b="0">
                <a:solidFill>
                  <a:srgbClr val="4E6271"/>
                </a:solidFill>
                <a:latin typeface="DejaVu Sans"/>
                <a:ea typeface="DejaVu Sans"/>
                <a:cs typeface="DejaVu Sans"/>
              </a:defRPr>
            </a:pPr>
            <a:r>
              <a:rPr sz="1125" b="0">
                <a:solidFill>
                  <a:srgbClr val="4E6271"/>
                </a:solidFill>
                <a:latin typeface="DejaVu Sans"/>
                <a:ea typeface="DejaVu Sans"/>
                <a:cs typeface="DejaVu Sans"/>
              </a:rPr>
              <a:t>Chưa có pad ring. IR-drop dùng vị trí nguồn giả định; worst IR drop 21,7 mV trên 1,8 V, khoảng 1,2%.</a:t>
            </a:r>
          </a:p>
        </p:txBody>
      </p:sp>
      <p:sp>
        <p:nvSpPr>
          <p:cNvPr id="14" name="Rectangle 13">
            <a:extLst>
              <a:ext uri="{FF2B5EF4-FFF2-40B4-BE49-F238E27FC236}">
                <a16:creationId xmlns:a16="http://schemas.microsoft.com/office/drawing/2014/main" id="{6A81CDE2-B0EC-4370-9E55-248768E27534}"/>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15" name="Rectangle 14">
            <a:extLst>
              <a:ext uri="{FF2B5EF4-FFF2-40B4-BE49-F238E27FC236}">
                <a16:creationId xmlns:a16="http://schemas.microsoft.com/office/drawing/2014/main" id="{4A2C57D8-51EA-48FD-B670-FB5D7CC9F78D}"/>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17</a:t>
            </a:r>
          </a:p>
        </p:txBody>
      </p:sp>
    </p:spTree>
    <p:extLst>
      <p:ext uri="{BB962C8B-B14F-4D97-AF65-F5344CB8AC3E}">
        <p14:creationId xmlns:p14="http://schemas.microsoft.com/office/powerpoint/2010/main" val="1134009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D9AE19A-2357-462A-B240-3D51647FBD89}"/>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52ADE614-91FC-47F3-8D9C-BCD035FD4173}"/>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Kết quả signoff của run_5</a:t>
            </a:r>
          </a:p>
        </p:txBody>
      </p:sp>
      <p:sp>
        <p:nvSpPr>
          <p:cNvPr id="3" name="Rectangle 2">
            <a:extLst>
              <a:ext uri="{FF2B5EF4-FFF2-40B4-BE49-F238E27FC236}">
                <a16:creationId xmlns:a16="http://schemas.microsoft.com/office/drawing/2014/main" id="{D0EC02FC-E398-41ED-B519-2FB231C342A5}"/>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graphicFrame>
        <p:nvGraphicFramePr>
          <p:cNvPr id="11" name="Table 10"/>
          <p:cNvGraphicFramePr/>
          <p:nvPr/>
        </p:nvGraphicFramePr>
        <p:xfrm>
          <a:off x="523875" y="1285875"/>
          <a:ext cx="11144250" cy="4667247"/>
        </p:xfrm>
        <a:graphic>
          <a:graphicData uri="http://schemas.openxmlformats.org/drawingml/2006/table">
            <a:tbl>
              <a:tblPr/>
              <a:tblGrid>
                <a:gridCol w="3381375">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5048250">
                  <a:extLst>
                    <a:ext uri="{9D8B030D-6E8A-4147-A177-3AD203B41FA5}">
                      <a16:colId xmlns:a16="http://schemas.microsoft.com/office/drawing/2014/main" val="20002"/>
                    </a:ext>
                  </a:extLst>
                </a:gridCol>
              </a:tblGrid>
              <a:tr h="518583">
                <a:tc>
                  <a:txBody>
                    <a:bodyPr/>
                    <a:lstStyle/>
                    <a:p>
                      <a:r>
                        <a:rPr sz="1200" b="1">
                          <a:solidFill>
                            <a:srgbClr val="F7FAFC"/>
                          </a:solidFill>
                          <a:latin typeface="DejaVu Sans"/>
                          <a:ea typeface="DejaVu Sans"/>
                          <a:cs typeface="DejaVu Sans"/>
                        </a:rPr>
                        <a:t>Hạng mục</a:t>
                      </a:r>
                    </a:p>
                  </a:txBody>
                  <a:tcPr>
                    <a:solidFill>
                      <a:srgbClr val="071524"/>
                    </a:solidFill>
                  </a:tcPr>
                </a:tc>
                <a:tc>
                  <a:txBody>
                    <a:bodyPr/>
                    <a:lstStyle/>
                    <a:p>
                      <a:r>
                        <a:rPr sz="1200" b="1">
                          <a:solidFill>
                            <a:srgbClr val="F7FAFC"/>
                          </a:solidFill>
                          <a:latin typeface="DejaVu Sans"/>
                          <a:ea typeface="DejaVu Sans"/>
                          <a:cs typeface="DejaVu Sans"/>
                        </a:rPr>
                        <a:t>Công cụ</a:t>
                      </a:r>
                    </a:p>
                  </a:txBody>
                  <a:tcPr>
                    <a:solidFill>
                      <a:srgbClr val="071524"/>
                    </a:solidFill>
                  </a:tcPr>
                </a:tc>
                <a:tc>
                  <a:txBody>
                    <a:bodyPr/>
                    <a:lstStyle/>
                    <a:p>
                      <a:r>
                        <a:rPr sz="1200" b="1">
                          <a:solidFill>
                            <a:srgbClr val="F7FAFC"/>
                          </a:solidFill>
                          <a:latin typeface="DejaVu Sans"/>
                          <a:ea typeface="DejaVu Sans"/>
                          <a:cs typeface="DejaVu Sans"/>
                        </a:rPr>
                        <a:t>Kết quả</a:t>
                      </a:r>
                    </a:p>
                  </a:txBody>
                  <a:tcPr>
                    <a:solidFill>
                      <a:srgbClr val="071524"/>
                    </a:solidFill>
                  </a:tcPr>
                </a:tc>
                <a:extLst>
                  <a:ext uri="{0D108BD9-81ED-4DB2-BD59-A6C34878D82A}">
                    <a16:rowId xmlns:a16="http://schemas.microsoft.com/office/drawing/2014/main" val="10000"/>
                  </a:ext>
                </a:extLst>
              </a:tr>
              <a:tr h="518583">
                <a:tc>
                  <a:txBody>
                    <a:bodyPr/>
                    <a:lstStyle/>
                    <a:p>
                      <a:r>
                        <a:rPr sz="1050">
                          <a:solidFill>
                            <a:srgbClr val="14202B"/>
                          </a:solidFill>
                          <a:latin typeface="DejaVu Sans"/>
                          <a:ea typeface="DejaVu Sans"/>
                          <a:cs typeface="DejaVu Sans"/>
                        </a:rPr>
                        <a:t>Detailed-route DRC</a:t>
                      </a:r>
                    </a:p>
                  </a:txBody>
                  <a:tcPr/>
                </a:tc>
                <a:tc>
                  <a:txBody>
                    <a:bodyPr/>
                    <a:lstStyle/>
                    <a:p>
                      <a:r>
                        <a:rPr sz="1050">
                          <a:solidFill>
                            <a:srgbClr val="14202B"/>
                          </a:solidFill>
                          <a:latin typeface="DejaVu Sans"/>
                          <a:ea typeface="DejaVu Sans"/>
                          <a:cs typeface="DejaVu Sans"/>
                        </a:rPr>
                        <a:t>TritonRoute</a:t>
                      </a:r>
                    </a:p>
                  </a:txBody>
                  <a:tcPr/>
                </a:tc>
                <a:tc>
                  <a:txBody>
                    <a:bodyPr/>
                    <a:lstStyle/>
                    <a:p>
                      <a:r>
                        <a:rPr sz="1050" b="1">
                          <a:solidFill>
                            <a:srgbClr val="1E9E77"/>
                          </a:solidFill>
                          <a:latin typeface="DejaVu Sans"/>
                          <a:ea typeface="DejaVu Sans"/>
                          <a:cs typeface="DejaVu Sans"/>
                        </a:rPr>
                        <a:t>0 vi phạm</a:t>
                      </a:r>
                    </a:p>
                  </a:txBody>
                  <a:tcPr>
                    <a:solidFill>
                      <a:srgbClr val="DDF5EA"/>
                    </a:solidFill>
                  </a:tcPr>
                </a:tc>
                <a:extLst>
                  <a:ext uri="{0D108BD9-81ED-4DB2-BD59-A6C34878D82A}">
                    <a16:rowId xmlns:a16="http://schemas.microsoft.com/office/drawing/2014/main" val="10001"/>
                  </a:ext>
                </a:extLst>
              </a:tr>
              <a:tr h="518583">
                <a:tc>
                  <a:txBody>
                    <a:bodyPr/>
                    <a:lstStyle/>
                    <a:p>
                      <a:r>
                        <a:rPr sz="1050">
                          <a:solidFill>
                            <a:srgbClr val="14202B"/>
                          </a:solidFill>
                          <a:latin typeface="DejaVu Sans"/>
                          <a:ea typeface="DejaVu Sans"/>
                          <a:cs typeface="DejaVu Sans"/>
                        </a:rPr>
                        <a:t>Physical DRC</a:t>
                      </a:r>
                    </a:p>
                  </a:txBody>
                  <a:tcPr/>
                </a:tc>
                <a:tc>
                  <a:txBody>
                    <a:bodyPr/>
                    <a:lstStyle/>
                    <a:p>
                      <a:r>
                        <a:rPr sz="1050">
                          <a:solidFill>
                            <a:srgbClr val="14202B"/>
                          </a:solidFill>
                          <a:latin typeface="DejaVu Sans"/>
                          <a:ea typeface="DejaVu Sans"/>
                          <a:cs typeface="DejaVu Sans"/>
                        </a:rPr>
                        <a:t>Magic / KLayout</a:t>
                      </a:r>
                    </a:p>
                  </a:txBody>
                  <a:tcPr/>
                </a:tc>
                <a:tc>
                  <a:txBody>
                    <a:bodyPr/>
                    <a:lstStyle/>
                    <a:p>
                      <a:r>
                        <a:rPr sz="1050" b="1">
                          <a:solidFill>
                            <a:srgbClr val="1E9E77"/>
                          </a:solidFill>
                          <a:latin typeface="DejaVu Sans"/>
                          <a:ea typeface="DejaVu Sans"/>
                          <a:cs typeface="DejaVu Sans"/>
                        </a:rPr>
                        <a:t>0 / 0 vi phạm</a:t>
                      </a:r>
                    </a:p>
                  </a:txBody>
                  <a:tcPr>
                    <a:solidFill>
                      <a:srgbClr val="DDF5EA"/>
                    </a:solidFill>
                  </a:tcPr>
                </a:tc>
                <a:extLst>
                  <a:ext uri="{0D108BD9-81ED-4DB2-BD59-A6C34878D82A}">
                    <a16:rowId xmlns:a16="http://schemas.microsoft.com/office/drawing/2014/main" val="10002"/>
                  </a:ext>
                </a:extLst>
              </a:tr>
              <a:tr h="518583">
                <a:tc>
                  <a:txBody>
                    <a:bodyPr/>
                    <a:lstStyle/>
                    <a:p>
                      <a:r>
                        <a:rPr sz="1050">
                          <a:solidFill>
                            <a:srgbClr val="14202B"/>
                          </a:solidFill>
                          <a:latin typeface="DejaVu Sans"/>
                          <a:ea typeface="DejaVu Sans"/>
                          <a:cs typeface="DejaVu Sans"/>
                        </a:rPr>
                        <a:t>LVS</a:t>
                      </a:r>
                    </a:p>
                  </a:txBody>
                  <a:tcPr/>
                </a:tc>
                <a:tc>
                  <a:txBody>
                    <a:bodyPr/>
                    <a:lstStyle/>
                    <a:p>
                      <a:r>
                        <a:rPr sz="1050">
                          <a:solidFill>
                            <a:srgbClr val="14202B"/>
                          </a:solidFill>
                          <a:latin typeface="DejaVu Sans"/>
                          <a:ea typeface="DejaVu Sans"/>
                          <a:cs typeface="DejaVu Sans"/>
                        </a:rPr>
                        <a:t>Netgen</a:t>
                      </a:r>
                    </a:p>
                  </a:txBody>
                  <a:tcPr/>
                </a:tc>
                <a:tc>
                  <a:txBody>
                    <a:bodyPr/>
                    <a:lstStyle/>
                    <a:p>
                      <a:r>
                        <a:rPr sz="1050" b="1">
                          <a:solidFill>
                            <a:srgbClr val="1E9E77"/>
                          </a:solidFill>
                          <a:latin typeface="DejaVu Sans"/>
                          <a:ea typeface="DejaVu Sans"/>
                          <a:cs typeface="DejaVu Sans"/>
                        </a:rPr>
                        <a:t>0 lỗi</a:t>
                      </a:r>
                    </a:p>
                  </a:txBody>
                  <a:tcPr>
                    <a:solidFill>
                      <a:srgbClr val="DDF5EA"/>
                    </a:solidFill>
                  </a:tcPr>
                </a:tc>
                <a:extLst>
                  <a:ext uri="{0D108BD9-81ED-4DB2-BD59-A6C34878D82A}">
                    <a16:rowId xmlns:a16="http://schemas.microsoft.com/office/drawing/2014/main" val="10003"/>
                  </a:ext>
                </a:extLst>
              </a:tr>
              <a:tr h="518583">
                <a:tc>
                  <a:txBody>
                    <a:bodyPr/>
                    <a:lstStyle/>
                    <a:p>
                      <a:r>
                        <a:rPr sz="1050">
                          <a:solidFill>
                            <a:srgbClr val="14202B"/>
                          </a:solidFill>
                          <a:latin typeface="DejaVu Sans"/>
                          <a:ea typeface="DejaVu Sans"/>
                          <a:cs typeface="DejaVu Sans"/>
                        </a:rPr>
                        <a:t>Layout XOR</a:t>
                      </a:r>
                    </a:p>
                  </a:txBody>
                  <a:tcPr/>
                </a:tc>
                <a:tc>
                  <a:txBody>
                    <a:bodyPr/>
                    <a:lstStyle/>
                    <a:p>
                      <a:r>
                        <a:rPr sz="1050">
                          <a:solidFill>
                            <a:srgbClr val="14202B"/>
                          </a:solidFill>
                          <a:latin typeface="DejaVu Sans"/>
                          <a:ea typeface="DejaVu Sans"/>
                          <a:cs typeface="DejaVu Sans"/>
                        </a:rPr>
                        <a:t>KLayout</a:t>
                      </a:r>
                    </a:p>
                  </a:txBody>
                  <a:tcPr/>
                </a:tc>
                <a:tc>
                  <a:txBody>
                    <a:bodyPr/>
                    <a:lstStyle/>
                    <a:p>
                      <a:r>
                        <a:rPr sz="1050" b="1">
                          <a:solidFill>
                            <a:srgbClr val="1E9E77"/>
                          </a:solidFill>
                          <a:latin typeface="DejaVu Sans"/>
                          <a:ea typeface="DejaVu Sans"/>
                          <a:cs typeface="DejaVu Sans"/>
                        </a:rPr>
                        <a:t>0 khác biệt</a:t>
                      </a:r>
                    </a:p>
                  </a:txBody>
                  <a:tcPr>
                    <a:solidFill>
                      <a:srgbClr val="DDF5EA"/>
                    </a:solidFill>
                  </a:tcPr>
                </a:tc>
                <a:extLst>
                  <a:ext uri="{0D108BD9-81ED-4DB2-BD59-A6C34878D82A}">
                    <a16:rowId xmlns:a16="http://schemas.microsoft.com/office/drawing/2014/main" val="10004"/>
                  </a:ext>
                </a:extLst>
              </a:tr>
              <a:tr h="518583">
                <a:tc>
                  <a:txBody>
                    <a:bodyPr/>
                    <a:lstStyle/>
                    <a:p>
                      <a:r>
                        <a:rPr sz="1050">
                          <a:solidFill>
                            <a:srgbClr val="14202B"/>
                          </a:solidFill>
                          <a:latin typeface="DejaVu Sans"/>
                          <a:ea typeface="DejaVu Sans"/>
                          <a:cs typeface="DejaVu Sans"/>
                        </a:rPr>
                        <a:t>STA signoff, 4 góc</a:t>
                      </a:r>
                    </a:p>
                  </a:txBody>
                  <a:tcPr/>
                </a:tc>
                <a:tc>
                  <a:txBody>
                    <a:bodyPr/>
                    <a:lstStyle/>
                    <a:p>
                      <a:r>
                        <a:rPr sz="1050">
                          <a:solidFill>
                            <a:srgbClr val="14202B"/>
                          </a:solidFill>
                          <a:latin typeface="DejaVu Sans"/>
                          <a:ea typeface="DejaVu Sans"/>
                          <a:cs typeface="DejaVu Sans"/>
                        </a:rPr>
                        <a:t>OpenSTA</a:t>
                      </a:r>
                    </a:p>
                  </a:txBody>
                  <a:tcPr/>
                </a:tc>
                <a:tc>
                  <a:txBody>
                    <a:bodyPr/>
                    <a:lstStyle/>
                    <a:p>
                      <a:r>
                        <a:rPr sz="1050" b="1">
                          <a:solidFill>
                            <a:srgbClr val="1E9E77"/>
                          </a:solidFill>
                          <a:latin typeface="DejaVu Sans"/>
                          <a:ea typeface="DejaVu Sans"/>
                          <a:cs typeface="DejaVu Sans"/>
                        </a:rPr>
                        <a:t>Setup +1,50 ns; hold +0,09 ns worst</a:t>
                      </a:r>
                    </a:p>
                  </a:txBody>
                  <a:tcPr>
                    <a:solidFill>
                      <a:srgbClr val="DDF5EA"/>
                    </a:solidFill>
                  </a:tcPr>
                </a:tc>
                <a:extLst>
                  <a:ext uri="{0D108BD9-81ED-4DB2-BD59-A6C34878D82A}">
                    <a16:rowId xmlns:a16="http://schemas.microsoft.com/office/drawing/2014/main" val="10005"/>
                  </a:ext>
                </a:extLst>
              </a:tr>
              <a:tr h="518583">
                <a:tc>
                  <a:txBody>
                    <a:bodyPr/>
                    <a:lstStyle/>
                    <a:p>
                      <a:r>
                        <a:rPr sz="1050">
                          <a:solidFill>
                            <a:srgbClr val="14202B"/>
                          </a:solidFill>
                          <a:latin typeface="DejaVu Sans"/>
                          <a:ea typeface="DejaVu Sans"/>
                          <a:cs typeface="DejaVu Sans"/>
                        </a:rPr>
                        <a:t>Max capacitance</a:t>
                      </a:r>
                    </a:p>
                  </a:txBody>
                  <a:tcPr/>
                </a:tc>
                <a:tc>
                  <a:txBody>
                    <a:bodyPr/>
                    <a:lstStyle/>
                    <a:p>
                      <a:r>
                        <a:rPr sz="1050">
                          <a:solidFill>
                            <a:srgbClr val="14202B"/>
                          </a:solidFill>
                          <a:latin typeface="DejaVu Sans"/>
                          <a:ea typeface="DejaVu Sans"/>
                          <a:cs typeface="DejaVu Sans"/>
                        </a:rPr>
                        <a:t>OpenSTA</a:t>
                      </a:r>
                    </a:p>
                  </a:txBody>
                  <a:tcPr/>
                </a:tc>
                <a:tc>
                  <a:txBody>
                    <a:bodyPr/>
                    <a:lstStyle/>
                    <a:p>
                      <a:r>
                        <a:rPr sz="1050" b="1">
                          <a:solidFill>
                            <a:srgbClr val="1E9E77"/>
                          </a:solidFill>
                          <a:latin typeface="DejaVu Sans"/>
                          <a:ea typeface="DejaVu Sans"/>
                          <a:cs typeface="DejaVu Sans"/>
                        </a:rPr>
                        <a:t>0 vi phạm</a:t>
                      </a:r>
                    </a:p>
                  </a:txBody>
                  <a:tcPr>
                    <a:solidFill>
                      <a:srgbClr val="DDF5EA"/>
                    </a:solidFill>
                  </a:tcPr>
                </a:tc>
                <a:extLst>
                  <a:ext uri="{0D108BD9-81ED-4DB2-BD59-A6C34878D82A}">
                    <a16:rowId xmlns:a16="http://schemas.microsoft.com/office/drawing/2014/main" val="10006"/>
                  </a:ext>
                </a:extLst>
              </a:tr>
              <a:tr h="518583">
                <a:tc>
                  <a:txBody>
                    <a:bodyPr/>
                    <a:lstStyle/>
                    <a:p>
                      <a:r>
                        <a:rPr sz="1050">
                          <a:solidFill>
                            <a:srgbClr val="14202B"/>
                          </a:solidFill>
                          <a:latin typeface="DejaVu Sans"/>
                          <a:ea typeface="DejaVu Sans"/>
                          <a:cs typeface="DejaVu Sans"/>
                        </a:rPr>
                        <a:t>Antenna</a:t>
                      </a:r>
                    </a:p>
                  </a:txBody>
                  <a:tcPr/>
                </a:tc>
                <a:tc>
                  <a:txBody>
                    <a:bodyPr/>
                    <a:lstStyle/>
                    <a:p>
                      <a:r>
                        <a:rPr sz="1050">
                          <a:solidFill>
                            <a:srgbClr val="14202B"/>
                          </a:solidFill>
                          <a:latin typeface="DejaVu Sans"/>
                          <a:ea typeface="DejaVu Sans"/>
                          <a:cs typeface="DejaVu Sans"/>
                        </a:rPr>
                        <a:t>OpenROAD ARC</a:t>
                      </a:r>
                    </a:p>
                  </a:txBody>
                  <a:tcPr/>
                </a:tc>
                <a:tc>
                  <a:txBody>
                    <a:bodyPr/>
                    <a:lstStyle/>
                    <a:p>
                      <a:r>
                        <a:rPr sz="1050" b="1">
                          <a:solidFill>
                            <a:srgbClr val="D79B2B"/>
                          </a:solidFill>
                          <a:latin typeface="DejaVu Sans"/>
                          <a:ea typeface="DejaVu Sans"/>
                          <a:cs typeface="DejaVu Sans"/>
                        </a:rPr>
                        <a:t>29 vi phạm</a:t>
                      </a:r>
                    </a:p>
                  </a:txBody>
                  <a:tcPr>
                    <a:solidFill>
                      <a:srgbClr val="FFF0D5"/>
                    </a:solidFill>
                  </a:tcPr>
                </a:tc>
                <a:extLst>
                  <a:ext uri="{0D108BD9-81ED-4DB2-BD59-A6C34878D82A}">
                    <a16:rowId xmlns:a16="http://schemas.microsoft.com/office/drawing/2014/main" val="10007"/>
                  </a:ext>
                </a:extLst>
              </a:tr>
              <a:tr h="518583">
                <a:tc>
                  <a:txBody>
                    <a:bodyPr/>
                    <a:lstStyle/>
                    <a:p>
                      <a:r>
                        <a:rPr sz="1050">
                          <a:solidFill>
                            <a:srgbClr val="14202B"/>
                          </a:solidFill>
                          <a:latin typeface="DejaVu Sans"/>
                          <a:ea typeface="DejaVu Sans"/>
                          <a:cs typeface="DejaVu Sans"/>
                        </a:rPr>
                        <a:t>ERC</a:t>
                      </a:r>
                    </a:p>
                  </a:txBody>
                  <a:tcPr/>
                </a:tc>
                <a:tc>
                  <a:txBody>
                    <a:bodyPr/>
                    <a:lstStyle/>
                    <a:p>
                      <a:r>
                        <a:rPr sz="1050">
                          <a:solidFill>
                            <a:srgbClr val="14202B"/>
                          </a:solidFill>
                          <a:latin typeface="DejaVu Sans"/>
                          <a:ea typeface="DejaVu Sans"/>
                          <a:cs typeface="DejaVu Sans"/>
                        </a:rPr>
                        <a:t>CVC</a:t>
                      </a:r>
                    </a:p>
                  </a:txBody>
                  <a:tcPr/>
                </a:tc>
                <a:tc>
                  <a:txBody>
                    <a:bodyPr/>
                    <a:lstStyle/>
                    <a:p>
                      <a:r>
                        <a:rPr sz="1050" b="1">
                          <a:solidFill>
                            <a:srgbClr val="D84848"/>
                          </a:solidFill>
                          <a:latin typeface="DejaVu Sans"/>
                          <a:ea typeface="DejaVu Sans"/>
                          <a:cs typeface="DejaVu Sans"/>
                        </a:rPr>
                        <a:t>Không hoàn tất do lỗi liên kết model</a:t>
                      </a:r>
                    </a:p>
                  </a:txBody>
                  <a:tcPr>
                    <a:solidFill>
                      <a:srgbClr val="F9DCDC"/>
                    </a:solidFill>
                  </a:tcPr>
                </a:tc>
                <a:extLst>
                  <a:ext uri="{0D108BD9-81ED-4DB2-BD59-A6C34878D82A}">
                    <a16:rowId xmlns:a16="http://schemas.microsoft.com/office/drawing/2014/main" val="10008"/>
                  </a:ext>
                </a:extLst>
              </a:tr>
            </a:tbl>
          </a:graphicData>
        </a:graphic>
      </p:graphicFrame>
      <p:sp>
        <p:nvSpPr>
          <p:cNvPr id="5" name="Rectangle 4">
            <a:extLst>
              <a:ext uri="{FF2B5EF4-FFF2-40B4-BE49-F238E27FC236}">
                <a16:creationId xmlns:a16="http://schemas.microsoft.com/office/drawing/2014/main" id="{F0B8FCA3-0B28-4ECA-A6EB-5AF43682872A}"/>
              </a:ext>
            </a:extLst>
          </p:cNvPr>
          <p:cNvSpPr>
            <a:spLocks noGrp="1"/>
          </p:cNvSpPr>
          <p:nvPr/>
        </p:nvSpPr>
        <p:spPr>
          <a:xfrm>
            <a:off x="666750" y="6115050"/>
            <a:ext cx="10858500" cy="285750"/>
          </a:xfrm>
          <a:prstGeom prst="rect">
            <a:avLst/>
          </a:prstGeom>
          <a:noFill/>
          <a:ln w="0">
            <a:noFill/>
          </a:ln>
        </p:spPr>
        <p:txBody>
          <a:bodyPr anchor="ctr">
            <a:normAutofit/>
          </a:bodyPr>
          <a:lstStyle/>
          <a:p>
            <a:pPr algn="ctr">
              <a:defRPr sz="1050" b="1">
                <a:solidFill>
                  <a:srgbClr val="14202B"/>
                </a:solidFill>
                <a:latin typeface="DejaVu Sans"/>
                <a:ea typeface="DejaVu Sans"/>
                <a:cs typeface="DejaVu Sans"/>
              </a:defRPr>
            </a:pPr>
            <a:r>
              <a:rPr sz="1050" b="1">
                <a:solidFill>
                  <a:srgbClr val="14202B"/>
                </a:solidFill>
                <a:latin typeface="DejaVu Sans"/>
                <a:ea typeface="DejaVu Sans"/>
                <a:cs typeface="DejaVu Sans"/>
              </a:rPr>
              <a:t>Cột wns = -27,02 ns trong metrics.csv thuộc STA trước place, không phải signoff. Signoff thật lấy từ log rcx sta và có slack dương.</a:t>
            </a:r>
          </a:p>
        </p:txBody>
      </p:sp>
      <p:sp>
        <p:nvSpPr>
          <p:cNvPr id="6" name="Rectangle 5">
            <a:extLst>
              <a:ext uri="{FF2B5EF4-FFF2-40B4-BE49-F238E27FC236}">
                <a16:creationId xmlns:a16="http://schemas.microsoft.com/office/drawing/2014/main" id="{52D69B6E-0BE6-498F-B6B9-BC85A4726957}"/>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7" name="Rectangle 6">
            <a:extLst>
              <a:ext uri="{FF2B5EF4-FFF2-40B4-BE49-F238E27FC236}">
                <a16:creationId xmlns:a16="http://schemas.microsoft.com/office/drawing/2014/main" id="{2CF7733B-6811-4BCC-ABE1-B57BB41952F6}"/>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18</a:t>
            </a:r>
          </a:p>
        </p:txBody>
      </p:sp>
    </p:spTree>
    <p:extLst>
      <p:ext uri="{BB962C8B-B14F-4D97-AF65-F5344CB8AC3E}">
        <p14:creationId xmlns:p14="http://schemas.microsoft.com/office/powerpoint/2010/main" val="401728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152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A8F01FF-4571-47ED-8FEE-3009DF275CF5}"/>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RUN ASIC</a:t>
            </a:r>
          </a:p>
        </p:txBody>
      </p:sp>
      <p:sp>
        <p:nvSpPr>
          <p:cNvPr id="2" name="Rectangle 1">
            <a:extLst>
              <a:ext uri="{FF2B5EF4-FFF2-40B4-BE49-F238E27FC236}">
                <a16:creationId xmlns:a16="http://schemas.microsoft.com/office/drawing/2014/main" id="{47B4AB58-B739-4365-8ABD-9DA92A1F9246}"/>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F7FAFC"/>
                </a:solidFill>
                <a:latin typeface="DejaVu Sans"/>
                <a:ea typeface="DejaVu Sans"/>
                <a:cs typeface="DejaVu Sans"/>
              </a:defRPr>
            </a:pPr>
            <a:r>
              <a:rPr sz="2550" b="1">
                <a:solidFill>
                  <a:srgbClr val="F7FAFC"/>
                </a:solidFill>
                <a:latin typeface="DejaVu Sans"/>
                <a:ea typeface="DejaVu Sans"/>
                <a:cs typeface="DejaVu Sans"/>
              </a:rPr>
              <a:t>Đánh đổi antenna, diode và timing</a:t>
            </a:r>
          </a:p>
        </p:txBody>
      </p:sp>
      <p:sp>
        <p:nvSpPr>
          <p:cNvPr id="3" name="Rectangle 2">
            <a:extLst>
              <a:ext uri="{FF2B5EF4-FFF2-40B4-BE49-F238E27FC236}">
                <a16:creationId xmlns:a16="http://schemas.microsoft.com/office/drawing/2014/main" id="{3BFDDD4E-84EA-434A-B378-51E71E1F61BD}"/>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graphicFrame>
        <p:nvGraphicFramePr>
          <p:cNvPr id="12" name="Table 11"/>
          <p:cNvGraphicFramePr/>
          <p:nvPr/>
        </p:nvGraphicFramePr>
        <p:xfrm>
          <a:off x="400050" y="1428750"/>
          <a:ext cx="11391900" cy="2714625"/>
        </p:xfrm>
        <a:graphic>
          <a:graphicData uri="http://schemas.openxmlformats.org/drawingml/2006/table">
            <a:tbl>
              <a:tblPr/>
              <a:tblGrid>
                <a:gridCol w="1762125">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666875">
                  <a:extLst>
                    <a:ext uri="{9D8B030D-6E8A-4147-A177-3AD203B41FA5}">
                      <a16:colId xmlns:a16="http://schemas.microsoft.com/office/drawing/2014/main" val="20002"/>
                    </a:ext>
                  </a:extLst>
                </a:gridCol>
                <a:gridCol w="1666875">
                  <a:extLst>
                    <a:ext uri="{9D8B030D-6E8A-4147-A177-3AD203B41FA5}">
                      <a16:colId xmlns:a16="http://schemas.microsoft.com/office/drawing/2014/main" val="20003"/>
                    </a:ext>
                  </a:extLst>
                </a:gridCol>
                <a:gridCol w="2000250">
                  <a:extLst>
                    <a:ext uri="{9D8B030D-6E8A-4147-A177-3AD203B41FA5}">
                      <a16:colId xmlns:a16="http://schemas.microsoft.com/office/drawing/2014/main" val="20004"/>
                    </a:ext>
                  </a:extLst>
                </a:gridCol>
                <a:gridCol w="2486025">
                  <a:extLst>
                    <a:ext uri="{9D8B030D-6E8A-4147-A177-3AD203B41FA5}">
                      <a16:colId xmlns:a16="http://schemas.microsoft.com/office/drawing/2014/main" val="20005"/>
                    </a:ext>
                  </a:extLst>
                </a:gridCol>
              </a:tblGrid>
              <a:tr h="542925">
                <a:tc>
                  <a:txBody>
                    <a:bodyPr/>
                    <a:lstStyle/>
                    <a:p>
                      <a:r>
                        <a:rPr sz="1050" b="1">
                          <a:solidFill>
                            <a:srgbClr val="F7FAFC"/>
                          </a:solidFill>
                          <a:latin typeface="DejaVu Sans"/>
                          <a:ea typeface="DejaVu Sans"/>
                          <a:cs typeface="DejaVu Sans"/>
                        </a:rPr>
                        <a:t>Ngưỡng</a:t>
                      </a:r>
                    </a:p>
                  </a:txBody>
                  <a:tcPr>
                    <a:solidFill>
                      <a:srgbClr val="0E9384"/>
                    </a:solidFill>
                  </a:tcPr>
                </a:tc>
                <a:tc>
                  <a:txBody>
                    <a:bodyPr/>
                    <a:lstStyle/>
                    <a:p>
                      <a:r>
                        <a:rPr sz="1050" b="1">
                          <a:solidFill>
                            <a:srgbClr val="F7FAFC"/>
                          </a:solidFill>
                          <a:latin typeface="DejaVu Sans"/>
                          <a:ea typeface="DejaVu Sans"/>
                          <a:cs typeface="DejaVu Sans"/>
                        </a:rPr>
                        <a:t>Antenna</a:t>
                      </a:r>
                    </a:p>
                  </a:txBody>
                  <a:tcPr>
                    <a:solidFill>
                      <a:srgbClr val="0E9384"/>
                    </a:solidFill>
                  </a:tcPr>
                </a:tc>
                <a:tc>
                  <a:txBody>
                    <a:bodyPr/>
                    <a:lstStyle/>
                    <a:p>
                      <a:r>
                        <a:rPr sz="1050" b="1">
                          <a:solidFill>
                            <a:srgbClr val="F7FAFC"/>
                          </a:solidFill>
                          <a:latin typeface="DejaVu Sans"/>
                          <a:ea typeface="DejaVu Sans"/>
                          <a:cs typeface="DejaVu Sans"/>
                        </a:rPr>
                        <a:t>Diode</a:t>
                      </a:r>
                    </a:p>
                  </a:txBody>
                  <a:tcPr>
                    <a:solidFill>
                      <a:srgbClr val="0E9384"/>
                    </a:solidFill>
                  </a:tcPr>
                </a:tc>
                <a:tc>
                  <a:txBody>
                    <a:bodyPr/>
                    <a:lstStyle/>
                    <a:p>
                      <a:r>
                        <a:rPr sz="1050" b="1">
                          <a:solidFill>
                            <a:srgbClr val="F7FAFC"/>
                          </a:solidFill>
                          <a:latin typeface="DejaVu Sans"/>
                          <a:ea typeface="DejaVu Sans"/>
                          <a:cs typeface="DejaVu Sans"/>
                        </a:rPr>
                        <a:t>Max slew</a:t>
                      </a:r>
                    </a:p>
                  </a:txBody>
                  <a:tcPr>
                    <a:solidFill>
                      <a:srgbClr val="0E9384"/>
                    </a:solidFill>
                  </a:tcPr>
                </a:tc>
                <a:tc>
                  <a:txBody>
                    <a:bodyPr/>
                    <a:lstStyle/>
                    <a:p>
                      <a:r>
                        <a:rPr sz="1050" b="1">
                          <a:solidFill>
                            <a:srgbClr val="F7FAFC"/>
                          </a:solidFill>
                          <a:latin typeface="DejaVu Sans"/>
                          <a:ea typeface="DejaVu Sans"/>
                          <a:cs typeface="DejaVu Sans"/>
                        </a:rPr>
                        <a:t>Fanout data</a:t>
                      </a:r>
                    </a:p>
                  </a:txBody>
                  <a:tcPr>
                    <a:solidFill>
                      <a:srgbClr val="0E9384"/>
                    </a:solidFill>
                  </a:tcPr>
                </a:tc>
                <a:tc>
                  <a:txBody>
                    <a:bodyPr/>
                    <a:lstStyle/>
                    <a:p>
                      <a:r>
                        <a:rPr sz="1050" b="1">
                          <a:solidFill>
                            <a:srgbClr val="F7FAFC"/>
                          </a:solidFill>
                          <a:latin typeface="DejaVu Sans"/>
                          <a:ea typeface="DejaVu Sans"/>
                          <a:cs typeface="DejaVu Sans"/>
                        </a:rPr>
                        <a:t>Setup slack</a:t>
                      </a:r>
                    </a:p>
                  </a:txBody>
                  <a:tcPr>
                    <a:solidFill>
                      <a:srgbClr val="0E9384"/>
                    </a:solidFill>
                  </a:tcPr>
                </a:tc>
                <a:extLst>
                  <a:ext uri="{0D108BD9-81ED-4DB2-BD59-A6C34878D82A}">
                    <a16:rowId xmlns:a16="http://schemas.microsoft.com/office/drawing/2014/main" val="10000"/>
                  </a:ext>
                </a:extLst>
              </a:tr>
              <a:tr h="542925">
                <a:tc>
                  <a:txBody>
                    <a:bodyPr/>
                    <a:lstStyle/>
                    <a:p>
                      <a:r>
                        <a:rPr sz="1050">
                          <a:solidFill>
                            <a:srgbClr val="F7FAFC"/>
                          </a:solidFill>
                          <a:latin typeface="DejaVu Sans"/>
                          <a:ea typeface="DejaVu Sans"/>
                          <a:cs typeface="DejaVu Sans"/>
                        </a:rPr>
                        <a:t>Không heuristic</a:t>
                      </a:r>
                    </a:p>
                  </a:txBody>
                  <a:tcPr>
                    <a:solidFill>
                      <a:srgbClr val="0B2133"/>
                    </a:solidFill>
                  </a:tcPr>
                </a:tc>
                <a:tc>
                  <a:txBody>
                    <a:bodyPr/>
                    <a:lstStyle/>
                    <a:p>
                      <a:r>
                        <a:rPr sz="1050">
                          <a:solidFill>
                            <a:srgbClr val="F7FAFC"/>
                          </a:solidFill>
                          <a:latin typeface="DejaVu Sans"/>
                          <a:ea typeface="DejaVu Sans"/>
                          <a:cs typeface="DejaVu Sans"/>
                        </a:rPr>
                        <a:t>129 pin / 86 net</a:t>
                      </a:r>
                    </a:p>
                  </a:txBody>
                  <a:tcPr>
                    <a:solidFill>
                      <a:srgbClr val="0B2133"/>
                    </a:solidFill>
                  </a:tcPr>
                </a:tc>
                <a:tc>
                  <a:txBody>
                    <a:bodyPr/>
                    <a:lstStyle/>
                    <a:p>
                      <a:r>
                        <a:rPr sz="1050">
                          <a:solidFill>
                            <a:srgbClr val="F7FAFC"/>
                          </a:solidFill>
                          <a:latin typeface="DejaVu Sans"/>
                          <a:ea typeface="DejaVu Sans"/>
                          <a:cs typeface="DejaVu Sans"/>
                        </a:rPr>
                        <a:t>950</a:t>
                      </a:r>
                    </a:p>
                  </a:txBody>
                  <a:tcPr>
                    <a:solidFill>
                      <a:srgbClr val="0B2133"/>
                    </a:solidFill>
                  </a:tcPr>
                </a:tc>
                <a:tc>
                  <a:txBody>
                    <a:bodyPr/>
                    <a:lstStyle/>
                    <a:p>
                      <a:r>
                        <a:rPr sz="1050">
                          <a:solidFill>
                            <a:srgbClr val="F7FAFC"/>
                          </a:solidFill>
                          <a:latin typeface="DejaVu Sans"/>
                          <a:ea typeface="DejaVu Sans"/>
                          <a:cs typeface="DejaVu Sans"/>
                        </a:rPr>
                        <a:t>0</a:t>
                      </a:r>
                    </a:p>
                  </a:txBody>
                  <a:tcPr>
                    <a:solidFill>
                      <a:srgbClr val="0B2133"/>
                    </a:solidFill>
                  </a:tcPr>
                </a:tc>
                <a:tc>
                  <a:txBody>
                    <a:bodyPr/>
                    <a:lstStyle/>
                    <a:p>
                      <a:r>
                        <a:rPr sz="1050">
                          <a:solidFill>
                            <a:srgbClr val="F7FAFC"/>
                          </a:solidFill>
                          <a:latin typeface="DejaVu Sans"/>
                          <a:ea typeface="DejaVu Sans"/>
                          <a:cs typeface="DejaVu Sans"/>
                        </a:rPr>
                        <a:t>0</a:t>
                      </a:r>
                    </a:p>
                  </a:txBody>
                  <a:tcPr>
                    <a:solidFill>
                      <a:srgbClr val="0B2133"/>
                    </a:solidFill>
                  </a:tcPr>
                </a:tc>
                <a:tc>
                  <a:txBody>
                    <a:bodyPr/>
                    <a:lstStyle/>
                    <a:p>
                      <a:r>
                        <a:rPr sz="1050">
                          <a:solidFill>
                            <a:srgbClr val="F7FAFC"/>
                          </a:solidFill>
                          <a:latin typeface="DejaVu Sans"/>
                          <a:ea typeface="DejaVu Sans"/>
                          <a:cs typeface="DejaVu Sans"/>
                        </a:rPr>
                        <a:t>—</a:t>
                      </a:r>
                    </a:p>
                  </a:txBody>
                  <a:tcPr>
                    <a:solidFill>
                      <a:srgbClr val="0B2133"/>
                    </a:solidFill>
                  </a:tcPr>
                </a:tc>
                <a:extLst>
                  <a:ext uri="{0D108BD9-81ED-4DB2-BD59-A6C34878D82A}">
                    <a16:rowId xmlns:a16="http://schemas.microsoft.com/office/drawing/2014/main" val="10001"/>
                  </a:ext>
                </a:extLst>
              </a:tr>
              <a:tr h="542925">
                <a:tc>
                  <a:txBody>
                    <a:bodyPr/>
                    <a:lstStyle/>
                    <a:p>
                      <a:r>
                        <a:rPr sz="1050">
                          <a:solidFill>
                            <a:srgbClr val="F7FAFC"/>
                          </a:solidFill>
                          <a:latin typeface="DejaVu Sans"/>
                          <a:ea typeface="DejaVu Sans"/>
                          <a:cs typeface="DejaVu Sans"/>
                        </a:rPr>
                        <a:t>90</a:t>
                      </a:r>
                    </a:p>
                  </a:txBody>
                  <a:tcPr>
                    <a:solidFill>
                      <a:srgbClr val="0B2133"/>
                    </a:solidFill>
                  </a:tcPr>
                </a:tc>
                <a:tc>
                  <a:txBody>
                    <a:bodyPr/>
                    <a:lstStyle/>
                    <a:p>
                      <a:r>
                        <a:rPr sz="1050">
                          <a:solidFill>
                            <a:srgbClr val="F7FAFC"/>
                          </a:solidFill>
                          <a:latin typeface="DejaVu Sans"/>
                          <a:ea typeface="DejaVu Sans"/>
                          <a:cs typeface="DejaVu Sans"/>
                        </a:rPr>
                        <a:t>9 / 9</a:t>
                      </a:r>
                    </a:p>
                  </a:txBody>
                  <a:tcPr>
                    <a:solidFill>
                      <a:srgbClr val="0B2133"/>
                    </a:solidFill>
                  </a:tcPr>
                </a:tc>
                <a:tc>
                  <a:txBody>
                    <a:bodyPr/>
                    <a:lstStyle/>
                    <a:p>
                      <a:r>
                        <a:rPr sz="1050">
                          <a:solidFill>
                            <a:srgbClr val="F7FAFC"/>
                          </a:solidFill>
                          <a:latin typeface="DejaVu Sans"/>
                          <a:ea typeface="DejaVu Sans"/>
                          <a:cs typeface="DejaVu Sans"/>
                        </a:rPr>
                        <a:t>22.826</a:t>
                      </a:r>
                    </a:p>
                  </a:txBody>
                  <a:tcPr>
                    <a:solidFill>
                      <a:srgbClr val="0B2133"/>
                    </a:solidFill>
                  </a:tcPr>
                </a:tc>
                <a:tc>
                  <a:txBody>
                    <a:bodyPr/>
                    <a:lstStyle/>
                    <a:p>
                      <a:r>
                        <a:rPr sz="1050">
                          <a:solidFill>
                            <a:srgbClr val="F7FAFC"/>
                          </a:solidFill>
                          <a:latin typeface="DejaVu Sans"/>
                          <a:ea typeface="DejaVu Sans"/>
                          <a:cs typeface="DejaVu Sans"/>
                        </a:rPr>
                        <a:t>687</a:t>
                      </a:r>
                    </a:p>
                  </a:txBody>
                  <a:tcPr>
                    <a:solidFill>
                      <a:srgbClr val="0B2133"/>
                    </a:solidFill>
                  </a:tcPr>
                </a:tc>
                <a:tc>
                  <a:txBody>
                    <a:bodyPr/>
                    <a:lstStyle/>
                    <a:p>
                      <a:r>
                        <a:rPr sz="1050">
                          <a:solidFill>
                            <a:srgbClr val="F7FAFC"/>
                          </a:solidFill>
                          <a:latin typeface="DejaVu Sans"/>
                          <a:ea typeface="DejaVu Sans"/>
                          <a:cs typeface="DejaVu Sans"/>
                        </a:rPr>
                        <a:t>2.026</a:t>
                      </a:r>
                    </a:p>
                  </a:txBody>
                  <a:tcPr>
                    <a:solidFill>
                      <a:srgbClr val="0B2133"/>
                    </a:solidFill>
                  </a:tcPr>
                </a:tc>
                <a:tc>
                  <a:txBody>
                    <a:bodyPr/>
                    <a:lstStyle/>
                    <a:p>
                      <a:r>
                        <a:rPr sz="1050">
                          <a:solidFill>
                            <a:srgbClr val="F7FAFC"/>
                          </a:solidFill>
                          <a:latin typeface="DejaVu Sans"/>
                          <a:ea typeface="DejaVu Sans"/>
                          <a:cs typeface="DejaVu Sans"/>
                        </a:rPr>
                        <a:t>+0,46 ns</a:t>
                      </a:r>
                    </a:p>
                  </a:txBody>
                  <a:tcPr>
                    <a:solidFill>
                      <a:srgbClr val="0B2133"/>
                    </a:solidFill>
                  </a:tcPr>
                </a:tc>
                <a:extLst>
                  <a:ext uri="{0D108BD9-81ED-4DB2-BD59-A6C34878D82A}">
                    <a16:rowId xmlns:a16="http://schemas.microsoft.com/office/drawing/2014/main" val="10002"/>
                  </a:ext>
                </a:extLst>
              </a:tr>
              <a:tr h="542925">
                <a:tc>
                  <a:txBody>
                    <a:bodyPr/>
                    <a:lstStyle/>
                    <a:p>
                      <a:r>
                        <a:rPr sz="1050" b="1">
                          <a:solidFill>
                            <a:srgbClr val="F7FAFC"/>
                          </a:solidFill>
                          <a:latin typeface="DejaVu Sans"/>
                          <a:ea typeface="DejaVu Sans"/>
                          <a:cs typeface="DejaVu Sans"/>
                        </a:rPr>
                        <a:t>250, chọn</a:t>
                      </a:r>
                    </a:p>
                  </a:txBody>
                  <a:tcPr>
                    <a:solidFill>
                      <a:srgbClr val="124B4B"/>
                    </a:solidFill>
                  </a:tcPr>
                </a:tc>
                <a:tc>
                  <a:txBody>
                    <a:bodyPr/>
                    <a:lstStyle/>
                    <a:p>
                      <a:r>
                        <a:rPr sz="1050" b="1">
                          <a:solidFill>
                            <a:srgbClr val="F7FAFC"/>
                          </a:solidFill>
                          <a:latin typeface="DejaVu Sans"/>
                          <a:ea typeface="DejaVu Sans"/>
                          <a:cs typeface="DejaVu Sans"/>
                        </a:rPr>
                        <a:t>29 / 29</a:t>
                      </a:r>
                    </a:p>
                  </a:txBody>
                  <a:tcPr>
                    <a:solidFill>
                      <a:srgbClr val="124B4B"/>
                    </a:solidFill>
                  </a:tcPr>
                </a:tc>
                <a:tc>
                  <a:txBody>
                    <a:bodyPr/>
                    <a:lstStyle/>
                    <a:p>
                      <a:r>
                        <a:rPr sz="1050" b="1">
                          <a:solidFill>
                            <a:srgbClr val="F7FAFC"/>
                          </a:solidFill>
                          <a:latin typeface="DejaVu Sans"/>
                          <a:ea typeface="DejaVu Sans"/>
                          <a:cs typeface="DejaVu Sans"/>
                        </a:rPr>
                        <a:t>6.654</a:t>
                      </a:r>
                    </a:p>
                  </a:txBody>
                  <a:tcPr>
                    <a:solidFill>
                      <a:srgbClr val="124B4B"/>
                    </a:solidFill>
                  </a:tcPr>
                </a:tc>
                <a:tc>
                  <a:txBody>
                    <a:bodyPr/>
                    <a:lstStyle/>
                    <a:p>
                      <a:r>
                        <a:rPr sz="1050" b="1">
                          <a:solidFill>
                            <a:srgbClr val="F7FAFC"/>
                          </a:solidFill>
                          <a:latin typeface="DejaVu Sans"/>
                          <a:ea typeface="DejaVu Sans"/>
                          <a:cs typeface="DejaVu Sans"/>
                        </a:rPr>
                        <a:t>621</a:t>
                      </a:r>
                    </a:p>
                  </a:txBody>
                  <a:tcPr>
                    <a:solidFill>
                      <a:srgbClr val="124B4B"/>
                    </a:solidFill>
                  </a:tcPr>
                </a:tc>
                <a:tc>
                  <a:txBody>
                    <a:bodyPr/>
                    <a:lstStyle/>
                    <a:p>
                      <a:r>
                        <a:rPr sz="1050" b="1">
                          <a:solidFill>
                            <a:srgbClr val="F7FAFC"/>
                          </a:solidFill>
                          <a:latin typeface="DejaVu Sans"/>
                          <a:ea typeface="DejaVu Sans"/>
                          <a:cs typeface="DejaVu Sans"/>
                        </a:rPr>
                        <a:t>604</a:t>
                      </a:r>
                    </a:p>
                  </a:txBody>
                  <a:tcPr>
                    <a:solidFill>
                      <a:srgbClr val="124B4B"/>
                    </a:solidFill>
                  </a:tcPr>
                </a:tc>
                <a:tc>
                  <a:txBody>
                    <a:bodyPr/>
                    <a:lstStyle/>
                    <a:p>
                      <a:r>
                        <a:rPr sz="1050" b="1">
                          <a:solidFill>
                            <a:srgbClr val="F7FAFC"/>
                          </a:solidFill>
                          <a:latin typeface="DejaVu Sans"/>
                          <a:ea typeface="DejaVu Sans"/>
                          <a:cs typeface="DejaVu Sans"/>
                        </a:rPr>
                        <a:t>+1,50 ns</a:t>
                      </a:r>
                    </a:p>
                  </a:txBody>
                  <a:tcPr>
                    <a:solidFill>
                      <a:srgbClr val="124B4B"/>
                    </a:solidFill>
                  </a:tcPr>
                </a:tc>
                <a:extLst>
                  <a:ext uri="{0D108BD9-81ED-4DB2-BD59-A6C34878D82A}">
                    <a16:rowId xmlns:a16="http://schemas.microsoft.com/office/drawing/2014/main" val="10003"/>
                  </a:ext>
                </a:extLst>
              </a:tr>
              <a:tr h="542925">
                <a:tc>
                  <a:txBody>
                    <a:bodyPr/>
                    <a:lstStyle/>
                    <a:p>
                      <a:r>
                        <a:rPr sz="1050">
                          <a:solidFill>
                            <a:srgbClr val="F7FAFC"/>
                          </a:solidFill>
                          <a:latin typeface="DejaVu Sans"/>
                          <a:ea typeface="DejaVu Sans"/>
                          <a:cs typeface="DejaVu Sans"/>
                        </a:rPr>
                        <a:t>200</a:t>
                      </a:r>
                    </a:p>
                  </a:txBody>
                  <a:tcPr>
                    <a:solidFill>
                      <a:srgbClr val="0B2133"/>
                    </a:solidFill>
                  </a:tcPr>
                </a:tc>
                <a:tc>
                  <a:txBody>
                    <a:bodyPr/>
                    <a:lstStyle/>
                    <a:p>
                      <a:r>
                        <a:rPr sz="1050">
                          <a:solidFill>
                            <a:srgbClr val="F7FAFC"/>
                          </a:solidFill>
                          <a:latin typeface="DejaVu Sans"/>
                          <a:ea typeface="DejaVu Sans"/>
                          <a:cs typeface="DejaVu Sans"/>
                        </a:rPr>
                        <a:t>27 / 27</a:t>
                      </a:r>
                    </a:p>
                  </a:txBody>
                  <a:tcPr>
                    <a:solidFill>
                      <a:srgbClr val="0B2133"/>
                    </a:solidFill>
                  </a:tcPr>
                </a:tc>
                <a:tc>
                  <a:txBody>
                    <a:bodyPr/>
                    <a:lstStyle/>
                    <a:p>
                      <a:r>
                        <a:rPr sz="1050">
                          <a:solidFill>
                            <a:srgbClr val="F7FAFC"/>
                          </a:solidFill>
                          <a:latin typeface="DejaVu Sans"/>
                          <a:ea typeface="DejaVu Sans"/>
                          <a:cs typeface="DejaVu Sans"/>
                        </a:rPr>
                        <a:t>8.786</a:t>
                      </a:r>
                    </a:p>
                  </a:txBody>
                  <a:tcPr>
                    <a:solidFill>
                      <a:srgbClr val="0B2133"/>
                    </a:solidFill>
                  </a:tcPr>
                </a:tc>
                <a:tc>
                  <a:txBody>
                    <a:bodyPr/>
                    <a:lstStyle/>
                    <a:p>
                      <a:r>
                        <a:rPr sz="1050">
                          <a:solidFill>
                            <a:srgbClr val="F7FAFC"/>
                          </a:solidFill>
                          <a:latin typeface="DejaVu Sans"/>
                          <a:ea typeface="DejaVu Sans"/>
                          <a:cs typeface="DejaVu Sans"/>
                        </a:rPr>
                        <a:t>589</a:t>
                      </a:r>
                    </a:p>
                  </a:txBody>
                  <a:tcPr>
                    <a:solidFill>
                      <a:srgbClr val="0B2133"/>
                    </a:solidFill>
                  </a:tcPr>
                </a:tc>
                <a:tc>
                  <a:txBody>
                    <a:bodyPr/>
                    <a:lstStyle/>
                    <a:p>
                      <a:r>
                        <a:rPr sz="1050">
                          <a:solidFill>
                            <a:srgbClr val="F7FAFC"/>
                          </a:solidFill>
                          <a:latin typeface="DejaVu Sans"/>
                          <a:ea typeface="DejaVu Sans"/>
                          <a:cs typeface="DejaVu Sans"/>
                        </a:rPr>
                        <a:t>757</a:t>
                      </a:r>
                    </a:p>
                  </a:txBody>
                  <a:tcPr>
                    <a:solidFill>
                      <a:srgbClr val="0B2133"/>
                    </a:solidFill>
                  </a:tcPr>
                </a:tc>
                <a:tc>
                  <a:txBody>
                    <a:bodyPr/>
                    <a:lstStyle/>
                    <a:p>
                      <a:r>
                        <a:rPr sz="1050">
                          <a:solidFill>
                            <a:srgbClr val="F7FAFC"/>
                          </a:solidFill>
                          <a:latin typeface="DejaVu Sans"/>
                          <a:ea typeface="DejaVu Sans"/>
                          <a:cs typeface="DejaVu Sans"/>
                        </a:rPr>
                        <a:t>+1,36 ns</a:t>
                      </a:r>
                    </a:p>
                  </a:txBody>
                  <a:tcPr>
                    <a:solidFill>
                      <a:srgbClr val="0B2133"/>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FE68866-CDC7-41D6-9042-59412825F77A}"/>
              </a:ext>
            </a:extLst>
          </p:cNvPr>
          <p:cNvSpPr>
            <a:spLocks noGrp="1"/>
          </p:cNvSpPr>
          <p:nvPr/>
        </p:nvSpPr>
        <p:spPr>
          <a:xfrm>
            <a:off x="552450" y="4524375"/>
            <a:ext cx="2857500" cy="304800"/>
          </a:xfrm>
          <a:prstGeom prst="rect">
            <a:avLst/>
          </a:prstGeom>
          <a:noFill/>
          <a:ln w="0">
            <a:noFill/>
          </a:ln>
        </p:spPr>
        <p:txBody>
          <a:bodyPr anchor="ctr">
            <a:normAutofit fontScale="88889"/>
          </a:bodyPr>
          <a:lstStyle/>
          <a:p>
            <a:pPr algn="l">
              <a:defRPr sz="1575" b="1">
                <a:solidFill>
                  <a:srgbClr val="20C7B0"/>
                </a:solidFill>
                <a:latin typeface="DejaVu Sans"/>
                <a:ea typeface="DejaVu Sans"/>
                <a:cs typeface="DejaVu Sans"/>
              </a:defRPr>
            </a:pPr>
            <a:r>
              <a:rPr sz="1575" b="1">
                <a:solidFill>
                  <a:srgbClr val="20C7B0"/>
                </a:solidFill>
                <a:latin typeface="DejaVu Sans"/>
                <a:ea typeface="DejaVu Sans"/>
                <a:cs typeface="DejaVu Sans"/>
              </a:rPr>
              <a:t>Vì sao chọn 250</a:t>
            </a:r>
          </a:p>
        </p:txBody>
      </p:sp>
      <p:sp>
        <p:nvSpPr>
          <p:cNvPr id="6" name="Rectangle 5">
            <a:extLst>
              <a:ext uri="{FF2B5EF4-FFF2-40B4-BE49-F238E27FC236}">
                <a16:creationId xmlns:a16="http://schemas.microsoft.com/office/drawing/2014/main" id="{32649FD2-479E-4E5A-BECB-EDC2EEECA663}"/>
              </a:ext>
            </a:extLst>
          </p:cNvPr>
          <p:cNvSpPr>
            <a:spLocks noGrp="1"/>
          </p:cNvSpPr>
          <p:nvPr/>
        </p:nvSpPr>
        <p:spPr>
          <a:xfrm>
            <a:off x="552450" y="4953000"/>
            <a:ext cx="10953750" cy="781050"/>
          </a:xfrm>
          <a:prstGeom prst="rect">
            <a:avLst/>
          </a:prstGeom>
          <a:noFill/>
          <a:ln w="0">
            <a:noFill/>
          </a:ln>
        </p:spPr>
        <p:txBody>
          <a:bodyPr anchor="ctr">
            <a:normAutofit/>
          </a:bodyPr>
          <a:lstStyle/>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Ngưỡng 200 chỉ giảm 2 vi phạm antenna nhưng thêm 2.132 diode, làm ratio xấu nhất tăng từ 2,09 lên 2,93, fanout data tăng từ 604 lên 757 và setup slack giảm. Nhóm chọn 250 như điểm cân bằng đo được.</a:t>
            </a:r>
          </a:p>
        </p:txBody>
      </p:sp>
      <p:sp>
        <p:nvSpPr>
          <p:cNvPr id="7" name="Rectangle 6">
            <a:extLst>
              <a:ext uri="{FF2B5EF4-FFF2-40B4-BE49-F238E27FC236}">
                <a16:creationId xmlns:a16="http://schemas.microsoft.com/office/drawing/2014/main" id="{19B38B73-12C9-4CC5-B737-0BC269EEE84F}"/>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TrueChip  •  Prototype xác thực phần cứng</a:t>
            </a:r>
          </a:p>
        </p:txBody>
      </p:sp>
      <p:sp>
        <p:nvSpPr>
          <p:cNvPr id="8" name="Rectangle 7">
            <a:extLst>
              <a:ext uri="{FF2B5EF4-FFF2-40B4-BE49-F238E27FC236}">
                <a16:creationId xmlns:a16="http://schemas.microsoft.com/office/drawing/2014/main" id="{E5BBAC69-E8EE-4CD8-A949-4135C503DDEE}"/>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19</a:t>
            </a:r>
          </a:p>
        </p:txBody>
      </p:sp>
    </p:spTree>
    <p:extLst>
      <p:ext uri="{BB962C8B-B14F-4D97-AF65-F5344CB8AC3E}">
        <p14:creationId xmlns:p14="http://schemas.microsoft.com/office/powerpoint/2010/main" val="392097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4E50455-B5A1-4BCE-AE55-E7F00B39D23E}"/>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BF495205-0D72-441B-A4B6-7F51537B76B7}"/>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Minh chứng báo cáo signoff</a:t>
            </a:r>
          </a:p>
        </p:txBody>
      </p:sp>
      <p:sp>
        <p:nvSpPr>
          <p:cNvPr id="3" name="Rectangle 2">
            <a:extLst>
              <a:ext uri="{FF2B5EF4-FFF2-40B4-BE49-F238E27FC236}">
                <a16:creationId xmlns:a16="http://schemas.microsoft.com/office/drawing/2014/main" id="{F399F160-2A2A-453F-8533-6D40521793F1}"/>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pic>
        <p:nvPicPr>
          <p:cNvPr id="14" name="Picture 13"/>
          <p:cNvPicPr>
            <a:picLocks noChangeAspect="1"/>
          </p:cNvPicPr>
          <p:nvPr/>
        </p:nvPicPr>
        <p:blipFill>
          <a:blip r:embed="rId3"/>
          <a:stretch/>
        </p:blipFill>
        <p:spPr>
          <a:xfrm>
            <a:off x="428625" y="1698129"/>
            <a:ext cx="5476875" cy="3080742"/>
          </a:xfrm>
          <a:prstGeom prst="rect">
            <a:avLst/>
          </a:prstGeom>
        </p:spPr>
      </p:pic>
      <p:pic>
        <p:nvPicPr>
          <p:cNvPr id="15" name="Picture 14"/>
          <p:cNvPicPr>
            <a:picLocks noChangeAspect="1"/>
          </p:cNvPicPr>
          <p:nvPr/>
        </p:nvPicPr>
        <p:blipFill>
          <a:blip r:embed="rId4"/>
          <a:stretch/>
        </p:blipFill>
        <p:spPr>
          <a:xfrm>
            <a:off x="6286500" y="1698129"/>
            <a:ext cx="5476875" cy="3080742"/>
          </a:xfrm>
          <a:prstGeom prst="rect">
            <a:avLst/>
          </a:prstGeom>
        </p:spPr>
      </p:pic>
      <p:sp>
        <p:nvSpPr>
          <p:cNvPr id="6" name="Rectangle 5">
            <a:extLst>
              <a:ext uri="{FF2B5EF4-FFF2-40B4-BE49-F238E27FC236}">
                <a16:creationId xmlns:a16="http://schemas.microsoft.com/office/drawing/2014/main" id="{D6E8F2DB-A4B9-4083-A73A-440EA234F82C}"/>
              </a:ext>
            </a:extLst>
          </p:cNvPr>
          <p:cNvSpPr>
            <a:spLocks noGrp="1"/>
          </p:cNvSpPr>
          <p:nvPr/>
        </p:nvSpPr>
        <p:spPr>
          <a:xfrm>
            <a:off x="428625" y="5286375"/>
            <a:ext cx="5476875" cy="381000"/>
          </a:xfrm>
          <a:prstGeom prst="rect">
            <a:avLst/>
          </a:prstGeom>
          <a:noFill/>
          <a:ln w="0">
            <a:noFill/>
          </a:ln>
        </p:spPr>
        <p:txBody>
          <a:bodyPr anchor="ctr">
            <a:normAutofit/>
          </a:bodyPr>
          <a:lstStyle/>
          <a:p>
            <a:pPr algn="ctr">
              <a:defRPr sz="1500" b="1">
                <a:solidFill>
                  <a:srgbClr val="1E9E77"/>
                </a:solidFill>
                <a:latin typeface="DejaVu Sans"/>
                <a:ea typeface="DejaVu Sans"/>
                <a:cs typeface="DejaVu Sans"/>
              </a:defRPr>
            </a:pPr>
            <a:r>
              <a:rPr sz="1500" b="1">
                <a:solidFill>
                  <a:srgbClr val="1E9E77"/>
                </a:solidFill>
                <a:latin typeface="DejaVu Sans"/>
                <a:ea typeface="DejaVu Sans"/>
                <a:cs typeface="DejaVu Sans"/>
              </a:rPr>
              <a:t>Timing đang hiển thị: MET</a:t>
            </a:r>
          </a:p>
        </p:txBody>
      </p:sp>
      <p:sp>
        <p:nvSpPr>
          <p:cNvPr id="7" name="Rectangle 6">
            <a:extLst>
              <a:ext uri="{FF2B5EF4-FFF2-40B4-BE49-F238E27FC236}">
                <a16:creationId xmlns:a16="http://schemas.microsoft.com/office/drawing/2014/main" id="{1A6E80EA-CF5C-487B-AE0B-EA52DBB33C20}"/>
              </a:ext>
            </a:extLst>
          </p:cNvPr>
          <p:cNvSpPr>
            <a:spLocks noGrp="1"/>
          </p:cNvSpPr>
          <p:nvPr/>
        </p:nvSpPr>
        <p:spPr>
          <a:xfrm>
            <a:off x="6286500" y="5286375"/>
            <a:ext cx="5476875" cy="381000"/>
          </a:xfrm>
          <a:prstGeom prst="rect">
            <a:avLst/>
          </a:prstGeom>
          <a:noFill/>
          <a:ln w="0">
            <a:noFill/>
          </a:ln>
        </p:spPr>
        <p:txBody>
          <a:bodyPr anchor="ctr">
            <a:normAutofit/>
          </a:bodyPr>
          <a:lstStyle/>
          <a:p>
            <a:pPr algn="ctr">
              <a:defRPr sz="1500" b="1">
                <a:solidFill>
                  <a:srgbClr val="D79B2B"/>
                </a:solidFill>
                <a:latin typeface="DejaVu Sans"/>
                <a:ea typeface="DejaVu Sans"/>
                <a:cs typeface="DejaVu Sans"/>
              </a:defRPr>
            </a:pPr>
            <a:r>
              <a:rPr sz="1500" b="1">
                <a:solidFill>
                  <a:srgbClr val="D79B2B"/>
                </a:solidFill>
                <a:latin typeface="DejaVu Sans"/>
                <a:ea typeface="DejaVu Sans"/>
                <a:cs typeface="DejaVu Sans"/>
              </a:rPr>
              <a:t>Antenna: còn danh sách vi phạm</a:t>
            </a:r>
          </a:p>
        </p:txBody>
      </p:sp>
      <p:sp>
        <p:nvSpPr>
          <p:cNvPr id="8" name="Rectangle 7">
            <a:extLst>
              <a:ext uri="{FF2B5EF4-FFF2-40B4-BE49-F238E27FC236}">
                <a16:creationId xmlns:a16="http://schemas.microsoft.com/office/drawing/2014/main" id="{2D734038-2362-48F4-8142-826C1F4D2832}"/>
              </a:ext>
            </a:extLst>
          </p:cNvPr>
          <p:cNvSpPr>
            <a:spLocks noGrp="1"/>
          </p:cNvSpPr>
          <p:nvPr/>
        </p:nvSpPr>
        <p:spPr>
          <a:xfrm>
            <a:off x="952500" y="5953125"/>
            <a:ext cx="10287000" cy="285750"/>
          </a:xfrm>
          <a:prstGeom prst="rect">
            <a:avLst/>
          </a:prstGeom>
          <a:noFill/>
          <a:ln w="0">
            <a:noFill/>
          </a:ln>
        </p:spPr>
        <p:txBody>
          <a:bodyPr anchor="ctr">
            <a:normAutofit/>
          </a:bodyPr>
          <a:lstStyle/>
          <a:p>
            <a:pPr algn="ctr">
              <a:defRPr sz="1275" b="1">
                <a:solidFill>
                  <a:srgbClr val="14202B"/>
                </a:solidFill>
                <a:latin typeface="DejaVu Sans"/>
                <a:ea typeface="DejaVu Sans"/>
                <a:cs typeface="DejaVu Sans"/>
              </a:defRPr>
            </a:pPr>
            <a:r>
              <a:rPr sz="1275" b="1">
                <a:solidFill>
                  <a:srgbClr val="14202B"/>
                </a:solidFill>
                <a:latin typeface="DejaVu Sans"/>
                <a:ea typeface="DejaVu Sans"/>
                <a:cs typeface="DejaVu Sans"/>
              </a:rPr>
              <a:t>Không kết luận toàn bộ signoff sạch vì CVC/ERC chưa hoàn tất và antenna chưa về 0.</a:t>
            </a:r>
          </a:p>
        </p:txBody>
      </p:sp>
      <p:sp>
        <p:nvSpPr>
          <p:cNvPr id="9" name="Rectangle 8">
            <a:extLst>
              <a:ext uri="{FF2B5EF4-FFF2-40B4-BE49-F238E27FC236}">
                <a16:creationId xmlns:a16="http://schemas.microsoft.com/office/drawing/2014/main" id="{13D53C03-6149-4EA8-AD09-3BFF63623760}"/>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10" name="Rectangle 9">
            <a:extLst>
              <a:ext uri="{FF2B5EF4-FFF2-40B4-BE49-F238E27FC236}">
                <a16:creationId xmlns:a16="http://schemas.microsoft.com/office/drawing/2014/main" id="{4C55CB6E-591E-4515-8635-C11ED2B752FB}"/>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20</a:t>
            </a:r>
          </a:p>
        </p:txBody>
      </p:sp>
    </p:spTree>
    <p:extLst>
      <p:ext uri="{BB962C8B-B14F-4D97-AF65-F5344CB8AC3E}">
        <p14:creationId xmlns:p14="http://schemas.microsoft.com/office/powerpoint/2010/main" val="945912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F5BE1F5-67FB-4331-892E-994050DCBE10}"/>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 2026</a:t>
            </a:r>
          </a:p>
        </p:txBody>
      </p:sp>
      <p:sp>
        <p:nvSpPr>
          <p:cNvPr id="2" name="Rectangle 1">
            <a:extLst>
              <a:ext uri="{FF2B5EF4-FFF2-40B4-BE49-F238E27FC236}">
                <a16:creationId xmlns:a16="http://schemas.microsoft.com/office/drawing/2014/main" id="{CF9295A2-A968-4A89-B4C6-96AE543DED15}"/>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14202B"/>
                </a:solidFill>
                <a:latin typeface="DejaVu Sans"/>
                <a:ea typeface="DejaVu Sans"/>
                <a:cs typeface="DejaVu Sans"/>
              </a:defRPr>
            </a:pPr>
            <a:r>
              <a:rPr sz="2550" b="1">
                <a:solidFill>
                  <a:srgbClr val="14202B"/>
                </a:solidFill>
                <a:latin typeface="DejaVu Sans"/>
                <a:ea typeface="DejaVu Sans"/>
                <a:cs typeface="DejaVu Sans"/>
              </a:rPr>
              <a:t>Giới hạn và kế hoạch hoàn thiện</a:t>
            </a:r>
          </a:p>
        </p:txBody>
      </p:sp>
      <p:sp>
        <p:nvSpPr>
          <p:cNvPr id="3" name="Rectangle 2">
            <a:extLst>
              <a:ext uri="{FF2B5EF4-FFF2-40B4-BE49-F238E27FC236}">
                <a16:creationId xmlns:a16="http://schemas.microsoft.com/office/drawing/2014/main" id="{801D272C-DA21-4EAC-835E-1DC4D62942C5}"/>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sp>
        <p:nvSpPr>
          <p:cNvPr id="4" name="Rectangle 3">
            <a:extLst>
              <a:ext uri="{FF2B5EF4-FFF2-40B4-BE49-F238E27FC236}">
                <a16:creationId xmlns:a16="http://schemas.microsoft.com/office/drawing/2014/main" id="{740378AD-CDF4-43E3-98B9-FB40876902E6}"/>
              </a:ext>
            </a:extLst>
          </p:cNvPr>
          <p:cNvSpPr>
            <a:spLocks noGrp="1"/>
          </p:cNvSpPr>
          <p:nvPr/>
        </p:nvSpPr>
        <p:spPr>
          <a:xfrm>
            <a:off x="514350" y="1352550"/>
            <a:ext cx="552450" cy="523875"/>
          </a:xfrm>
          <a:prstGeom prst="rect">
            <a:avLst/>
          </a:prstGeom>
          <a:noFill/>
          <a:ln w="0">
            <a:noFill/>
          </a:ln>
        </p:spPr>
        <p:txBody>
          <a:bodyPr anchor="ctr">
            <a:normAutofit/>
          </a:bodyPr>
          <a:lstStyle/>
          <a:p>
            <a:pPr algn="l">
              <a:defRPr sz="1875" b="1">
                <a:solidFill>
                  <a:srgbClr val="20C7B0"/>
                </a:solidFill>
                <a:latin typeface="DejaVu Sans"/>
                <a:ea typeface="DejaVu Sans"/>
                <a:cs typeface="DejaVu Sans"/>
              </a:defRPr>
            </a:pPr>
            <a:r>
              <a:rPr sz="1875" b="1">
                <a:solidFill>
                  <a:srgbClr val="20C7B0"/>
                </a:solidFill>
                <a:latin typeface="DejaVu Sans"/>
                <a:ea typeface="DejaVu Sans"/>
                <a:cs typeface="DejaVu Sans"/>
              </a:rPr>
              <a:t>01</a:t>
            </a:r>
          </a:p>
        </p:txBody>
      </p:sp>
      <p:sp>
        <p:nvSpPr>
          <p:cNvPr id="5" name="Rectangle 4">
            <a:extLst>
              <a:ext uri="{FF2B5EF4-FFF2-40B4-BE49-F238E27FC236}">
                <a16:creationId xmlns:a16="http://schemas.microsoft.com/office/drawing/2014/main" id="{3B5DD3E2-0B18-4494-B2C9-73AE29AF076A}"/>
              </a:ext>
            </a:extLst>
          </p:cNvPr>
          <p:cNvSpPr>
            <a:spLocks noGrp="1"/>
          </p:cNvSpPr>
          <p:nvPr/>
        </p:nvSpPr>
        <p:spPr>
          <a:xfrm>
            <a:off x="1190625" y="1352550"/>
            <a:ext cx="2381250" cy="266700"/>
          </a:xfrm>
          <a:prstGeom prst="rect">
            <a:avLst/>
          </a:prstGeom>
          <a:noFill/>
          <a:ln w="0">
            <a:noFill/>
          </a:ln>
        </p:spPr>
        <p:txBody>
          <a:bodyPr anchor="ctr">
            <a:normAutofit fontScale="80702"/>
          </a:bodyPr>
          <a:lstStyle/>
          <a:p>
            <a:pPr algn="l">
              <a:defRPr sz="1425" b="1">
                <a:solidFill>
                  <a:srgbClr val="14202B"/>
                </a:solidFill>
                <a:latin typeface="DejaVu Sans"/>
                <a:ea typeface="DejaVu Sans"/>
                <a:cs typeface="DejaVu Sans"/>
              </a:defRPr>
            </a:pPr>
            <a:r>
              <a:rPr sz="1425" b="1">
                <a:solidFill>
                  <a:srgbClr val="14202B"/>
                </a:solidFill>
                <a:latin typeface="DejaVu Sans"/>
                <a:ea typeface="DejaVu Sans"/>
                <a:cs typeface="DejaVu Sans"/>
              </a:rPr>
              <a:t>Ngay lập tức</a:t>
            </a:r>
          </a:p>
        </p:txBody>
      </p:sp>
      <p:sp>
        <p:nvSpPr>
          <p:cNvPr id="6" name="Rectangle 5">
            <a:extLst>
              <a:ext uri="{FF2B5EF4-FFF2-40B4-BE49-F238E27FC236}">
                <a16:creationId xmlns:a16="http://schemas.microsoft.com/office/drawing/2014/main" id="{1B0FDFD6-D8FE-4BD4-8284-99BEF4A6FEB2}"/>
              </a:ext>
            </a:extLst>
          </p:cNvPr>
          <p:cNvSpPr>
            <a:spLocks noGrp="1"/>
          </p:cNvSpPr>
          <p:nvPr/>
        </p:nvSpPr>
        <p:spPr>
          <a:xfrm>
            <a:off x="3714750" y="1352550"/>
            <a:ext cx="7810500" cy="514350"/>
          </a:xfrm>
          <a:prstGeom prst="rect">
            <a:avLst/>
          </a:prstGeom>
          <a:noFill/>
          <a:ln w="0">
            <a:noFill/>
          </a:ln>
        </p:spPr>
        <p:txBody>
          <a:bodyPr anchor="ctr">
            <a:normAutofit/>
          </a:bodyPr>
          <a:lstStyle/>
          <a:p>
            <a:pPr algn="l">
              <a:defRPr sz="1200" b="0">
                <a:solidFill>
                  <a:srgbClr val="4E6271"/>
                </a:solidFill>
                <a:latin typeface="DejaVu Sans"/>
                <a:ea typeface="DejaVu Sans"/>
                <a:cs typeface="DejaVu Sans"/>
              </a:defRPr>
            </a:pPr>
            <a:r>
              <a:rPr sz="1200" b="0">
                <a:solidFill>
                  <a:srgbClr val="4E6271"/>
                </a:solidFill>
                <a:latin typeface="DejaVu Sans"/>
                <a:ea typeface="DejaVu Sans"/>
                <a:cs typeface="DejaVu Sans"/>
              </a:rPr>
              <a:t>Đóng lỗi rate limit trên board; gắn version bitstream vào log; đồng bộ SignalTap với test script.</a:t>
            </a:r>
          </a:p>
        </p:txBody>
      </p:sp>
      <p:sp>
        <p:nvSpPr>
          <p:cNvPr id="7" name="Rectangle 6">
            <a:extLst>
              <a:ext uri="{FF2B5EF4-FFF2-40B4-BE49-F238E27FC236}">
                <a16:creationId xmlns:a16="http://schemas.microsoft.com/office/drawing/2014/main" id="{EB6CE8DC-F009-4B53-BCF1-233CBA7B64BA}"/>
              </a:ext>
            </a:extLst>
          </p:cNvPr>
          <p:cNvSpPr>
            <a:spLocks noGrp="1"/>
          </p:cNvSpPr>
          <p:nvPr/>
        </p:nvSpPr>
        <p:spPr>
          <a:xfrm>
            <a:off x="514350" y="2314575"/>
            <a:ext cx="552450" cy="523875"/>
          </a:xfrm>
          <a:prstGeom prst="rect">
            <a:avLst/>
          </a:prstGeom>
          <a:noFill/>
          <a:ln w="0">
            <a:noFill/>
          </a:ln>
        </p:spPr>
        <p:txBody>
          <a:bodyPr anchor="ctr">
            <a:normAutofit/>
          </a:bodyPr>
          <a:lstStyle/>
          <a:p>
            <a:pPr algn="l">
              <a:defRPr sz="1875" b="1">
                <a:solidFill>
                  <a:srgbClr val="20C7B0"/>
                </a:solidFill>
                <a:latin typeface="DejaVu Sans"/>
                <a:ea typeface="DejaVu Sans"/>
                <a:cs typeface="DejaVu Sans"/>
              </a:defRPr>
            </a:pPr>
            <a:r>
              <a:rPr sz="1875" b="1">
                <a:solidFill>
                  <a:srgbClr val="20C7B0"/>
                </a:solidFill>
                <a:latin typeface="DejaVu Sans"/>
                <a:ea typeface="DejaVu Sans"/>
                <a:cs typeface="DejaVu Sans"/>
              </a:rPr>
              <a:t>02</a:t>
            </a:r>
          </a:p>
        </p:txBody>
      </p:sp>
      <p:sp>
        <p:nvSpPr>
          <p:cNvPr id="8" name="Rectangle 7">
            <a:extLst>
              <a:ext uri="{FF2B5EF4-FFF2-40B4-BE49-F238E27FC236}">
                <a16:creationId xmlns:a16="http://schemas.microsoft.com/office/drawing/2014/main" id="{A1A1F23F-3853-4FF0-A068-92ABB0A9EA78}"/>
              </a:ext>
            </a:extLst>
          </p:cNvPr>
          <p:cNvSpPr>
            <a:spLocks noGrp="1"/>
          </p:cNvSpPr>
          <p:nvPr/>
        </p:nvSpPr>
        <p:spPr>
          <a:xfrm>
            <a:off x="1190625" y="2314575"/>
            <a:ext cx="2381250" cy="266700"/>
          </a:xfrm>
          <a:prstGeom prst="rect">
            <a:avLst/>
          </a:prstGeom>
          <a:noFill/>
          <a:ln w="0">
            <a:noFill/>
          </a:ln>
        </p:spPr>
        <p:txBody>
          <a:bodyPr anchor="ctr">
            <a:normAutofit fontScale="80702"/>
          </a:bodyPr>
          <a:lstStyle/>
          <a:p>
            <a:pPr algn="l">
              <a:defRPr sz="1425" b="1">
                <a:solidFill>
                  <a:srgbClr val="14202B"/>
                </a:solidFill>
                <a:latin typeface="DejaVu Sans"/>
                <a:ea typeface="DejaVu Sans"/>
                <a:cs typeface="DejaVu Sans"/>
              </a:defRPr>
            </a:pPr>
            <a:r>
              <a:rPr sz="1425" b="1">
                <a:solidFill>
                  <a:srgbClr val="14202B"/>
                </a:solidFill>
                <a:latin typeface="DejaVu Sans"/>
                <a:ea typeface="DejaVu Sans"/>
                <a:cs typeface="DejaVu Sans"/>
              </a:rPr>
              <a:t>PUF</a:t>
            </a:r>
          </a:p>
        </p:txBody>
      </p:sp>
      <p:sp>
        <p:nvSpPr>
          <p:cNvPr id="9" name="Rectangle 8">
            <a:extLst>
              <a:ext uri="{FF2B5EF4-FFF2-40B4-BE49-F238E27FC236}">
                <a16:creationId xmlns:a16="http://schemas.microsoft.com/office/drawing/2014/main" id="{6E1C7DDA-64E1-4178-9ABC-1F3B1D49794A}"/>
              </a:ext>
            </a:extLst>
          </p:cNvPr>
          <p:cNvSpPr>
            <a:spLocks noGrp="1"/>
          </p:cNvSpPr>
          <p:nvPr/>
        </p:nvSpPr>
        <p:spPr>
          <a:xfrm>
            <a:off x="3714750" y="2314575"/>
            <a:ext cx="7810500" cy="514350"/>
          </a:xfrm>
          <a:prstGeom prst="rect">
            <a:avLst/>
          </a:prstGeom>
          <a:noFill/>
          <a:ln w="0">
            <a:noFill/>
          </a:ln>
        </p:spPr>
        <p:txBody>
          <a:bodyPr anchor="ctr">
            <a:normAutofit/>
          </a:bodyPr>
          <a:lstStyle/>
          <a:p>
            <a:pPr algn="l">
              <a:defRPr sz="1200" b="0">
                <a:solidFill>
                  <a:srgbClr val="4E6271"/>
                </a:solidFill>
                <a:latin typeface="DejaVu Sans"/>
                <a:ea typeface="DejaVu Sans"/>
                <a:cs typeface="DejaVu Sans"/>
              </a:defRPr>
            </a:pPr>
            <a:r>
              <a:rPr sz="1200" b="0">
                <a:solidFill>
                  <a:srgbClr val="4E6271"/>
                </a:solidFill>
                <a:latin typeface="DejaVu Sans"/>
                <a:ea typeface="DejaVu Sans"/>
                <a:cs typeface="DejaVu Sans"/>
              </a:rPr>
              <a:t>Đo nhiều board và điều kiện PVT; chọn bit ổn định; thêm enrollment mask hoặc fuzzy extractor/ECC.</a:t>
            </a:r>
          </a:p>
        </p:txBody>
      </p:sp>
      <p:sp>
        <p:nvSpPr>
          <p:cNvPr id="10" name="Rectangle 9">
            <a:extLst>
              <a:ext uri="{FF2B5EF4-FFF2-40B4-BE49-F238E27FC236}">
                <a16:creationId xmlns:a16="http://schemas.microsoft.com/office/drawing/2014/main" id="{BDFCEBFE-4DA4-49CA-9842-07EF5FCCE6F0}"/>
              </a:ext>
            </a:extLst>
          </p:cNvPr>
          <p:cNvSpPr>
            <a:spLocks noGrp="1"/>
          </p:cNvSpPr>
          <p:nvPr/>
        </p:nvSpPr>
        <p:spPr>
          <a:xfrm>
            <a:off x="514350" y="3276600"/>
            <a:ext cx="552450" cy="523875"/>
          </a:xfrm>
          <a:prstGeom prst="rect">
            <a:avLst/>
          </a:prstGeom>
          <a:noFill/>
          <a:ln w="0">
            <a:noFill/>
          </a:ln>
        </p:spPr>
        <p:txBody>
          <a:bodyPr anchor="ctr">
            <a:normAutofit/>
          </a:bodyPr>
          <a:lstStyle/>
          <a:p>
            <a:pPr algn="l">
              <a:defRPr sz="1875" b="1">
                <a:solidFill>
                  <a:srgbClr val="20C7B0"/>
                </a:solidFill>
                <a:latin typeface="DejaVu Sans"/>
                <a:ea typeface="DejaVu Sans"/>
                <a:cs typeface="DejaVu Sans"/>
              </a:defRPr>
            </a:pPr>
            <a:r>
              <a:rPr sz="1875" b="1">
                <a:solidFill>
                  <a:srgbClr val="20C7B0"/>
                </a:solidFill>
                <a:latin typeface="DejaVu Sans"/>
                <a:ea typeface="DejaVu Sans"/>
                <a:cs typeface="DejaVu Sans"/>
              </a:rPr>
              <a:t>03</a:t>
            </a:r>
          </a:p>
        </p:txBody>
      </p:sp>
      <p:sp>
        <p:nvSpPr>
          <p:cNvPr id="11" name="Rectangle 10">
            <a:extLst>
              <a:ext uri="{FF2B5EF4-FFF2-40B4-BE49-F238E27FC236}">
                <a16:creationId xmlns:a16="http://schemas.microsoft.com/office/drawing/2014/main" id="{D9991ED7-B770-49CD-ABB0-C5336F92DA2A}"/>
              </a:ext>
            </a:extLst>
          </p:cNvPr>
          <p:cNvSpPr>
            <a:spLocks noGrp="1"/>
          </p:cNvSpPr>
          <p:nvPr/>
        </p:nvSpPr>
        <p:spPr>
          <a:xfrm>
            <a:off x="1190625" y="3276600"/>
            <a:ext cx="2381250" cy="266700"/>
          </a:xfrm>
          <a:prstGeom prst="rect">
            <a:avLst/>
          </a:prstGeom>
          <a:noFill/>
          <a:ln w="0">
            <a:noFill/>
          </a:ln>
        </p:spPr>
        <p:txBody>
          <a:bodyPr anchor="ctr">
            <a:normAutofit fontScale="80702"/>
          </a:bodyPr>
          <a:lstStyle/>
          <a:p>
            <a:pPr algn="l">
              <a:defRPr sz="1425" b="1">
                <a:solidFill>
                  <a:srgbClr val="14202B"/>
                </a:solidFill>
                <a:latin typeface="DejaVu Sans"/>
                <a:ea typeface="DejaVu Sans"/>
                <a:cs typeface="DejaVu Sans"/>
              </a:defRPr>
            </a:pPr>
            <a:r>
              <a:rPr sz="1425" b="1">
                <a:solidFill>
                  <a:srgbClr val="14202B"/>
                </a:solidFill>
                <a:latin typeface="DejaVu Sans"/>
                <a:ea typeface="DejaVu Sans"/>
                <a:cs typeface="DejaVu Sans"/>
              </a:rPr>
              <a:t>Khóa và giao thức</a:t>
            </a:r>
          </a:p>
        </p:txBody>
      </p:sp>
      <p:sp>
        <p:nvSpPr>
          <p:cNvPr id="12" name="Rectangle 11">
            <a:extLst>
              <a:ext uri="{FF2B5EF4-FFF2-40B4-BE49-F238E27FC236}">
                <a16:creationId xmlns:a16="http://schemas.microsoft.com/office/drawing/2014/main" id="{18B541A6-D4EA-4859-9CA6-6F800D531B27}"/>
              </a:ext>
            </a:extLst>
          </p:cNvPr>
          <p:cNvSpPr>
            <a:spLocks noGrp="1"/>
          </p:cNvSpPr>
          <p:nvPr/>
        </p:nvSpPr>
        <p:spPr>
          <a:xfrm>
            <a:off x="3714750" y="3276600"/>
            <a:ext cx="7810500" cy="514350"/>
          </a:xfrm>
          <a:prstGeom prst="rect">
            <a:avLst/>
          </a:prstGeom>
          <a:noFill/>
          <a:ln w="0">
            <a:noFill/>
          </a:ln>
        </p:spPr>
        <p:txBody>
          <a:bodyPr anchor="ctr">
            <a:normAutofit/>
          </a:bodyPr>
          <a:lstStyle/>
          <a:p>
            <a:pPr algn="l">
              <a:defRPr sz="1200" b="0">
                <a:solidFill>
                  <a:srgbClr val="4E6271"/>
                </a:solidFill>
                <a:latin typeface="DejaVu Sans"/>
                <a:ea typeface="DejaVu Sans"/>
                <a:cs typeface="DejaVu Sans"/>
              </a:defRPr>
            </a:pPr>
            <a:r>
              <a:rPr sz="1200" b="0">
                <a:solidFill>
                  <a:srgbClr val="4E6271"/>
                </a:solidFill>
                <a:latin typeface="DejaVu Sans"/>
                <a:ea typeface="DejaVu Sans"/>
                <a:cs typeface="DejaVu Sans"/>
              </a:rPr>
              <a:t>Chuyển master_key sang OTP/eFuse; dùng AES-CMAC; thêm CRC response phục vụ chẩn đoán truyền thông.</a:t>
            </a:r>
          </a:p>
        </p:txBody>
      </p:sp>
      <p:sp>
        <p:nvSpPr>
          <p:cNvPr id="13" name="Rectangle 12">
            <a:extLst>
              <a:ext uri="{FF2B5EF4-FFF2-40B4-BE49-F238E27FC236}">
                <a16:creationId xmlns:a16="http://schemas.microsoft.com/office/drawing/2014/main" id="{2430CD9E-E44C-437D-8944-CD1421F0BAB7}"/>
              </a:ext>
            </a:extLst>
          </p:cNvPr>
          <p:cNvSpPr>
            <a:spLocks noGrp="1"/>
          </p:cNvSpPr>
          <p:nvPr/>
        </p:nvSpPr>
        <p:spPr>
          <a:xfrm>
            <a:off x="514350" y="4238625"/>
            <a:ext cx="552450" cy="523875"/>
          </a:xfrm>
          <a:prstGeom prst="rect">
            <a:avLst/>
          </a:prstGeom>
          <a:noFill/>
          <a:ln w="0">
            <a:noFill/>
          </a:ln>
        </p:spPr>
        <p:txBody>
          <a:bodyPr anchor="ctr">
            <a:normAutofit/>
          </a:bodyPr>
          <a:lstStyle/>
          <a:p>
            <a:pPr algn="l">
              <a:defRPr sz="1875" b="1">
                <a:solidFill>
                  <a:srgbClr val="20C7B0"/>
                </a:solidFill>
                <a:latin typeface="DejaVu Sans"/>
                <a:ea typeface="DejaVu Sans"/>
                <a:cs typeface="DejaVu Sans"/>
              </a:defRPr>
            </a:pPr>
            <a:r>
              <a:rPr sz="1875" b="1">
                <a:solidFill>
                  <a:srgbClr val="20C7B0"/>
                </a:solidFill>
                <a:latin typeface="DejaVu Sans"/>
                <a:ea typeface="DejaVu Sans"/>
                <a:cs typeface="DejaVu Sans"/>
              </a:rPr>
              <a:t>04</a:t>
            </a:r>
          </a:p>
        </p:txBody>
      </p:sp>
      <p:sp>
        <p:nvSpPr>
          <p:cNvPr id="14" name="Rectangle 13">
            <a:extLst>
              <a:ext uri="{FF2B5EF4-FFF2-40B4-BE49-F238E27FC236}">
                <a16:creationId xmlns:a16="http://schemas.microsoft.com/office/drawing/2014/main" id="{38123A96-658B-41B1-A88A-BCE9777D8AF2}"/>
              </a:ext>
            </a:extLst>
          </p:cNvPr>
          <p:cNvSpPr>
            <a:spLocks noGrp="1"/>
          </p:cNvSpPr>
          <p:nvPr/>
        </p:nvSpPr>
        <p:spPr>
          <a:xfrm>
            <a:off x="1190625" y="4238625"/>
            <a:ext cx="2381250" cy="266700"/>
          </a:xfrm>
          <a:prstGeom prst="rect">
            <a:avLst/>
          </a:prstGeom>
          <a:noFill/>
          <a:ln w="0">
            <a:noFill/>
          </a:ln>
        </p:spPr>
        <p:txBody>
          <a:bodyPr anchor="ctr">
            <a:normAutofit fontScale="80702"/>
          </a:bodyPr>
          <a:lstStyle/>
          <a:p>
            <a:pPr algn="l">
              <a:defRPr sz="1425" b="1">
                <a:solidFill>
                  <a:srgbClr val="14202B"/>
                </a:solidFill>
                <a:latin typeface="DejaVu Sans"/>
                <a:ea typeface="DejaVu Sans"/>
                <a:cs typeface="DejaVu Sans"/>
              </a:defRPr>
            </a:pPr>
            <a:r>
              <a:rPr sz="1425" b="1">
                <a:solidFill>
                  <a:srgbClr val="14202B"/>
                </a:solidFill>
                <a:latin typeface="DejaVu Sans"/>
                <a:ea typeface="DejaVu Sans"/>
                <a:cs typeface="DejaVu Sans"/>
              </a:rPr>
              <a:t>ASIC</a:t>
            </a:r>
          </a:p>
        </p:txBody>
      </p:sp>
      <p:sp>
        <p:nvSpPr>
          <p:cNvPr id="15" name="Rectangle 14">
            <a:extLst>
              <a:ext uri="{FF2B5EF4-FFF2-40B4-BE49-F238E27FC236}">
                <a16:creationId xmlns:a16="http://schemas.microsoft.com/office/drawing/2014/main" id="{0D352ABA-F1DA-4F21-BFF9-7C2E7FD73D8B}"/>
              </a:ext>
            </a:extLst>
          </p:cNvPr>
          <p:cNvSpPr>
            <a:spLocks noGrp="1"/>
          </p:cNvSpPr>
          <p:nvPr/>
        </p:nvSpPr>
        <p:spPr>
          <a:xfrm>
            <a:off x="3714750" y="4238625"/>
            <a:ext cx="7810500" cy="514350"/>
          </a:xfrm>
          <a:prstGeom prst="rect">
            <a:avLst/>
          </a:prstGeom>
          <a:noFill/>
          <a:ln w="0">
            <a:noFill/>
          </a:ln>
        </p:spPr>
        <p:txBody>
          <a:bodyPr anchor="ctr">
            <a:normAutofit/>
          </a:bodyPr>
          <a:lstStyle/>
          <a:p>
            <a:pPr algn="l">
              <a:defRPr sz="1200" b="0">
                <a:solidFill>
                  <a:srgbClr val="4E6271"/>
                </a:solidFill>
                <a:latin typeface="DejaVu Sans"/>
                <a:ea typeface="DejaVu Sans"/>
                <a:cs typeface="DejaVu Sans"/>
              </a:defRPr>
            </a:pPr>
            <a:r>
              <a:rPr sz="1200" b="0">
                <a:solidFill>
                  <a:srgbClr val="4E6271"/>
                </a:solidFill>
                <a:latin typeface="DejaVu Sans"/>
                <a:ea typeface="DejaVu Sans"/>
                <a:cs typeface="DejaVu Sans"/>
              </a:rPr>
              <a:t>Sửa chọn lọc 29 net antenna; giảm max slew/fanout; xử lý tương thích CVC model; thêm pad ring và power plan thực.</a:t>
            </a:r>
          </a:p>
        </p:txBody>
      </p:sp>
      <p:sp>
        <p:nvSpPr>
          <p:cNvPr id="16" name="Rectangle 15">
            <a:extLst>
              <a:ext uri="{FF2B5EF4-FFF2-40B4-BE49-F238E27FC236}">
                <a16:creationId xmlns:a16="http://schemas.microsoft.com/office/drawing/2014/main" id="{68BA7369-2505-459A-B9D9-8CEA02D0628E}"/>
              </a:ext>
            </a:extLst>
          </p:cNvPr>
          <p:cNvSpPr>
            <a:spLocks noGrp="1"/>
          </p:cNvSpPr>
          <p:nvPr/>
        </p:nvSpPr>
        <p:spPr>
          <a:xfrm>
            <a:off x="514350" y="5200650"/>
            <a:ext cx="552450" cy="523875"/>
          </a:xfrm>
          <a:prstGeom prst="rect">
            <a:avLst/>
          </a:prstGeom>
          <a:noFill/>
          <a:ln w="0">
            <a:noFill/>
          </a:ln>
        </p:spPr>
        <p:txBody>
          <a:bodyPr anchor="ctr">
            <a:normAutofit/>
          </a:bodyPr>
          <a:lstStyle/>
          <a:p>
            <a:pPr algn="l">
              <a:defRPr sz="1875" b="1">
                <a:solidFill>
                  <a:srgbClr val="20C7B0"/>
                </a:solidFill>
                <a:latin typeface="DejaVu Sans"/>
                <a:ea typeface="DejaVu Sans"/>
                <a:cs typeface="DejaVu Sans"/>
              </a:defRPr>
            </a:pPr>
            <a:r>
              <a:rPr sz="1875" b="1">
                <a:solidFill>
                  <a:srgbClr val="20C7B0"/>
                </a:solidFill>
                <a:latin typeface="DejaVu Sans"/>
                <a:ea typeface="DejaVu Sans"/>
                <a:cs typeface="DejaVu Sans"/>
              </a:rPr>
              <a:t>05</a:t>
            </a:r>
          </a:p>
        </p:txBody>
      </p:sp>
      <p:sp>
        <p:nvSpPr>
          <p:cNvPr id="17" name="Rectangle 16">
            <a:extLst>
              <a:ext uri="{FF2B5EF4-FFF2-40B4-BE49-F238E27FC236}">
                <a16:creationId xmlns:a16="http://schemas.microsoft.com/office/drawing/2014/main" id="{EC3FCFE4-AFBE-42FC-981F-F1984D03FCEA}"/>
              </a:ext>
            </a:extLst>
          </p:cNvPr>
          <p:cNvSpPr>
            <a:spLocks noGrp="1"/>
          </p:cNvSpPr>
          <p:nvPr/>
        </p:nvSpPr>
        <p:spPr>
          <a:xfrm>
            <a:off x="1190625" y="5200650"/>
            <a:ext cx="2381250" cy="266700"/>
          </a:xfrm>
          <a:prstGeom prst="rect">
            <a:avLst/>
          </a:prstGeom>
          <a:noFill/>
          <a:ln w="0">
            <a:noFill/>
          </a:ln>
        </p:spPr>
        <p:txBody>
          <a:bodyPr anchor="ctr">
            <a:normAutofit fontScale="80702"/>
          </a:bodyPr>
          <a:lstStyle/>
          <a:p>
            <a:pPr algn="l">
              <a:defRPr sz="1425" b="1">
                <a:solidFill>
                  <a:srgbClr val="14202B"/>
                </a:solidFill>
                <a:latin typeface="DejaVu Sans"/>
                <a:ea typeface="DejaVu Sans"/>
                <a:cs typeface="DejaVu Sans"/>
              </a:defRPr>
            </a:pPr>
            <a:r>
              <a:rPr sz="1425" b="1">
                <a:solidFill>
                  <a:srgbClr val="14202B"/>
                </a:solidFill>
                <a:latin typeface="DejaVu Sans"/>
                <a:ea typeface="DejaVu Sans"/>
                <a:cs typeface="DejaVu Sans"/>
              </a:rPr>
              <a:t>Sản phẩm</a:t>
            </a:r>
          </a:p>
        </p:txBody>
      </p:sp>
      <p:sp>
        <p:nvSpPr>
          <p:cNvPr id="18" name="Rectangle 17">
            <a:extLst>
              <a:ext uri="{FF2B5EF4-FFF2-40B4-BE49-F238E27FC236}">
                <a16:creationId xmlns:a16="http://schemas.microsoft.com/office/drawing/2014/main" id="{5C621E5F-2EEA-41BC-A3D9-40961973BF24}"/>
              </a:ext>
            </a:extLst>
          </p:cNvPr>
          <p:cNvSpPr>
            <a:spLocks noGrp="1"/>
          </p:cNvSpPr>
          <p:nvPr/>
        </p:nvSpPr>
        <p:spPr>
          <a:xfrm>
            <a:off x="3714750" y="5200650"/>
            <a:ext cx="7810500" cy="514350"/>
          </a:xfrm>
          <a:prstGeom prst="rect">
            <a:avLst/>
          </a:prstGeom>
          <a:noFill/>
          <a:ln w="0">
            <a:noFill/>
          </a:ln>
        </p:spPr>
        <p:txBody>
          <a:bodyPr anchor="ctr">
            <a:normAutofit/>
          </a:bodyPr>
          <a:lstStyle/>
          <a:p>
            <a:pPr algn="l">
              <a:defRPr sz="1200" b="0">
                <a:solidFill>
                  <a:srgbClr val="4E6271"/>
                </a:solidFill>
                <a:latin typeface="DejaVu Sans"/>
                <a:ea typeface="DejaVu Sans"/>
                <a:cs typeface="DejaVu Sans"/>
              </a:defRPr>
            </a:pPr>
            <a:r>
              <a:rPr sz="1200" b="0">
                <a:solidFill>
                  <a:srgbClr val="4E6271"/>
                </a:solidFill>
                <a:latin typeface="DejaVu Sans"/>
                <a:ea typeface="DejaVu Sans"/>
                <a:cs typeface="DejaVu Sans"/>
              </a:rPr>
              <a:t>NFC/RFID hoặc giao tiếp phù hợp ứng dụng; threat analysis mở rộng; side-channel và fault injection.</a:t>
            </a:r>
          </a:p>
        </p:txBody>
      </p:sp>
      <p:sp>
        <p:nvSpPr>
          <p:cNvPr id="19" name="Rectangle 18">
            <a:extLst>
              <a:ext uri="{FF2B5EF4-FFF2-40B4-BE49-F238E27FC236}">
                <a16:creationId xmlns:a16="http://schemas.microsoft.com/office/drawing/2014/main" id="{DDAE6B0C-A541-461B-A6D4-58319EF3F8C1}"/>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TrueChip  •  Prototype xác thực phần cứng</a:t>
            </a:r>
          </a:p>
        </p:txBody>
      </p:sp>
      <p:sp>
        <p:nvSpPr>
          <p:cNvPr id="20" name="Rectangle 19">
            <a:extLst>
              <a:ext uri="{FF2B5EF4-FFF2-40B4-BE49-F238E27FC236}">
                <a16:creationId xmlns:a16="http://schemas.microsoft.com/office/drawing/2014/main" id="{7F62B761-D0FC-4BDF-8164-C896EB2E8861}"/>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60717F"/>
                </a:solidFill>
                <a:latin typeface="DejaVu Sans"/>
                <a:ea typeface="DejaVu Sans"/>
                <a:cs typeface="DejaVu Sans"/>
              </a:defRPr>
            </a:pPr>
            <a:r>
              <a:rPr sz="825" b="0">
                <a:solidFill>
                  <a:srgbClr val="60717F"/>
                </a:solidFill>
                <a:latin typeface="DejaVu Sans"/>
                <a:ea typeface="DejaVu Sans"/>
                <a:cs typeface="DejaVu Sans"/>
              </a:rPr>
              <a:t>21</a:t>
            </a:r>
          </a:p>
        </p:txBody>
      </p:sp>
    </p:spTree>
    <p:extLst>
      <p:ext uri="{BB962C8B-B14F-4D97-AF65-F5344CB8AC3E}">
        <p14:creationId xmlns:p14="http://schemas.microsoft.com/office/powerpoint/2010/main" val="41548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71524"/>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FC06146-7074-475E-A3A2-E04478261A48}"/>
              </a:ext>
            </a:extLst>
          </p:cNvPr>
          <p:cNvSpPr>
            <a:spLocks noGrp="1"/>
          </p:cNvSpPr>
          <p:nvPr/>
        </p:nvSpPr>
        <p:spPr>
          <a:xfrm>
            <a:off x="495300" y="209550"/>
            <a:ext cx="3048000" cy="247650"/>
          </a:xfrm>
          <a:prstGeom prst="rect">
            <a:avLst/>
          </a:prstGeom>
          <a:noFill/>
          <a:ln w="0">
            <a:noFill/>
          </a:ln>
        </p:spPr>
        <p:txBody>
          <a:bodyPr anchor="ctr">
            <a:normAutofit fontScale="91111"/>
          </a:bodyPr>
          <a:lstStyle/>
          <a:p>
            <a:pPr algn="l">
              <a:defRPr sz="1125" b="1">
                <a:solidFill>
                  <a:srgbClr val="20C7B0"/>
                </a:solidFill>
                <a:latin typeface="DejaVu Sans"/>
                <a:ea typeface="DejaVu Sans"/>
                <a:cs typeface="DejaVu Sans"/>
              </a:defRPr>
            </a:pPr>
            <a:r>
              <a:rPr sz="1125" b="1">
                <a:solidFill>
                  <a:srgbClr val="20C7B0"/>
                </a:solidFill>
                <a:latin typeface="DejaVu Sans"/>
                <a:ea typeface="DejaVu Sans"/>
                <a:cs typeface="DejaVu Sans"/>
              </a:rPr>
              <a:t>TRUECHIP</a:t>
            </a:r>
          </a:p>
        </p:txBody>
      </p:sp>
      <p:sp>
        <p:nvSpPr>
          <p:cNvPr id="2" name="Rectangle 1">
            <a:extLst>
              <a:ext uri="{FF2B5EF4-FFF2-40B4-BE49-F238E27FC236}">
                <a16:creationId xmlns:a16="http://schemas.microsoft.com/office/drawing/2014/main" id="{3F0578C3-2026-4838-B297-872E9ED2850A}"/>
              </a:ext>
            </a:extLst>
          </p:cNvPr>
          <p:cNvSpPr>
            <a:spLocks noGrp="1"/>
          </p:cNvSpPr>
          <p:nvPr/>
        </p:nvSpPr>
        <p:spPr>
          <a:xfrm>
            <a:off x="495300" y="476250"/>
            <a:ext cx="11144250" cy="609600"/>
          </a:xfrm>
          <a:prstGeom prst="rect">
            <a:avLst/>
          </a:prstGeom>
          <a:noFill/>
          <a:ln w="0">
            <a:noFill/>
          </a:ln>
        </p:spPr>
        <p:txBody>
          <a:bodyPr anchor="ctr">
            <a:normAutofit/>
          </a:bodyPr>
          <a:lstStyle/>
          <a:p>
            <a:pPr algn="l">
              <a:defRPr sz="2550" b="1">
                <a:solidFill>
                  <a:srgbClr val="F7FAFC"/>
                </a:solidFill>
                <a:latin typeface="DejaVu Sans"/>
                <a:ea typeface="DejaVu Sans"/>
                <a:cs typeface="DejaVu Sans"/>
              </a:defRPr>
            </a:pPr>
            <a:r>
              <a:rPr sz="2550" b="1">
                <a:solidFill>
                  <a:srgbClr val="F7FAFC"/>
                </a:solidFill>
                <a:latin typeface="DejaVu Sans"/>
                <a:ea typeface="DejaVu Sans"/>
                <a:cs typeface="DejaVu Sans"/>
              </a:rPr>
              <a:t>Kết luận</a:t>
            </a:r>
          </a:p>
        </p:txBody>
      </p:sp>
      <p:sp>
        <p:nvSpPr>
          <p:cNvPr id="3" name="Rectangle 2">
            <a:extLst>
              <a:ext uri="{FF2B5EF4-FFF2-40B4-BE49-F238E27FC236}">
                <a16:creationId xmlns:a16="http://schemas.microsoft.com/office/drawing/2014/main" id="{A05C3C1D-6ED2-40A3-991C-52D12A40F32F}"/>
              </a:ext>
            </a:extLst>
          </p:cNvPr>
          <p:cNvSpPr>
            <a:spLocks noGrp="1"/>
          </p:cNvSpPr>
          <p:nvPr/>
        </p:nvSpPr>
        <p:spPr>
          <a:xfrm>
            <a:off x="495300" y="1104900"/>
            <a:ext cx="704850" cy="38100"/>
          </a:xfrm>
          <a:prstGeom prst="rect">
            <a:avLst/>
          </a:prstGeom>
          <a:solidFill>
            <a:srgbClr val="20C7B0"/>
          </a:solidFill>
          <a:ln w="0">
            <a:noFill/>
          </a:ln>
        </p:spPr>
        <p:txBody>
          <a:bodyPr/>
          <a:lstStyle/>
          <a:p>
            <a:endParaRPr lang="en-VN"/>
          </a:p>
        </p:txBody>
      </p:sp>
      <p:sp>
        <p:nvSpPr>
          <p:cNvPr id="4" name="Rectangle 3">
            <a:extLst>
              <a:ext uri="{FF2B5EF4-FFF2-40B4-BE49-F238E27FC236}">
                <a16:creationId xmlns:a16="http://schemas.microsoft.com/office/drawing/2014/main" id="{4A40AFBC-858B-4325-B848-D06E279E72C8}"/>
              </a:ext>
            </a:extLst>
          </p:cNvPr>
          <p:cNvSpPr>
            <a:spLocks noGrp="1"/>
          </p:cNvSpPr>
          <p:nvPr/>
        </p:nvSpPr>
        <p:spPr>
          <a:xfrm>
            <a:off x="609600" y="1428750"/>
            <a:ext cx="10906125" cy="742950"/>
          </a:xfrm>
          <a:prstGeom prst="rect">
            <a:avLst/>
          </a:prstGeom>
          <a:noFill/>
          <a:ln w="0">
            <a:noFill/>
          </a:ln>
        </p:spPr>
        <p:txBody>
          <a:bodyPr anchor="ctr">
            <a:normAutofit/>
          </a:bodyPr>
          <a:lstStyle/>
          <a:p>
            <a:pPr algn="l">
              <a:defRPr sz="2100" b="1">
                <a:solidFill>
                  <a:srgbClr val="F7FAFC"/>
                </a:solidFill>
                <a:latin typeface="DejaVu Sans"/>
                <a:ea typeface="DejaVu Sans"/>
                <a:cs typeface="DejaVu Sans"/>
              </a:defRPr>
            </a:pPr>
            <a:r>
              <a:rPr sz="2100" b="1">
                <a:solidFill>
                  <a:srgbClr val="F7FAFC"/>
                </a:solidFill>
                <a:latin typeface="DejaVu Sans"/>
                <a:ea typeface="DejaVu Sans"/>
                <a:cs typeface="DejaVu Sans"/>
              </a:rPr>
              <a:t>TrueChip đã có một đường xác thực hoàn chỉnh ở mức prototype, từ RTL và FPGA đến web demo và hardening lõi số trên SKY130A.</a:t>
            </a:r>
          </a:p>
        </p:txBody>
      </p:sp>
      <p:sp>
        <p:nvSpPr>
          <p:cNvPr id="5" name="Rounded Rectangle 4">
            <a:extLst>
              <a:ext uri="{FF2B5EF4-FFF2-40B4-BE49-F238E27FC236}">
                <a16:creationId xmlns:a16="http://schemas.microsoft.com/office/drawing/2014/main" id="{80A45F44-5000-4A30-A4C9-CC4AA693C859}"/>
              </a:ext>
            </a:extLst>
          </p:cNvPr>
          <p:cNvSpPr>
            <a:spLocks noGrp="1"/>
          </p:cNvSpPr>
          <p:nvPr/>
        </p:nvSpPr>
        <p:spPr>
          <a:xfrm>
            <a:off x="666750" y="2733675"/>
            <a:ext cx="76200" cy="76200"/>
          </a:xfrm>
          <a:prstGeom prst="roundRect">
            <a:avLst>
              <a:gd name="adj" fmla="val 50000"/>
            </a:avLst>
          </a:prstGeom>
          <a:solidFill>
            <a:srgbClr val="1E9E77"/>
          </a:solidFill>
          <a:ln w="0">
            <a:noFill/>
          </a:ln>
        </p:spPr>
        <p:txBody>
          <a:bodyPr/>
          <a:lstStyle/>
          <a:p>
            <a:endParaRPr lang="en-VN"/>
          </a:p>
        </p:txBody>
      </p:sp>
      <p:sp>
        <p:nvSpPr>
          <p:cNvPr id="6" name="Rectangle 5">
            <a:extLst>
              <a:ext uri="{FF2B5EF4-FFF2-40B4-BE49-F238E27FC236}">
                <a16:creationId xmlns:a16="http://schemas.microsoft.com/office/drawing/2014/main" id="{4853B8B4-B735-412D-9239-D0BFB8F4551B}"/>
              </a:ext>
            </a:extLst>
          </p:cNvPr>
          <p:cNvSpPr>
            <a:spLocks noGrp="1"/>
          </p:cNvSpPr>
          <p:nvPr/>
        </p:nvSpPr>
        <p:spPr>
          <a:xfrm>
            <a:off x="876300" y="2667000"/>
            <a:ext cx="4743450" cy="266700"/>
          </a:xfrm>
          <a:prstGeom prst="rect">
            <a:avLst/>
          </a:prstGeom>
          <a:noFill/>
          <a:ln w="0">
            <a:noFill/>
          </a:ln>
        </p:spPr>
        <p:txBody>
          <a:bodyPr anchor="ctr">
            <a:normAutofit fontScale="85185"/>
          </a:bodyPr>
          <a:lstStyle/>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Điểm đã chứng minh</a:t>
            </a:r>
          </a:p>
        </p:txBody>
      </p:sp>
      <p:sp>
        <p:nvSpPr>
          <p:cNvPr id="7" name="Rectangle 6">
            <a:extLst>
              <a:ext uri="{FF2B5EF4-FFF2-40B4-BE49-F238E27FC236}">
                <a16:creationId xmlns:a16="http://schemas.microsoft.com/office/drawing/2014/main" id="{0774138E-AD94-47CC-A5B2-587A82DBAE48}"/>
              </a:ext>
            </a:extLst>
          </p:cNvPr>
          <p:cNvSpPr>
            <a:spLocks noGrp="1"/>
          </p:cNvSpPr>
          <p:nvPr/>
        </p:nvSpPr>
        <p:spPr>
          <a:xfrm>
            <a:off x="876300" y="2943225"/>
            <a:ext cx="4743450" cy="552450"/>
          </a:xfrm>
          <a:prstGeom prst="rect">
            <a:avLst/>
          </a:prstGeom>
          <a:noFill/>
          <a:ln w="0">
            <a:noFill/>
          </a:ln>
        </p:spPr>
        <p:txBody>
          <a:bodyPr anchor="ctr">
            <a:normAutofit/>
          </a:bodyPr>
          <a:lstStyle/>
          <a:p>
            <a:pPr algn="l">
              <a:defRPr sz="1125" b="0">
                <a:solidFill>
                  <a:srgbClr val="9FB0BF"/>
                </a:solidFill>
                <a:latin typeface="DejaVu Sans"/>
                <a:ea typeface="DejaVu Sans"/>
                <a:cs typeface="DejaVu Sans"/>
              </a:defRPr>
            </a:pPr>
            <a:r>
              <a:rPr sz="1125" b="0">
                <a:solidFill>
                  <a:srgbClr val="9FB0BF"/>
                </a:solidFill>
                <a:latin typeface="DejaVu Sans"/>
                <a:ea typeface="DejaVu Sans"/>
                <a:cs typeface="DejaVu Sans"/>
              </a:rPr>
              <a:t>Regression RTL 7/7, UART board positive 4/4, negative 20/20, web AUTHENTIC, DRC/LVS/XOR sạch và timing signoff dương.</a:t>
            </a:r>
          </a:p>
        </p:txBody>
      </p:sp>
      <p:sp>
        <p:nvSpPr>
          <p:cNvPr id="8" name="Rounded Rectangle 7">
            <a:extLst>
              <a:ext uri="{FF2B5EF4-FFF2-40B4-BE49-F238E27FC236}">
                <a16:creationId xmlns:a16="http://schemas.microsoft.com/office/drawing/2014/main" id="{CF456555-FC1C-46AB-AAF4-BA3BC4E3E1FC}"/>
              </a:ext>
            </a:extLst>
          </p:cNvPr>
          <p:cNvSpPr>
            <a:spLocks noGrp="1"/>
          </p:cNvSpPr>
          <p:nvPr/>
        </p:nvSpPr>
        <p:spPr>
          <a:xfrm>
            <a:off x="6477000" y="2733675"/>
            <a:ext cx="76200" cy="76200"/>
          </a:xfrm>
          <a:prstGeom prst="roundRect">
            <a:avLst>
              <a:gd name="adj" fmla="val 50000"/>
            </a:avLst>
          </a:prstGeom>
          <a:solidFill>
            <a:srgbClr val="D79B2B"/>
          </a:solidFill>
          <a:ln w="0">
            <a:noFill/>
          </a:ln>
        </p:spPr>
        <p:txBody>
          <a:bodyPr/>
          <a:lstStyle/>
          <a:p>
            <a:endParaRPr lang="en-VN"/>
          </a:p>
        </p:txBody>
      </p:sp>
      <p:sp>
        <p:nvSpPr>
          <p:cNvPr id="9" name="Rectangle 8">
            <a:extLst>
              <a:ext uri="{FF2B5EF4-FFF2-40B4-BE49-F238E27FC236}">
                <a16:creationId xmlns:a16="http://schemas.microsoft.com/office/drawing/2014/main" id="{F6A7762A-FBD5-4C44-AEF3-07FBF66F2BB3}"/>
              </a:ext>
            </a:extLst>
          </p:cNvPr>
          <p:cNvSpPr>
            <a:spLocks noGrp="1"/>
          </p:cNvSpPr>
          <p:nvPr/>
        </p:nvSpPr>
        <p:spPr>
          <a:xfrm>
            <a:off x="6686550" y="2667000"/>
            <a:ext cx="4743450" cy="266700"/>
          </a:xfrm>
          <a:prstGeom prst="rect">
            <a:avLst/>
          </a:prstGeom>
          <a:noFill/>
          <a:ln w="0">
            <a:noFill/>
          </a:ln>
        </p:spPr>
        <p:txBody>
          <a:bodyPr anchor="ctr">
            <a:normAutofit fontScale="85185"/>
          </a:bodyPr>
          <a:lstStyle/>
          <a:p>
            <a:pPr algn="l">
              <a:defRPr sz="1350" b="1">
                <a:solidFill>
                  <a:srgbClr val="F7FAFC"/>
                </a:solidFill>
                <a:latin typeface="DejaVu Sans"/>
                <a:ea typeface="DejaVu Sans"/>
                <a:cs typeface="DejaVu Sans"/>
              </a:defRPr>
            </a:pPr>
            <a:r>
              <a:rPr sz="1350" b="1">
                <a:solidFill>
                  <a:srgbClr val="F7FAFC"/>
                </a:solidFill>
                <a:latin typeface="DejaVu Sans"/>
                <a:ea typeface="DejaVu Sans"/>
                <a:cs typeface="DejaVu Sans"/>
              </a:rPr>
              <a:t>Điểm còn mở</a:t>
            </a:r>
          </a:p>
        </p:txBody>
      </p:sp>
      <p:sp>
        <p:nvSpPr>
          <p:cNvPr id="10" name="Rectangle 9">
            <a:extLst>
              <a:ext uri="{FF2B5EF4-FFF2-40B4-BE49-F238E27FC236}">
                <a16:creationId xmlns:a16="http://schemas.microsoft.com/office/drawing/2014/main" id="{98A68736-C6DF-4302-BE79-312F6471F8AB}"/>
              </a:ext>
            </a:extLst>
          </p:cNvPr>
          <p:cNvSpPr>
            <a:spLocks noGrp="1"/>
          </p:cNvSpPr>
          <p:nvPr/>
        </p:nvSpPr>
        <p:spPr>
          <a:xfrm>
            <a:off x="6686550" y="2943225"/>
            <a:ext cx="4743450" cy="552450"/>
          </a:xfrm>
          <a:prstGeom prst="rect">
            <a:avLst/>
          </a:prstGeom>
          <a:noFill/>
          <a:ln w="0">
            <a:noFill/>
          </a:ln>
        </p:spPr>
        <p:txBody>
          <a:bodyPr anchor="ctr">
            <a:normAutofit fontScale="98857"/>
          </a:bodyPr>
          <a:lstStyle/>
          <a:p>
            <a:pPr algn="l">
              <a:defRPr sz="1125" b="0">
                <a:solidFill>
                  <a:srgbClr val="9FB0BF"/>
                </a:solidFill>
                <a:latin typeface="DejaVu Sans"/>
                <a:ea typeface="DejaVu Sans"/>
                <a:cs typeface="DejaVu Sans"/>
              </a:defRPr>
            </a:pPr>
            <a:r>
              <a:rPr sz="1125" b="0">
                <a:solidFill>
                  <a:srgbClr val="9FB0BF"/>
                </a:solidFill>
                <a:latin typeface="DejaVu Sans"/>
                <a:ea typeface="DejaVu Sans"/>
                <a:cs typeface="DejaVu Sans"/>
              </a:rPr>
              <a:t>Rate limit trên board còn FAIL, antenna còn 29 vi phạm, CVC/ERC chưa hoàn tất và PUF cần ECC cùng đặc trưng hóa PVT.</a:t>
            </a:r>
          </a:p>
        </p:txBody>
      </p:sp>
      <p:sp>
        <p:nvSpPr>
          <p:cNvPr id="11" name="Rounded Rectangle 10">
            <a:extLst>
              <a:ext uri="{FF2B5EF4-FFF2-40B4-BE49-F238E27FC236}">
                <a16:creationId xmlns:a16="http://schemas.microsoft.com/office/drawing/2014/main" id="{60617291-E6BA-406E-853A-1FF0EDF8AF5F}"/>
              </a:ext>
            </a:extLst>
          </p:cNvPr>
          <p:cNvSpPr>
            <a:spLocks noGrp="1"/>
          </p:cNvSpPr>
          <p:nvPr/>
        </p:nvSpPr>
        <p:spPr>
          <a:xfrm>
            <a:off x="647700" y="4762500"/>
            <a:ext cx="10839450" cy="876300"/>
          </a:xfrm>
          <a:prstGeom prst="roundRect">
            <a:avLst>
              <a:gd name="adj" fmla="val 17391"/>
            </a:avLst>
          </a:prstGeom>
          <a:solidFill>
            <a:srgbClr val="0D2E3B"/>
          </a:solidFill>
          <a:ln w="9525">
            <a:solidFill>
              <a:srgbClr val="315064"/>
            </a:solidFill>
          </a:ln>
        </p:spPr>
        <p:txBody>
          <a:bodyPr/>
          <a:lstStyle/>
          <a:p>
            <a:endParaRPr lang="en-VN"/>
          </a:p>
        </p:txBody>
      </p:sp>
      <p:sp>
        <p:nvSpPr>
          <p:cNvPr id="12" name="Rectangle 11">
            <a:extLst>
              <a:ext uri="{FF2B5EF4-FFF2-40B4-BE49-F238E27FC236}">
                <a16:creationId xmlns:a16="http://schemas.microsoft.com/office/drawing/2014/main" id="{9AB1632D-B674-4179-A302-58C3E1E4E73A}"/>
              </a:ext>
            </a:extLst>
          </p:cNvPr>
          <p:cNvSpPr>
            <a:spLocks noGrp="1"/>
          </p:cNvSpPr>
          <p:nvPr/>
        </p:nvSpPr>
        <p:spPr>
          <a:xfrm>
            <a:off x="876300" y="4886325"/>
            <a:ext cx="2381250" cy="266700"/>
          </a:xfrm>
          <a:prstGeom prst="rect">
            <a:avLst/>
          </a:prstGeom>
          <a:noFill/>
          <a:ln w="0">
            <a:noFill/>
          </a:ln>
        </p:spPr>
        <p:txBody>
          <a:bodyPr anchor="ctr">
            <a:normAutofit fontScale="90196"/>
          </a:bodyPr>
          <a:lstStyle/>
          <a:p>
            <a:pPr algn="l">
              <a:defRPr sz="1275" b="1">
                <a:solidFill>
                  <a:srgbClr val="20C7B0"/>
                </a:solidFill>
                <a:latin typeface="DejaVu Sans"/>
                <a:ea typeface="DejaVu Sans"/>
                <a:cs typeface="DejaVu Sans"/>
              </a:defRPr>
            </a:pPr>
            <a:r>
              <a:rPr sz="1275" b="1">
                <a:solidFill>
                  <a:srgbClr val="20C7B0"/>
                </a:solidFill>
                <a:latin typeface="DejaVu Sans"/>
                <a:ea typeface="DejaVu Sans"/>
                <a:cs typeface="DejaVu Sans"/>
              </a:rPr>
              <a:t>Thông điệp chính</a:t>
            </a:r>
          </a:p>
        </p:txBody>
      </p:sp>
      <p:sp>
        <p:nvSpPr>
          <p:cNvPr id="13" name="Rectangle 12">
            <a:extLst>
              <a:ext uri="{FF2B5EF4-FFF2-40B4-BE49-F238E27FC236}">
                <a16:creationId xmlns:a16="http://schemas.microsoft.com/office/drawing/2014/main" id="{5145296C-6998-45A3-8C93-F085C0E629AD}"/>
              </a:ext>
            </a:extLst>
          </p:cNvPr>
          <p:cNvSpPr>
            <a:spLocks noGrp="1"/>
          </p:cNvSpPr>
          <p:nvPr/>
        </p:nvSpPr>
        <p:spPr>
          <a:xfrm>
            <a:off x="876300" y="5191125"/>
            <a:ext cx="10096500" cy="323850"/>
          </a:xfrm>
          <a:prstGeom prst="rect">
            <a:avLst/>
          </a:prstGeom>
          <a:noFill/>
          <a:ln w="0">
            <a:noFill/>
          </a:ln>
        </p:spPr>
        <p:txBody>
          <a:bodyPr anchor="ctr">
            <a:normAutofit fontScale="76792"/>
          </a:bodyPr>
          <a:lstStyle/>
          <a:p>
            <a:pPr algn="l">
              <a:defRPr sz="1500" b="1">
                <a:solidFill>
                  <a:srgbClr val="F7FAFC"/>
                </a:solidFill>
                <a:latin typeface="DejaVu Sans"/>
                <a:ea typeface="DejaVu Sans"/>
                <a:cs typeface="DejaVu Sans"/>
              </a:defRPr>
            </a:pPr>
            <a:r>
              <a:rPr sz="1500" b="1">
                <a:solidFill>
                  <a:srgbClr val="F7FAFC"/>
                </a:solidFill>
                <a:latin typeface="DejaVu Sans"/>
                <a:ea typeface="DejaVu Sans"/>
                <a:cs typeface="DejaVu Sans"/>
              </a:rPr>
              <a:t>Giá trị của dự án nằm ở kiến trúc tích hợp có thể kiểm chứng và cách công bố trung thực các kết quả còn chưa khép kín.</a:t>
            </a:r>
          </a:p>
        </p:txBody>
      </p:sp>
      <p:sp>
        <p:nvSpPr>
          <p:cNvPr id="14" name="Rectangle 13">
            <a:extLst>
              <a:ext uri="{FF2B5EF4-FFF2-40B4-BE49-F238E27FC236}">
                <a16:creationId xmlns:a16="http://schemas.microsoft.com/office/drawing/2014/main" id="{34F8C4C6-8FE3-45DC-A182-078FBAF17435}"/>
              </a:ext>
            </a:extLst>
          </p:cNvPr>
          <p:cNvSpPr>
            <a:spLocks noGrp="1"/>
          </p:cNvSpPr>
          <p:nvPr/>
        </p:nvSpPr>
        <p:spPr>
          <a:xfrm>
            <a:off x="666750" y="5981700"/>
            <a:ext cx="10858500" cy="381000"/>
          </a:xfrm>
          <a:prstGeom prst="rect">
            <a:avLst/>
          </a:prstGeom>
          <a:noFill/>
          <a:ln w="0">
            <a:noFill/>
          </a:ln>
        </p:spPr>
        <p:txBody>
          <a:bodyPr anchor="ctr">
            <a:normAutofit fontScale="97436"/>
          </a:bodyPr>
          <a:lstStyle/>
          <a:p>
            <a:pPr algn="ctr">
              <a:defRPr sz="1950" b="1">
                <a:solidFill>
                  <a:srgbClr val="20C7B0"/>
                </a:solidFill>
                <a:latin typeface="DejaVu Sans"/>
                <a:ea typeface="DejaVu Sans"/>
                <a:cs typeface="DejaVu Sans"/>
              </a:defRPr>
            </a:pPr>
            <a:r>
              <a:rPr sz="1950" b="1">
                <a:solidFill>
                  <a:srgbClr val="20C7B0"/>
                </a:solidFill>
                <a:latin typeface="DejaVu Sans"/>
                <a:ea typeface="DejaVu Sans"/>
                <a:cs typeface="DejaVu Sans"/>
              </a:rPr>
              <a:t>Q&amp;A</a:t>
            </a:r>
          </a:p>
        </p:txBody>
      </p:sp>
      <p:sp>
        <p:nvSpPr>
          <p:cNvPr id="15" name="Rectangle 14">
            <a:extLst>
              <a:ext uri="{FF2B5EF4-FFF2-40B4-BE49-F238E27FC236}">
                <a16:creationId xmlns:a16="http://schemas.microsoft.com/office/drawing/2014/main" id="{C755DC74-E38C-4FE6-B2C7-8AF98A037F63}"/>
              </a:ext>
            </a:extLst>
          </p:cNvPr>
          <p:cNvSpPr>
            <a:spLocks noGrp="1"/>
          </p:cNvSpPr>
          <p:nvPr/>
        </p:nvSpPr>
        <p:spPr>
          <a:xfrm>
            <a:off x="495300" y="6505575"/>
            <a:ext cx="4953000" cy="171450"/>
          </a:xfrm>
          <a:prstGeom prst="rect">
            <a:avLst/>
          </a:prstGeom>
          <a:noFill/>
          <a:ln w="0">
            <a:noFill/>
          </a:ln>
        </p:spPr>
        <p:txBody>
          <a:bodyPr anchor="ctr">
            <a:normAutofit fontScale="63636"/>
          </a:bodyPr>
          <a:lstStyle/>
          <a:p>
            <a:pPr algn="l">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TrueChip  •  Prototype xác thực phần cứng</a:t>
            </a:r>
          </a:p>
        </p:txBody>
      </p:sp>
      <p:sp>
        <p:nvSpPr>
          <p:cNvPr id="16" name="Rectangle 15">
            <a:extLst>
              <a:ext uri="{FF2B5EF4-FFF2-40B4-BE49-F238E27FC236}">
                <a16:creationId xmlns:a16="http://schemas.microsoft.com/office/drawing/2014/main" id="{FBA2D10F-66B3-4095-81F7-266F2F34B423}"/>
              </a:ext>
            </a:extLst>
          </p:cNvPr>
          <p:cNvSpPr>
            <a:spLocks noGrp="1"/>
          </p:cNvSpPr>
          <p:nvPr/>
        </p:nvSpPr>
        <p:spPr>
          <a:xfrm>
            <a:off x="11334750" y="6486525"/>
            <a:ext cx="342900" cy="171450"/>
          </a:xfrm>
          <a:prstGeom prst="rect">
            <a:avLst/>
          </a:prstGeom>
          <a:noFill/>
          <a:ln w="0">
            <a:noFill/>
          </a:ln>
        </p:spPr>
        <p:txBody>
          <a:bodyPr anchor="ctr">
            <a:normAutofit fontScale="63636"/>
          </a:bodyPr>
          <a:lstStyle/>
          <a:p>
            <a:pPr algn="r">
              <a:defRPr sz="825" b="0">
                <a:solidFill>
                  <a:srgbClr val="9FB0BF"/>
                </a:solidFill>
                <a:latin typeface="DejaVu Sans"/>
                <a:ea typeface="DejaVu Sans"/>
                <a:cs typeface="DejaVu Sans"/>
              </a:defRPr>
            </a:pPr>
            <a:r>
              <a:rPr sz="825" b="0">
                <a:solidFill>
                  <a:srgbClr val="9FB0BF"/>
                </a:solidFill>
                <a:latin typeface="DejaVu Sans"/>
                <a:ea typeface="DejaVu Sans"/>
                <a:cs typeface="DejaVu Sans"/>
              </a:rPr>
              <a:t>22</a:t>
            </a:r>
          </a:p>
        </p:txBody>
      </p:sp>
    </p:spTree>
    <p:extLst>
      <p:ext uri="{BB962C8B-B14F-4D97-AF65-F5344CB8AC3E}">
        <p14:creationId xmlns:p14="http://schemas.microsoft.com/office/powerpoint/2010/main" val="2652002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2817</Words>
  <Application>Microsoft Macintosh PowerPoint</Application>
  <DocSecurity>0</DocSecurity>
  <PresentationFormat>Widescreen</PresentationFormat>
  <Paragraphs>394</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Calibri</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Alexis Nguyen</cp:lastModifiedBy>
  <cp:revision>1</cp:revision>
  <dcterms:created xsi:type="dcterms:W3CDTF">2026-09-15T01:57:47Z</dcterms:created>
  <dcterms:modified xsi:type="dcterms:W3CDTF">2026-09-15T02:03:57Z</dcterms:modified>
</cp:coreProperties>
</file>